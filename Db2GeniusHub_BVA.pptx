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7.svg" ContentType="image/svg"/>
  <Override PartName="/ppt/media/image8.svg" ContentType="image/svg"/>
  <Override PartName="/ppt/media/image9.svg" ContentType="image/sv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91847" r:id="rId4"/>
    <p:sldMasterId id="2147492002" r:id="rId5"/>
    <p:sldMasterId id="2147492444" r:id="rId6"/>
  </p:sldMasterIdLst>
  <p:notesMasterIdLst>
    <p:notesMasterId r:id="rId21"/>
  </p:notesMasterIdLst>
  <p:handoutMasterIdLst>
    <p:handoutMasterId r:id="rId22"/>
  </p:handoutMasterIdLst>
  <p:sldIdLst>
    <p:sldId id="2147377370" r:id="rId7"/>
    <p:sldId id="279" r:id="rId8"/>
    <p:sldId id="275" r:id="rId9"/>
    <p:sldId id="2147480630" r:id="rId10"/>
    <p:sldId id="2147481586" r:id="rId11"/>
    <p:sldId id="268" r:id="rId12"/>
    <p:sldId id="2147480653" r:id="rId13"/>
    <p:sldId id="2147481568" r:id="rId14"/>
    <p:sldId id="2147481569" r:id="rId15"/>
    <p:sldId id="2147481549" r:id="rId16"/>
    <p:sldId id="2147481570" r:id="rId17"/>
    <p:sldId id="277" r:id="rId18"/>
    <p:sldId id="274" r:id="rId19"/>
    <p:sldId id="2147481547" r:id="rId20"/>
  </p:sldIdLst>
  <p:sldSz cx="24387175" cy="13716000"/>
  <p:notesSz cx="6858000" cy="9144000"/>
  <p:custDataLst>
    <p:tags r:id="rId23"/>
  </p:custDataLst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0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0" clrIdx="1">
    <p:extLst>
      <p:ext uri="{19B8F6BF-5375-455C-9EA6-DF929625EA0E}">
        <p15:presenceInfo xmlns:p15="http://schemas.microsoft.com/office/powerpoint/2012/main" userId="Liz Sadler" providerId="None"/>
      </p:ext>
    </p:extLst>
  </p:cmAuthor>
  <p:cmAuthor id="3" name="David Grossman" initials="DG" lastIdx="0" clrIdx="2"/>
  <p:cmAuthor id="4" name="Kelly To" initials="KT" lastIdx="0" clrIdx="3"/>
  <p:cmAuthor id="5" name="Kayla Regulski" initials="KR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8E2CAD-694E-A610-A33C-13169F7C52F9}" v="252" dt="2025-10-18T02:18:09.4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35" autoAdjust="0"/>
    <p:restoredTop sz="95958" autoAdjust="0"/>
  </p:normalViewPr>
  <p:slideViewPr>
    <p:cSldViewPr snapToGrid="0" snapToObjects="1">
      <p:cViewPr varScale="1">
        <p:scale>
          <a:sx n="60" d="100"/>
          <a:sy n="60" d="100"/>
        </p:scale>
        <p:origin x="968" y="216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-9016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tags" Target="tags/tag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Benefit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[&gt;999999]\ &quot;$&quot;#,,&quot;M&quot;;[&gt;999]\ &quot;$&quot;#,&quot;K&quot;;\ &quot; &quot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 smtId="429496729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IBM Plex Sans" panose="020B0503050203000203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DBA Productivity &amp; Labor Cost Avoidance</c:v>
                </c:pt>
                <c:pt idx="1">
                  <c:v>Faster Incident Resolution (MTTR Reduction)</c:v>
                </c:pt>
                <c:pt idx="2">
                  <c:v>Avoided Severe Incidents &amp; Downtime Risk</c:v>
                </c:pt>
                <c:pt idx="3">
                  <c:v>Tool Consolidation &amp; Operational Efficiency</c:v>
                </c:pt>
              </c:strCache>
            </c:strRef>
          </c:cat>
          <c:val>
            <c:numRef>
              <c:f>Sheet1!$B$2:$B$5</c:f>
              <c:numCache>
                <c:formatCode>"$"#,##0</c:formatCode>
                <c:ptCount val="4"/>
                <c:pt idx="0">
                  <c:v>2616300</c:v>
                </c:pt>
                <c:pt idx="1">
                  <c:v>1710000</c:v>
                </c:pt>
                <c:pt idx="2">
                  <c:v>712500</c:v>
                </c:pt>
                <c:pt idx="3">
                  <c:v>285000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0-E3FF-CB49-A8BF-9783057CA1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17210864"/>
        <c:axId val="1317212304"/>
      </c:barChart>
      <c:catAx>
        <c:axId val="131721086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IBM Plex Sans Medm" panose="020B0503050203000203" pitchFamily="34" charset="0"/>
                <a:ea typeface="+mn-ea"/>
                <a:cs typeface="+mn-cs"/>
              </a:defRPr>
            </a:pPr>
            <a:endParaRPr lang="en-US"/>
          </a:p>
        </c:txPr>
        <c:crossAx val="1317212304"/>
        <c:crosses val="autoZero"/>
        <c:auto val="0"/>
        <c:lblAlgn val="ctr"/>
        <c:lblOffset val="100"/>
        <c:noMultiLvlLbl val="0"/>
      </c:catAx>
      <c:valAx>
        <c:axId val="1317212304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[&gt;999999]&quot;$&quot;0.0,,&quot;M&quot;;[&gt;999]&quot;$&quot;0.0,&quot;K&quot;;&quot;$&quot;0;\ @" sourceLinked="0"/>
        <c:majorTickMark val="none"/>
        <c:minorTickMark val="none"/>
        <c:tickLblPos val="nextTo"/>
        <c:crossAx val="13172108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 b="0" i="0" smtId="4294967295">
          <a:latin typeface="IBM Plex Sans" panose="020B0503050203000203" pitchFamily="34" charset="0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" panose="020B0503050203000203" pitchFamily="34" charset="0"/>
                <a:ea typeface="IBM Plex Sans Light"/>
                <a:cs typeface="IBM Plex Sans Light" charset="0"/>
              </a:rPr>
              <a:pPr algn="l"/>
              <a:t>‹#›</a:t>
            </a:fld>
            <a:endParaRPr lang="en-US" sz="600">
              <a:solidFill>
                <a:schemeClr val="bg1"/>
              </a:solidFill>
              <a:latin typeface="IBM Plex Sans" panose="020B0503050203000203" pitchFamily="34" charset="0"/>
              <a:ea typeface="IBM Plex Sans Light"/>
              <a:cs typeface="IBM Plex Sans Light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>
                <a:solidFill>
                  <a:schemeClr val="bg1"/>
                </a:solidFill>
                <a:latin typeface="IBM Plex Sans" panose="020B0503050203000203" pitchFamily="34" charset="0"/>
                <a:ea typeface="IBM Plex Sans Light"/>
                <a:cs typeface="IBM Plex Sans Light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1pPr>
          </a:lstStyle>
          <a:p>
            <a:fld id="{6E2E38B8-B0B4-AD41-AC6E-B781F46A9FD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1pPr>
          </a:lstStyle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ct val="0"/>
      </a:spcBef>
      <a:defRPr sz="1200" b="0" i="0" kern="1200">
        <a:solidFill>
          <a:schemeClr val="bg1"/>
        </a:solidFill>
        <a:latin typeface="IBM Plex Sans" panose="020B0503050203000203" pitchFamily="34" charset="0"/>
        <a:ea typeface="+mn-ea"/>
        <a:cs typeface="+mn-cs"/>
      </a:defRPr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397190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5A868-CAC8-DCF5-224D-9083EF97E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4D9935-5676-95E4-0BBC-4094748A4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BAC2EB-E712-9F59-2E7C-9A4759173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CEF73-C0DA-94A7-85A2-C477E12CFB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29AFC5-58B0-5849-A341-BA520AD751F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4008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047395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>
          <a:extLst>
            <a:ext uri="{FF2B5EF4-FFF2-40B4-BE49-F238E27FC236}">
              <a16:creationId xmlns:a16="http://schemas.microsoft.com/office/drawing/2014/main" id="{C68E39EC-C817-6858-F2A9-D94C00653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3ad559d03c_0_78:notes">
            <a:extLst>
              <a:ext uri="{FF2B5EF4-FFF2-40B4-BE49-F238E27FC236}">
                <a16:creationId xmlns:a16="http://schemas.microsoft.com/office/drawing/2014/main" id="{C6C33E26-CCF0-DAEF-88B7-23C5C1E182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3ad559d03c_0_78:notes">
            <a:extLst>
              <a:ext uri="{FF2B5EF4-FFF2-40B4-BE49-F238E27FC236}">
                <a16:creationId xmlns:a16="http://schemas.microsoft.com/office/drawing/2014/main" id="{AF21CE13-1071-CBC8-366B-CB054ED706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414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B8908-B204-8C8F-8623-8B090CD26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920700-01F8-C83B-8993-5742FD6630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498021-EDAA-A4BA-9807-1BFFCCAB5B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DFB94-89EC-665E-82C4-4501879C28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29AFC5-58B0-5849-A341-BA520AD751F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6577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465078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B18FB-9EFE-4803-8A9E-D480A28FC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54E51-E846-8BA4-8046-51069034C0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85656F-7E00-E2E6-4518-A32007A72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30A76-87E4-20DB-CC9B-607D1E8BDF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29AFC5-58B0-5849-A341-BA520AD751F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4330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29CE8-8B2D-B0A2-5650-2B5EC7E92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6D5052-8F43-F783-E03B-07657A250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1BADF-995C-8E77-2661-0CAD0EEDC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D1B09-4D0F-5159-2DBE-07BD47987F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29AFC5-58B0-5849-A341-BA520AD751F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14892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576072"/>
            <a:ext cx="10099675" cy="571500"/>
          </a:xfrm>
        </p:spPr>
        <p:txBody>
          <a:bodyPr/>
          <a:lstStyle>
            <a:lvl1pPr>
              <a:spcBef>
                <a:spcPct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ct val="0"/>
              </a:spcBef>
              <a:defRPr/>
            </a:lvl2pPr>
            <a:lvl3pPr>
              <a:spcBef>
                <a:spcPct val="0"/>
              </a:spcBef>
              <a:defRPr/>
            </a:lvl3pPr>
            <a:lvl4pPr>
              <a:spcBef>
                <a:spcPct val="0"/>
              </a:spcBef>
              <a:defRPr/>
            </a:lvl4pPr>
            <a:lvl5pPr>
              <a:spcBef>
                <a:spcPct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12000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601272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131016954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5CEBFE7-AD2E-DFE8-B046-3B86682861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ct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ct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ct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ct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ct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2695C8E-740F-09FE-EEF5-F2D3F3F881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ct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ct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ct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ct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ct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9937119-9484-C422-CDBB-7ACF8FB463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ct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ct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ct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ct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ct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31FDB97-22F2-B958-137D-E25328D2B0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ct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ct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ct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ct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ct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3594770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F2C220-357F-9C52-ECB1-CF3DBAA15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IBM Plex Sans" panose="020B0503050203000203" pitchFamily="34" charset="0"/>
              </a:defRPr>
            </a:lvl1pPr>
          </a:lstStyle>
          <a:p>
            <a:fld id="{D91E9A95-5604-4601-BD4E-4343158E370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AB0CC6-F4CA-27B9-2117-AF0414008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4CE3A-F4D1-26B5-1CC8-C04B78595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276-7FB2-441E-93B4-FEF86252018D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C2F3F9-873B-DC7B-7A76-12553EE4D8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14877" y="518065"/>
            <a:ext cx="1638301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79992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E29B7-24C4-EA23-3F63-EF72CA795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B38DAE-9762-F4A7-9E53-9DBCA3C3B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IBM Plex Sans" panose="020B0503050203000203" pitchFamily="34" charset="0"/>
              </a:defRPr>
            </a:lvl1pPr>
          </a:lstStyle>
          <a:p>
            <a:fld id="{D91E9A95-5604-4601-BD4E-4343158E370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AEF4E4-CC1C-0356-77F4-9CBA3152A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9C4541-FDCD-6F71-36E5-A9DABB991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276-7FB2-441E-93B4-FEF86252018D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ADB40-5B03-9A83-2775-2A12062719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14877" y="518065"/>
            <a:ext cx="1638301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42790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A848E-2ABA-38B7-F5DC-3417F8A641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397" y="2244726"/>
            <a:ext cx="18290381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8767C5-2CAC-A578-5272-07F0C6BAE4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397" y="7204076"/>
            <a:ext cx="18290381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503B0-832A-7600-25AF-1470F4F57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IBM Plex Sans" panose="020B0503050203000203" pitchFamily="34" charset="0"/>
              </a:defRPr>
            </a:lvl1pPr>
          </a:lstStyle>
          <a:p>
            <a:fld id="{D91E9A95-5604-4601-BD4E-4343158E370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69ED8-9CB9-B09C-13F2-624D43FF1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FFECB-F8D1-EAB3-0DDC-1623883FA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276-7FB2-441E-93B4-FEF862520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7299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3222" y="6167695"/>
            <a:ext cx="3460734" cy="1380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98568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ver,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2" name="Group 2"/>
          <p:cNvGrpSpPr/>
          <p:nvPr/>
        </p:nvGrpSpPr>
        <p:grpSpPr>
          <a:xfrm>
            <a:off x="-292651" y="-292947"/>
            <a:ext cx="24974506" cy="14305281"/>
            <a:chOff x="0" y="0"/>
            <a:chExt cx="24971254" cy="14305280"/>
          </a:xfrm>
        </p:grpSpPr>
        <p:grpSp>
          <p:nvGrpSpPr>
            <p:cNvPr id="989" name="Group 59"/>
            <p:cNvGrpSpPr/>
            <p:nvPr/>
          </p:nvGrpSpPr>
          <p:grpSpPr>
            <a:xfrm>
              <a:off x="903906" y="-1"/>
              <a:ext cx="23164620" cy="243842"/>
              <a:chOff x="0" y="0"/>
              <a:chExt cx="23164618" cy="243840"/>
            </a:xfrm>
          </p:grpSpPr>
          <p:sp>
            <p:nvSpPr>
              <p:cNvPr id="978" name="Straight Connector 92"/>
              <p:cNvSpPr/>
              <p:nvPr/>
            </p:nvSpPr>
            <p:spPr>
              <a:xfrm flipV="1">
                <a:off x="-1" y="-1"/>
                <a:ext cx="2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979" name="Straight Connector 93"/>
              <p:cNvSpPr/>
              <p:nvPr/>
            </p:nvSpPr>
            <p:spPr>
              <a:xfrm flipV="1">
                <a:off x="48768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980" name="Straight Connector 94"/>
              <p:cNvSpPr/>
              <p:nvPr/>
            </p:nvSpPr>
            <p:spPr>
              <a:xfrm flipV="1">
                <a:off x="54864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981" name="Straight Connector 95"/>
              <p:cNvSpPr/>
              <p:nvPr/>
            </p:nvSpPr>
            <p:spPr>
              <a:xfrm flipV="1">
                <a:off x="60960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982" name="Straight Connector 96"/>
              <p:cNvSpPr/>
              <p:nvPr/>
            </p:nvSpPr>
            <p:spPr>
              <a:xfrm flipV="1">
                <a:off x="109728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983" name="Straight Connector 97"/>
              <p:cNvSpPr/>
              <p:nvPr/>
            </p:nvSpPr>
            <p:spPr>
              <a:xfrm flipV="1">
                <a:off x="115824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984" name="Straight Connector 98"/>
              <p:cNvSpPr/>
              <p:nvPr/>
            </p:nvSpPr>
            <p:spPr>
              <a:xfrm flipV="1">
                <a:off x="121920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985" name="Straight Connector 99"/>
              <p:cNvSpPr/>
              <p:nvPr/>
            </p:nvSpPr>
            <p:spPr>
              <a:xfrm flipV="1">
                <a:off x="170688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986" name="Straight Connector 100"/>
              <p:cNvSpPr/>
              <p:nvPr/>
            </p:nvSpPr>
            <p:spPr>
              <a:xfrm flipV="1">
                <a:off x="17678401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987" name="Straight Connector 101"/>
              <p:cNvSpPr/>
              <p:nvPr/>
            </p:nvSpPr>
            <p:spPr>
              <a:xfrm flipV="1">
                <a:off x="18288001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988" name="Straight Connector 102"/>
              <p:cNvSpPr/>
              <p:nvPr/>
            </p:nvSpPr>
            <p:spPr>
              <a:xfrm flipV="1">
                <a:off x="23164618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</p:grpSp>
        <p:grpSp>
          <p:nvGrpSpPr>
            <p:cNvPr id="1001" name="Group 60"/>
            <p:cNvGrpSpPr/>
            <p:nvPr/>
          </p:nvGrpSpPr>
          <p:grpSpPr>
            <a:xfrm>
              <a:off x="903906" y="14061440"/>
              <a:ext cx="23164620" cy="243841"/>
              <a:chOff x="0" y="0"/>
              <a:chExt cx="23164618" cy="243840"/>
            </a:xfrm>
          </p:grpSpPr>
          <p:sp>
            <p:nvSpPr>
              <p:cNvPr id="990" name="Straight Connector 81"/>
              <p:cNvSpPr/>
              <p:nvPr/>
            </p:nvSpPr>
            <p:spPr>
              <a:xfrm flipV="1">
                <a:off x="-1" y="-1"/>
                <a:ext cx="2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991" name="Straight Connector 82"/>
              <p:cNvSpPr/>
              <p:nvPr/>
            </p:nvSpPr>
            <p:spPr>
              <a:xfrm flipV="1">
                <a:off x="48768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992" name="Straight Connector 83"/>
              <p:cNvSpPr/>
              <p:nvPr/>
            </p:nvSpPr>
            <p:spPr>
              <a:xfrm flipV="1">
                <a:off x="54864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993" name="Straight Connector 84"/>
              <p:cNvSpPr/>
              <p:nvPr/>
            </p:nvSpPr>
            <p:spPr>
              <a:xfrm flipV="1">
                <a:off x="60960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994" name="Straight Connector 85"/>
              <p:cNvSpPr/>
              <p:nvPr/>
            </p:nvSpPr>
            <p:spPr>
              <a:xfrm flipV="1">
                <a:off x="109728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995" name="Straight Connector 86"/>
              <p:cNvSpPr/>
              <p:nvPr/>
            </p:nvSpPr>
            <p:spPr>
              <a:xfrm flipV="1">
                <a:off x="115824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996" name="Straight Connector 87"/>
              <p:cNvSpPr/>
              <p:nvPr/>
            </p:nvSpPr>
            <p:spPr>
              <a:xfrm flipV="1">
                <a:off x="121920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997" name="Straight Connector 88"/>
              <p:cNvSpPr/>
              <p:nvPr/>
            </p:nvSpPr>
            <p:spPr>
              <a:xfrm flipV="1">
                <a:off x="170688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998" name="Straight Connector 89"/>
              <p:cNvSpPr/>
              <p:nvPr/>
            </p:nvSpPr>
            <p:spPr>
              <a:xfrm flipV="1">
                <a:off x="17678401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999" name="Straight Connector 90"/>
              <p:cNvSpPr/>
              <p:nvPr/>
            </p:nvSpPr>
            <p:spPr>
              <a:xfrm flipV="1">
                <a:off x="18288001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00" name="Straight Connector 91"/>
              <p:cNvSpPr/>
              <p:nvPr/>
            </p:nvSpPr>
            <p:spPr>
              <a:xfrm flipV="1">
                <a:off x="23164618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</p:grpSp>
        <p:grpSp>
          <p:nvGrpSpPr>
            <p:cNvPr id="1011" name="Group 61"/>
            <p:cNvGrpSpPr/>
            <p:nvPr/>
          </p:nvGrpSpPr>
          <p:grpSpPr>
            <a:xfrm>
              <a:off x="-1" y="901530"/>
              <a:ext cx="243842" cy="12497817"/>
              <a:chOff x="0" y="0"/>
              <a:chExt cx="243840" cy="12497816"/>
            </a:xfrm>
          </p:grpSpPr>
          <p:sp>
            <p:nvSpPr>
              <p:cNvPr id="1002" name="Straight Connector 72"/>
              <p:cNvSpPr/>
              <p:nvPr/>
            </p:nvSpPr>
            <p:spPr>
              <a:xfrm flipH="1">
                <a:off x="0" y="1134872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03" name="Straight Connector 73"/>
              <p:cNvSpPr/>
              <p:nvPr/>
            </p:nvSpPr>
            <p:spPr>
              <a:xfrm flipH="1">
                <a:off x="0" y="2829559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04" name="Straight Connector 74"/>
              <p:cNvSpPr/>
              <p:nvPr/>
            </p:nvSpPr>
            <p:spPr>
              <a:xfrm flipH="1">
                <a:off x="0" y="4536440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05" name="Straight Connector 75"/>
              <p:cNvSpPr/>
              <p:nvPr/>
            </p:nvSpPr>
            <p:spPr>
              <a:xfrm flipH="1">
                <a:off x="0" y="6247389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06" name="Straight Connector 76"/>
              <p:cNvSpPr/>
              <p:nvPr/>
            </p:nvSpPr>
            <p:spPr>
              <a:xfrm flipH="1">
                <a:off x="0" y="7950200"/>
                <a:ext cx="243841" cy="0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07" name="Straight Connector 77"/>
              <p:cNvSpPr/>
              <p:nvPr/>
            </p:nvSpPr>
            <p:spPr>
              <a:xfrm flipH="1">
                <a:off x="0" y="9657080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08" name="Straight Connector 78"/>
              <p:cNvSpPr/>
              <p:nvPr/>
            </p:nvSpPr>
            <p:spPr>
              <a:xfrm flipH="1">
                <a:off x="0" y="11384619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09" name="Straight Connector 79"/>
              <p:cNvSpPr/>
              <p:nvPr/>
            </p:nvSpPr>
            <p:spPr>
              <a:xfrm flipH="1" flipV="1">
                <a:off x="0" y="-1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10" name="Straight Connector 80"/>
              <p:cNvSpPr/>
              <p:nvPr/>
            </p:nvSpPr>
            <p:spPr>
              <a:xfrm flipH="1">
                <a:off x="0" y="12497816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</p:grpSp>
        <p:grpSp>
          <p:nvGrpSpPr>
            <p:cNvPr id="1021" name="Group 62"/>
            <p:cNvGrpSpPr/>
            <p:nvPr/>
          </p:nvGrpSpPr>
          <p:grpSpPr>
            <a:xfrm>
              <a:off x="24727414" y="901530"/>
              <a:ext cx="243841" cy="12495108"/>
              <a:chOff x="0" y="0"/>
              <a:chExt cx="243840" cy="12495106"/>
            </a:xfrm>
          </p:grpSpPr>
          <p:sp>
            <p:nvSpPr>
              <p:cNvPr id="1012" name="Straight Connector 63"/>
              <p:cNvSpPr/>
              <p:nvPr/>
            </p:nvSpPr>
            <p:spPr>
              <a:xfrm flipH="1">
                <a:off x="0" y="1134872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13" name="Straight Connector 64"/>
              <p:cNvSpPr/>
              <p:nvPr/>
            </p:nvSpPr>
            <p:spPr>
              <a:xfrm flipH="1">
                <a:off x="0" y="2829560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14" name="Straight Connector 65"/>
              <p:cNvSpPr/>
              <p:nvPr/>
            </p:nvSpPr>
            <p:spPr>
              <a:xfrm flipH="1">
                <a:off x="0" y="4536440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15" name="Straight Connector 66"/>
              <p:cNvSpPr/>
              <p:nvPr/>
            </p:nvSpPr>
            <p:spPr>
              <a:xfrm flipH="1">
                <a:off x="0" y="6243320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16" name="Straight Connector 67"/>
              <p:cNvSpPr/>
              <p:nvPr/>
            </p:nvSpPr>
            <p:spPr>
              <a:xfrm flipH="1">
                <a:off x="0" y="7950200"/>
                <a:ext cx="243841" cy="0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17" name="Straight Connector 68"/>
              <p:cNvSpPr/>
              <p:nvPr/>
            </p:nvSpPr>
            <p:spPr>
              <a:xfrm flipH="1">
                <a:off x="0" y="9657080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18" name="Straight Connector 69"/>
              <p:cNvSpPr/>
              <p:nvPr/>
            </p:nvSpPr>
            <p:spPr>
              <a:xfrm flipH="1">
                <a:off x="0" y="11384619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19" name="Straight Connector 70"/>
              <p:cNvSpPr/>
              <p:nvPr/>
            </p:nvSpPr>
            <p:spPr>
              <a:xfrm flipH="1" flipV="1">
                <a:off x="0" y="0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20" name="Straight Connector 71"/>
              <p:cNvSpPr/>
              <p:nvPr/>
            </p:nvSpPr>
            <p:spPr>
              <a:xfrm flipH="1">
                <a:off x="0" y="12495107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</p:grpSp>
      </p:grpSp>
      <p:pic>
        <p:nvPicPr>
          <p:cNvPr id="1023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1" y="1219"/>
            <a:ext cx="24359296" cy="13713559"/>
          </a:xfrm>
          <a:prstGeom prst="rect">
            <a:avLst/>
          </a:prstGeom>
          <a:ln w="12700">
            <a:miter lim="400000"/>
          </a:ln>
        </p:spPr>
      </p:pic>
      <p:sp>
        <p:nvSpPr>
          <p:cNvPr id="1024" name="Title Text"/>
          <p:cNvSpPr txBox="1">
            <a:spLocks noGrp="1"/>
          </p:cNvSpPr>
          <p:nvPr>
            <p:ph type="title"/>
          </p:nvPr>
        </p:nvSpPr>
        <p:spPr>
          <a:xfrm>
            <a:off x="560905" y="338667"/>
            <a:ext cx="11047391" cy="1145235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1025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6416" y="12547341"/>
            <a:ext cx="1391081" cy="554956"/>
          </a:xfrm>
          <a:prstGeom prst="rect">
            <a:avLst/>
          </a:prstGeom>
          <a:ln w="12700">
            <a:miter lim="400000"/>
          </a:ln>
        </p:spPr>
      </p:pic>
      <p:sp>
        <p:nvSpPr>
          <p:cNvPr id="102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206569" y="12834780"/>
            <a:ext cx="270907" cy="246221"/>
          </a:xfrm>
          <a:prstGeom prst="rect">
            <a:avLst/>
          </a:prstGeom>
        </p:spPr>
        <p:txBody>
          <a:bodyPr/>
          <a:lstStyle>
            <a:lvl1pPr defTabSz="1829287"/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9176147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 px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941103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 px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6793525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3" y="129517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6000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Footer text (optional)</a:t>
            </a:r>
          </a:p>
        </p:txBody>
      </p:sp>
      <p:sp>
        <p:nvSpPr>
          <p:cNvPr id="3" name="Footer Placeholder 17">
            <a:extLst>
              <a:ext uri="{FF2B5EF4-FFF2-40B4-BE49-F238E27FC236}">
                <a16:creationId xmlns:a16="http://schemas.microsoft.com/office/drawing/2014/main" id="{7A695322-9219-1CF4-65CB-5CF47C7ADA78}"/>
              </a:ext>
            </a:extLst>
          </p:cNvPr>
          <p:cNvSpPr txBox="1"/>
          <p:nvPr userDrawn="1"/>
        </p:nvSpPr>
        <p:spPr>
          <a:xfrm>
            <a:off x="576000" y="12816000"/>
            <a:ext cx="4956176" cy="381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68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937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406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875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344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813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282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751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829014">
              <a:buClr>
                <a:srgbClr val="000000"/>
              </a:buClr>
              <a:defRPr/>
            </a:pPr>
            <a:r>
              <a:rPr lang="en-US" sz="1600">
                <a:solidFill>
                  <a:srgbClr val="000000"/>
                </a:solidFill>
                <a:latin typeface="IBM Plex Sans" panose="020B0503050203000203" pitchFamily="34" charset="0"/>
                <a:sym typeface="Arial"/>
              </a:rPr>
              <a:t>© Copyright IBM Corporation 2026</a:t>
            </a:r>
          </a:p>
        </p:txBody>
      </p:sp>
    </p:spTree>
    <p:extLst>
      <p:ext uri="{BB962C8B-B14F-4D97-AF65-F5344CB8AC3E}">
        <p14:creationId xmlns:p14="http://schemas.microsoft.com/office/powerpoint/2010/main" val="28651134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91853" r:id="rId1"/>
    <p:sldLayoutId id="2147491878" r:id="rId2"/>
    <p:sldLayoutId id="2147493530" r:id="rId3"/>
    <p:sldLayoutId id="2147493531" r:id="rId4"/>
    <p:sldLayoutId id="2147493532" r:id="rId5"/>
    <p:sldLayoutId id="2147493535" r:id="rId6"/>
    <p:sldLayoutId id="2147493536" r:id="rId7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400" b="0" i="0" u="none" strike="noStrike" cap="none" spc="0" baseline="0">
          <a:solidFill>
            <a:schemeClr val="tx2"/>
          </a:solidFill>
          <a:uFillTx/>
          <a:latin typeface="IBM Plex Sans" panose="020B0503050203000203" pitchFamily="34" charset="0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ct val="0"/>
        </a:spcBef>
        <a:spcAft>
          <a:spcPct val="0"/>
        </a:spcAft>
        <a:buClrTx/>
        <a:buSzTx/>
        <a:buFontTx/>
        <a:buNone/>
        <a:defRPr sz="3600" b="0" i="0" u="none" strike="noStrike" cap="none" spc="0" baseline="0">
          <a:solidFill>
            <a:schemeClr val="tx1"/>
          </a:solidFill>
          <a:uFillTx/>
          <a:latin typeface="IBM Plex Sans" panose="020B0503050203000203" pitchFamily="34" charset="0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ct val="0"/>
        </a:spcBef>
        <a:spcAft>
          <a:spcPct val="0"/>
        </a:spcAft>
        <a:buClrTx/>
        <a:buSzTx/>
        <a:buFontTx/>
        <a:buChar char="–"/>
        <a:defRPr sz="3600" b="0" i="0" u="none" strike="noStrike" cap="none" spc="0" baseline="0">
          <a:solidFill>
            <a:schemeClr val="tx1"/>
          </a:solidFill>
          <a:uFillTx/>
          <a:latin typeface="IBM Plex Sans" panose="020B0503050203000203" pitchFamily="34" charset="0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ct val="0"/>
        </a:spcBef>
        <a:spcAft>
          <a:spcPct val="0"/>
        </a:spcAft>
        <a:buClrTx/>
        <a:buSzTx/>
        <a:buFontTx/>
        <a:buChar char="•"/>
        <a:defRPr sz="3600" b="0" i="0" u="none" strike="noStrike" cap="none" spc="0" baseline="0">
          <a:solidFill>
            <a:schemeClr val="tx1"/>
          </a:solidFill>
          <a:uFillTx/>
          <a:latin typeface="IBM Plex Sans" panose="020B0503050203000203" pitchFamily="34" charset="0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ct val="0"/>
        </a:spcBef>
        <a:spcAft>
          <a:spcPct val="0"/>
        </a:spcAft>
        <a:buClrTx/>
        <a:buSzTx/>
        <a:buFontTx/>
        <a:buChar char="–"/>
        <a:defRPr sz="3600" b="0" i="0" u="none" strike="noStrike" cap="none" spc="0" baseline="0">
          <a:solidFill>
            <a:schemeClr val="tx1"/>
          </a:solidFill>
          <a:uFillTx/>
          <a:latin typeface="IBM Plex Sans" panose="020B0503050203000203" pitchFamily="34" charset="0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ct val="0"/>
        </a:spcAft>
        <a:buClrTx/>
        <a:buSzTx/>
        <a:buFont typeface="IBM Plex Sans" panose="020B0503050203000203" pitchFamily="34" charset="0"/>
        <a:buChar char="•"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ct val="0"/>
        </a:spcAft>
        <a:buClrTx/>
        <a:buSzTx/>
        <a:buFontTx/>
        <a:buChar char="»"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ct val="0"/>
        </a:spcAft>
        <a:buClrTx/>
        <a:buSzTx/>
        <a:buFontTx/>
        <a:buChar char="»"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ct val="0"/>
        </a:spcAft>
        <a:buClrTx/>
        <a:buSzTx/>
        <a:buFontTx/>
        <a:buChar char="»"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ct val="0"/>
        </a:spcAft>
        <a:buClrTx/>
        <a:buSzTx/>
        <a:buFontTx/>
        <a:buChar char="»"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pos="364" userDrawn="1">
          <p15:clr>
            <a:srgbClr val="EE5396"/>
          </p15:clr>
        </p15:guide>
        <p15:guide id="2" pos="3840" userDrawn="1">
          <p15:clr>
            <a:srgbClr val="0F62FE"/>
          </p15:clr>
        </p15:guide>
        <p15:guide id="3" pos="1916" userDrawn="1">
          <p15:clr>
            <a:srgbClr val="EE5396"/>
          </p15:clr>
        </p15:guide>
        <p15:guide id="4" pos="5756" userDrawn="1">
          <p15:clr>
            <a:srgbClr val="EE5396"/>
          </p15:clr>
        </p15:guide>
        <p15:guide id="5" pos="7319" userDrawn="1">
          <p15:clr>
            <a:srgbClr val="EE5396"/>
          </p15:clr>
        </p15:guide>
        <p15:guide id="6" pos="8040" userDrawn="1">
          <p15:clr>
            <a:srgbClr val="EE5396"/>
          </p15:clr>
        </p15:guide>
        <p15:guide id="7" pos="4200" userDrawn="1">
          <p15:clr>
            <a:srgbClr val="EE5396"/>
          </p15:clr>
        </p15:guide>
        <p15:guide id="8" pos="3480" userDrawn="1">
          <p15:clr>
            <a:srgbClr val="EE5396"/>
          </p15:clr>
        </p15:guide>
        <p15:guide id="9" pos="9594" userDrawn="1">
          <p15:clr>
            <a:srgbClr val="EE5396"/>
          </p15:clr>
        </p15:guide>
        <p15:guide id="10" pos="11160" userDrawn="1">
          <p15:clr>
            <a:srgbClr val="EE5396"/>
          </p15:clr>
        </p15:guide>
        <p15:guide id="11" pos="11880" userDrawn="1">
          <p15:clr>
            <a:srgbClr val="EE5396"/>
          </p15:clr>
        </p15:guide>
        <p15:guide id="12" pos="13440" userDrawn="1">
          <p15:clr>
            <a:srgbClr val="EE5396"/>
          </p15:clr>
        </p15:guide>
        <p15:guide id="13" pos="14995" userDrawn="1">
          <p15:clr>
            <a:srgbClr val="EE5396"/>
          </p15:clr>
        </p15:guide>
        <p15:guide id="14" orient="horz" pos="3840" userDrawn="1">
          <p15:clr>
            <a:srgbClr val="EE5396"/>
          </p15:clr>
        </p15:guide>
        <p15:guide id="15" orient="horz" pos="958" userDrawn="1">
          <p15:clr>
            <a:srgbClr val="EE5396"/>
          </p15:clr>
        </p15:guide>
        <p15:guide id="16" orient="horz" pos="7682" userDrawn="1">
          <p15:clr>
            <a:srgbClr val="EE5396"/>
          </p15:clr>
        </p15:guide>
        <p15:guide id="17" pos="7680" userDrawn="1">
          <p15:clr>
            <a:srgbClr val="0F62FE"/>
          </p15:clr>
        </p15:guide>
        <p15:guide id="18" pos="11520" userDrawn="1">
          <p15:clr>
            <a:srgbClr val="0F62FE"/>
          </p15:clr>
        </p15:guide>
        <p15:guide id="19" orient="horz" pos="1918" userDrawn="1">
          <p15:clr>
            <a:srgbClr val="EE5396"/>
          </p15:clr>
        </p15:guide>
        <p15:guide id="20" orient="horz" pos="6720" userDrawn="1">
          <p15:clr>
            <a:srgbClr val="EE5396"/>
          </p15:clr>
        </p15:guide>
        <p15:guide id="21" orient="horz" pos="2880" userDrawn="1">
          <p15:clr>
            <a:srgbClr val="EE5396"/>
          </p15:clr>
        </p15:guide>
        <p15:guide id="22" orient="horz" pos="4800" userDrawn="1">
          <p15:clr>
            <a:srgbClr val="EE5396"/>
          </p15:clr>
        </p15:guide>
        <p15:guide id="23" orient="horz" pos="5758" userDrawn="1">
          <p15:clr>
            <a:srgbClr val="EE5396"/>
          </p15:clr>
        </p15:guide>
        <p15:guide id="24" orient="horz" pos="8284" userDrawn="1">
          <p15:clr>
            <a:srgbClr val="9FCC3B"/>
          </p15:clr>
        </p15:guide>
        <p15:guide id="25" orient="horz" pos="360" userDrawn="1">
          <p15:clr>
            <a:srgbClr val="9FCC3B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14319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92003" r:id="rId1"/>
  </p:sldLayoutIdLst>
  <p:transition spd="med"/>
  <p:hf hdr="0" dt="0"/>
  <p:txStyles>
    <p:titleStyle>
      <a:lvl1pPr marL="0" marR="0" indent="0" algn="l" defTabSz="2438156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399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156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3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156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3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156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3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156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3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32" algn="l" defTabSz="2438156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3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066" algn="l" defTabSz="2438156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3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597" algn="l" defTabSz="2438156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3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131" algn="l" defTabSz="2438156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3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156" rtl="0" eaLnBrk="1" latinLnBrk="0" hangingPunct="1">
        <a:lnSpc>
          <a:spcPct val="110000"/>
        </a:lnSpc>
        <a:spcBef>
          <a:spcPct val="0"/>
        </a:spcBef>
        <a:spcAft>
          <a:spcPct val="0"/>
        </a:spcAft>
        <a:buClrTx/>
        <a:buSzTx/>
        <a:buFontTx/>
        <a:buNone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51" marR="0" indent="-329151" algn="l" defTabSz="2438156" rtl="0" eaLnBrk="1" latinLnBrk="0" hangingPunct="1">
        <a:lnSpc>
          <a:spcPct val="110000"/>
        </a:lnSpc>
        <a:spcBef>
          <a:spcPct val="0"/>
        </a:spcBef>
        <a:spcAft>
          <a:spcPct val="0"/>
        </a:spcAft>
        <a:buClrTx/>
        <a:buSzTx/>
        <a:buFontTx/>
        <a:buChar char="–"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02" marR="0" indent="-329151" algn="l" defTabSz="2438156" rtl="0" eaLnBrk="1" latinLnBrk="0" hangingPunct="1">
        <a:lnSpc>
          <a:spcPct val="110000"/>
        </a:lnSpc>
        <a:spcBef>
          <a:spcPct val="0"/>
        </a:spcBef>
        <a:spcAft>
          <a:spcPct val="0"/>
        </a:spcAft>
        <a:buClrTx/>
        <a:buSzTx/>
        <a:buFontTx/>
        <a:buChar char="•"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453" marR="0" indent="-329151" algn="l" defTabSz="2438156" rtl="0" eaLnBrk="1" latinLnBrk="0" hangingPunct="1">
        <a:lnSpc>
          <a:spcPct val="110000"/>
        </a:lnSpc>
        <a:spcBef>
          <a:spcPct val="0"/>
        </a:spcBef>
        <a:spcAft>
          <a:spcPct val="0"/>
        </a:spcAft>
        <a:buClrTx/>
        <a:buSzTx/>
        <a:buFontTx/>
        <a:buChar char="–"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2886" marR="0" indent="-457154" algn="l" defTabSz="2438156" rtl="0" eaLnBrk="1" latinLnBrk="0" hangingPunct="1">
        <a:lnSpc>
          <a:spcPct val="110000"/>
        </a:lnSpc>
        <a:spcBef>
          <a:spcPts val="2900"/>
        </a:spcBef>
        <a:spcAft>
          <a:spcPct val="0"/>
        </a:spcAft>
        <a:buClrTx/>
        <a:buSzTx/>
        <a:buFont typeface="IBM Plex Sans" panose="020B0503050203000203" pitchFamily="34" charset="0"/>
        <a:buChar char="•"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2876" marR="0" indent="-388970" algn="l" defTabSz="2438156" rtl="0" eaLnBrk="1" latinLnBrk="0" hangingPunct="1">
        <a:lnSpc>
          <a:spcPct val="100000"/>
        </a:lnSpc>
        <a:spcBef>
          <a:spcPts val="2900"/>
        </a:spcBef>
        <a:spcAft>
          <a:spcPct val="0"/>
        </a:spcAft>
        <a:buClrTx/>
        <a:buSzTx/>
        <a:buFontTx/>
        <a:buChar char="»"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410" marR="0" indent="-388970" algn="l" defTabSz="2438156" rtl="0" eaLnBrk="1" latinLnBrk="0" hangingPunct="1">
        <a:lnSpc>
          <a:spcPct val="100000"/>
        </a:lnSpc>
        <a:spcBef>
          <a:spcPts val="2900"/>
        </a:spcBef>
        <a:spcAft>
          <a:spcPct val="0"/>
        </a:spcAft>
        <a:buClrTx/>
        <a:buSzTx/>
        <a:buFontTx/>
        <a:buChar char="»"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7943" marR="0" indent="-388970" algn="l" defTabSz="2438156" rtl="0" eaLnBrk="1" latinLnBrk="0" hangingPunct="1">
        <a:lnSpc>
          <a:spcPct val="100000"/>
        </a:lnSpc>
        <a:spcBef>
          <a:spcPts val="2900"/>
        </a:spcBef>
        <a:spcAft>
          <a:spcPct val="0"/>
        </a:spcAft>
        <a:buClrTx/>
        <a:buSzTx/>
        <a:buFontTx/>
        <a:buChar char="»"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476" marR="0" indent="-388970" algn="l" defTabSz="2438156" rtl="0" eaLnBrk="1" latinLnBrk="0" hangingPunct="1">
        <a:lnSpc>
          <a:spcPct val="100000"/>
        </a:lnSpc>
        <a:spcBef>
          <a:spcPts val="2900"/>
        </a:spcBef>
        <a:spcAft>
          <a:spcPct val="0"/>
        </a:spcAft>
        <a:buClrTx/>
        <a:buSzTx/>
        <a:buFontTx/>
        <a:buChar char="»"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104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57" algn="r" defTabSz="1829104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13" algn="r" defTabSz="1829104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871" algn="r" defTabSz="1829104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828" algn="r" defTabSz="1829104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785" algn="r" defTabSz="1829104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742" algn="r" defTabSz="1829104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700" algn="r" defTabSz="1829104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657" algn="r" defTabSz="1829104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pos="481" userDrawn="1">
          <p15:clr>
            <a:srgbClr val="EE5396"/>
          </p15:clr>
        </p15:guide>
        <p15:guide id="2" pos="3841" userDrawn="1">
          <p15:clr>
            <a:srgbClr val="0F62FE"/>
          </p15:clr>
        </p15:guide>
        <p15:guide id="3" pos="1921" userDrawn="1">
          <p15:clr>
            <a:srgbClr val="000000"/>
          </p15:clr>
        </p15:guide>
        <p15:guide id="4" pos="5761" userDrawn="1">
          <p15:clr>
            <a:srgbClr val="000000"/>
          </p15:clr>
        </p15:guide>
        <p15:guide id="5" pos="7201" userDrawn="1">
          <p15:clr>
            <a:srgbClr val="EE5396"/>
          </p15:clr>
        </p15:guide>
        <p15:guide id="6" pos="8161" userDrawn="1">
          <p15:clr>
            <a:srgbClr val="EE5396"/>
          </p15:clr>
        </p15:guide>
        <p15:guide id="7" pos="4321" userDrawn="1">
          <p15:clr>
            <a:srgbClr val="EE5396"/>
          </p15:clr>
        </p15:guide>
        <p15:guide id="8" pos="3361" userDrawn="1">
          <p15:clr>
            <a:srgbClr val="EE5396"/>
          </p15:clr>
        </p15:guide>
        <p15:guide id="9" pos="9601" userDrawn="1">
          <p15:clr>
            <a:srgbClr val="000000"/>
          </p15:clr>
        </p15:guide>
        <p15:guide id="10" pos="11041" userDrawn="1">
          <p15:clr>
            <a:srgbClr val="EE5396"/>
          </p15:clr>
        </p15:guide>
        <p15:guide id="11" pos="12001" userDrawn="1">
          <p15:clr>
            <a:srgbClr val="EE5396"/>
          </p15:clr>
        </p15:guide>
        <p15:guide id="12" pos="14881" userDrawn="1">
          <p15:clr>
            <a:srgbClr val="EE5396"/>
          </p15:clr>
        </p15:guide>
        <p15:guide id="13" orient="horz" pos="3840" userDrawn="1">
          <p15:clr>
            <a:srgbClr val="EE5396"/>
          </p15:clr>
        </p15:guide>
        <p15:guide id="14" orient="horz" pos="960" userDrawn="1">
          <p15:clr>
            <a:srgbClr val="9FCC3B"/>
          </p15:clr>
        </p15:guide>
        <p15:guide id="15" orient="horz" pos="7680" userDrawn="1">
          <p15:clr>
            <a:srgbClr val="9FCC3B"/>
          </p15:clr>
        </p15:guide>
        <p15:guide id="16" pos="7680" userDrawn="1">
          <p15:clr>
            <a:srgbClr val="0F62FE"/>
          </p15:clr>
        </p15:guide>
        <p15:guide id="17" pos="11520" userDrawn="1">
          <p15:clr>
            <a:srgbClr val="0F62FE"/>
          </p15:clr>
        </p15:guide>
        <p15:guide id="18" orient="horz" pos="4800" userDrawn="1">
          <p15:clr>
            <a:srgbClr val="EE5396"/>
          </p15:clr>
        </p15:guide>
        <p15:guide id="19" orient="horz" pos="8160" userDrawn="1">
          <p15:clr>
            <a:srgbClr val="F26B43"/>
          </p15:clr>
        </p15:guide>
        <p15:guide id="20" orient="horz" pos="480" userDrawn="1">
          <p15:clr>
            <a:srgbClr val="F26B43"/>
          </p15:clr>
        </p15:guide>
        <p15:guide id="21" pos="961" userDrawn="1">
          <p15:clr>
            <a:srgbClr val="9FCC3B"/>
          </p15:clr>
        </p15:guide>
        <p15:guide id="22" pos="14401" userDrawn="1">
          <p15:clr>
            <a:srgbClr val="9FCC3B"/>
          </p15:clr>
        </p15:guide>
        <p15:guide id="23" pos="13441" userDrawn="1">
          <p15:clr>
            <a:srgbClr val="000000"/>
          </p15:clr>
        </p15:guide>
        <p15:guide id="24" orient="horz" pos="4320" userDrawn="1">
          <p15:clr>
            <a:srgbClr val="EE5396"/>
          </p15:clr>
        </p15:guide>
        <p15:guide id="25" pos="241" userDrawn="1">
          <p15:clr>
            <a:srgbClr val="A4A3A4"/>
          </p15:clr>
        </p15:guide>
        <p15:guide id="26" pos="721" userDrawn="1">
          <p15:clr>
            <a:srgbClr val="A4A3A4"/>
          </p15:clr>
        </p15:guide>
        <p15:guide id="27" pos="1201" userDrawn="1">
          <p15:clr>
            <a:srgbClr val="A4A3A4"/>
          </p15:clr>
        </p15:guide>
        <p15:guide id="28" pos="1441" userDrawn="1">
          <p15:clr>
            <a:srgbClr val="A4A3A4"/>
          </p15:clr>
        </p15:guide>
        <p15:guide id="29" pos="1681" userDrawn="1">
          <p15:clr>
            <a:srgbClr val="A4A3A4"/>
          </p15:clr>
        </p15:guide>
        <p15:guide id="30" pos="2161" userDrawn="1">
          <p15:clr>
            <a:srgbClr val="A4A3A4"/>
          </p15:clr>
        </p15:guide>
        <p15:guide id="31" pos="2401" userDrawn="1">
          <p15:clr>
            <a:srgbClr val="A4A3A4"/>
          </p15:clr>
        </p15:guide>
        <p15:guide id="32" pos="2641" userDrawn="1">
          <p15:clr>
            <a:srgbClr val="A4A3A4"/>
          </p15:clr>
        </p15:guide>
        <p15:guide id="33" pos="2881" userDrawn="1">
          <p15:clr>
            <a:srgbClr val="A4A3A4"/>
          </p15:clr>
        </p15:guide>
        <p15:guide id="34" pos="3121" userDrawn="1">
          <p15:clr>
            <a:srgbClr val="A4A3A4"/>
          </p15:clr>
        </p15:guide>
        <p15:guide id="35" pos="3601" userDrawn="1">
          <p15:clr>
            <a:srgbClr val="A4A3A4"/>
          </p15:clr>
        </p15:guide>
        <p15:guide id="36" pos="4081" userDrawn="1">
          <p15:clr>
            <a:srgbClr val="A4A3A4"/>
          </p15:clr>
        </p15:guide>
        <p15:guide id="37" pos="4561" userDrawn="1">
          <p15:clr>
            <a:srgbClr val="A4A3A4"/>
          </p15:clr>
        </p15:guide>
        <p15:guide id="38" pos="4801" userDrawn="1">
          <p15:clr>
            <a:srgbClr val="A4A3A4"/>
          </p15:clr>
        </p15:guide>
        <p15:guide id="39" pos="5041" userDrawn="1">
          <p15:clr>
            <a:srgbClr val="A4A3A4"/>
          </p15:clr>
        </p15:guide>
        <p15:guide id="40" pos="5281" userDrawn="1">
          <p15:clr>
            <a:srgbClr val="A4A3A4"/>
          </p15:clr>
        </p15:guide>
        <p15:guide id="41" pos="5521" userDrawn="1">
          <p15:clr>
            <a:srgbClr val="A4A3A4"/>
          </p15:clr>
        </p15:guide>
        <p15:guide id="42" pos="6001" userDrawn="1">
          <p15:clr>
            <a:srgbClr val="A4A3A4"/>
          </p15:clr>
        </p15:guide>
        <p15:guide id="43" pos="6241" userDrawn="1">
          <p15:clr>
            <a:srgbClr val="A4A3A4"/>
          </p15:clr>
        </p15:guide>
        <p15:guide id="44" pos="6481" userDrawn="1">
          <p15:clr>
            <a:srgbClr val="A4A3A4"/>
          </p15:clr>
        </p15:guide>
        <p15:guide id="45" pos="6721" userDrawn="1">
          <p15:clr>
            <a:srgbClr val="A4A3A4"/>
          </p15:clr>
        </p15:guide>
        <p15:guide id="46" pos="6961" userDrawn="1">
          <p15:clr>
            <a:srgbClr val="A4A3A4"/>
          </p15:clr>
        </p15:guide>
        <p15:guide id="47" pos="7441" userDrawn="1">
          <p15:clr>
            <a:srgbClr val="A4A3A4"/>
          </p15:clr>
        </p15:guide>
        <p15:guide id="48" pos="7921" userDrawn="1">
          <p15:clr>
            <a:srgbClr val="A4A3A4"/>
          </p15:clr>
        </p15:guide>
        <p15:guide id="49" pos="8401" userDrawn="1">
          <p15:clr>
            <a:srgbClr val="A4A3A4"/>
          </p15:clr>
        </p15:guide>
        <p15:guide id="50" pos="8641" userDrawn="1">
          <p15:clr>
            <a:srgbClr val="A4A3A4"/>
          </p15:clr>
        </p15:guide>
        <p15:guide id="51" pos="8881" userDrawn="1">
          <p15:clr>
            <a:srgbClr val="A4A3A4"/>
          </p15:clr>
        </p15:guide>
        <p15:guide id="52" pos="9121" userDrawn="1">
          <p15:clr>
            <a:srgbClr val="A4A3A4"/>
          </p15:clr>
        </p15:guide>
        <p15:guide id="53" pos="9361" userDrawn="1">
          <p15:clr>
            <a:srgbClr val="A4A3A4"/>
          </p15:clr>
        </p15:guide>
        <p15:guide id="54" pos="9841" userDrawn="1">
          <p15:clr>
            <a:srgbClr val="A4A3A4"/>
          </p15:clr>
        </p15:guide>
        <p15:guide id="55" pos="10081" userDrawn="1">
          <p15:clr>
            <a:srgbClr val="A4A3A4"/>
          </p15:clr>
        </p15:guide>
        <p15:guide id="56" pos="10321" userDrawn="1">
          <p15:clr>
            <a:srgbClr val="A4A3A4"/>
          </p15:clr>
        </p15:guide>
        <p15:guide id="57" pos="10561" userDrawn="1">
          <p15:clr>
            <a:srgbClr val="A4A3A4"/>
          </p15:clr>
        </p15:guide>
        <p15:guide id="58" pos="10801" userDrawn="1">
          <p15:clr>
            <a:srgbClr val="A4A3A4"/>
          </p15:clr>
        </p15:guide>
        <p15:guide id="59" pos="11281" userDrawn="1">
          <p15:clr>
            <a:srgbClr val="A4A3A4"/>
          </p15:clr>
        </p15:guide>
        <p15:guide id="60" pos="11761" userDrawn="1">
          <p15:clr>
            <a:srgbClr val="A4A3A4"/>
          </p15:clr>
        </p15:guide>
        <p15:guide id="61" pos="12241" userDrawn="1">
          <p15:clr>
            <a:srgbClr val="A4A3A4"/>
          </p15:clr>
        </p15:guide>
        <p15:guide id="62" pos="12481" userDrawn="1">
          <p15:clr>
            <a:srgbClr val="A4A3A4"/>
          </p15:clr>
        </p15:guide>
        <p15:guide id="63" pos="12721" userDrawn="1">
          <p15:clr>
            <a:srgbClr val="A4A3A4"/>
          </p15:clr>
        </p15:guide>
        <p15:guide id="64" pos="12961" userDrawn="1">
          <p15:clr>
            <a:srgbClr val="A4A3A4"/>
          </p15:clr>
        </p15:guide>
        <p15:guide id="65" pos="13201" userDrawn="1">
          <p15:clr>
            <a:srgbClr val="A4A3A4"/>
          </p15:clr>
        </p15:guide>
        <p15:guide id="66" pos="13681" userDrawn="1">
          <p15:clr>
            <a:srgbClr val="A4A3A4"/>
          </p15:clr>
        </p15:guide>
        <p15:guide id="67" pos="13921" userDrawn="1">
          <p15:clr>
            <a:srgbClr val="A4A3A4"/>
          </p15:clr>
        </p15:guide>
        <p15:guide id="68" pos="14161" userDrawn="1">
          <p15:clr>
            <a:srgbClr val="A4A3A4"/>
          </p15:clr>
        </p15:guide>
        <p15:guide id="69" pos="14641" userDrawn="1">
          <p15:clr>
            <a:srgbClr val="A4A3A4"/>
          </p15:clr>
        </p15:guide>
        <p15:guide id="70" pos="15121" userDrawn="1">
          <p15:clr>
            <a:srgbClr val="A4A3A4"/>
          </p15:clr>
        </p15:guide>
        <p15:guide id="71" orient="horz" pos="240" userDrawn="1">
          <p15:clr>
            <a:srgbClr val="A4A3A4"/>
          </p15:clr>
        </p15:guide>
        <p15:guide id="72" orient="horz" pos="720" userDrawn="1">
          <p15:clr>
            <a:srgbClr val="A4A3A4"/>
          </p15:clr>
        </p15:guide>
        <p15:guide id="73" orient="horz" pos="1200" userDrawn="1">
          <p15:clr>
            <a:srgbClr val="A4A3A4"/>
          </p15:clr>
        </p15:guide>
        <p15:guide id="74" orient="horz" pos="1440" userDrawn="1">
          <p15:clr>
            <a:srgbClr val="A4A3A4"/>
          </p15:clr>
        </p15:guide>
        <p15:guide id="75" orient="horz" pos="1680" userDrawn="1">
          <p15:clr>
            <a:srgbClr val="A4A3A4"/>
          </p15:clr>
        </p15:guide>
        <p15:guide id="76" orient="horz" pos="1920" userDrawn="1">
          <p15:clr>
            <a:srgbClr val="A4A3A4"/>
          </p15:clr>
        </p15:guide>
        <p15:guide id="77" orient="horz" pos="2160" userDrawn="1">
          <p15:clr>
            <a:srgbClr val="A4A3A4"/>
          </p15:clr>
        </p15:guide>
        <p15:guide id="78" orient="horz" pos="2400" userDrawn="1">
          <p15:clr>
            <a:srgbClr val="A4A3A4"/>
          </p15:clr>
        </p15:guide>
        <p15:guide id="79" orient="horz" pos="2640" userDrawn="1">
          <p15:clr>
            <a:srgbClr val="A4A3A4"/>
          </p15:clr>
        </p15:guide>
        <p15:guide id="80" orient="horz" pos="2880" userDrawn="1">
          <p15:clr>
            <a:srgbClr val="A4A3A4"/>
          </p15:clr>
        </p15:guide>
        <p15:guide id="81" orient="horz" pos="3120" userDrawn="1">
          <p15:clr>
            <a:srgbClr val="A4A3A4"/>
          </p15:clr>
        </p15:guide>
        <p15:guide id="82" orient="horz" pos="3360" userDrawn="1">
          <p15:clr>
            <a:srgbClr val="A4A3A4"/>
          </p15:clr>
        </p15:guide>
        <p15:guide id="83" orient="horz" pos="3600" userDrawn="1">
          <p15:clr>
            <a:srgbClr val="A4A3A4"/>
          </p15:clr>
        </p15:guide>
        <p15:guide id="84" orient="horz" pos="4080" userDrawn="1">
          <p15:clr>
            <a:srgbClr val="A4A3A4"/>
          </p15:clr>
        </p15:guide>
        <p15:guide id="85" orient="horz" pos="4560" userDrawn="1">
          <p15:clr>
            <a:srgbClr val="A4A3A4"/>
          </p15:clr>
        </p15:guide>
        <p15:guide id="86" orient="horz" pos="5040" userDrawn="1">
          <p15:clr>
            <a:srgbClr val="A4A3A4"/>
          </p15:clr>
        </p15:guide>
        <p15:guide id="87" orient="horz" pos="5280" userDrawn="1">
          <p15:clr>
            <a:srgbClr val="A4A3A4"/>
          </p15:clr>
        </p15:guide>
        <p15:guide id="88" orient="horz" pos="5520" userDrawn="1">
          <p15:clr>
            <a:srgbClr val="A4A3A4"/>
          </p15:clr>
        </p15:guide>
        <p15:guide id="89" orient="horz" pos="5760" userDrawn="1">
          <p15:clr>
            <a:srgbClr val="A4A3A4"/>
          </p15:clr>
        </p15:guide>
        <p15:guide id="90" orient="horz" pos="6000" userDrawn="1">
          <p15:clr>
            <a:srgbClr val="A4A3A4"/>
          </p15:clr>
        </p15:guide>
        <p15:guide id="91" orient="horz" pos="6240" userDrawn="1">
          <p15:clr>
            <a:srgbClr val="A4A3A4"/>
          </p15:clr>
        </p15:guide>
        <p15:guide id="92" orient="horz" pos="6480" userDrawn="1">
          <p15:clr>
            <a:srgbClr val="A4A3A4"/>
          </p15:clr>
        </p15:guide>
        <p15:guide id="93" orient="horz" pos="6720" userDrawn="1">
          <p15:clr>
            <a:srgbClr val="A4A3A4"/>
          </p15:clr>
        </p15:guide>
        <p15:guide id="94" orient="horz" pos="6960" userDrawn="1">
          <p15:clr>
            <a:srgbClr val="A4A3A4"/>
          </p15:clr>
        </p15:guide>
        <p15:guide id="95" orient="horz" pos="7200" userDrawn="1">
          <p15:clr>
            <a:srgbClr val="A4A3A4"/>
          </p15:clr>
        </p15:guide>
        <p15:guide id="96" orient="horz" pos="7440" userDrawn="1">
          <p15:clr>
            <a:srgbClr val="A4A3A4"/>
          </p15:clr>
        </p15:guide>
        <p15:guide id="97" orient="horz" pos="7920" userDrawn="1">
          <p15:clr>
            <a:srgbClr val="A4A3A4"/>
          </p15:clr>
        </p15:guide>
        <p15:guide id="98" orient="horz" pos="8400" userDrawn="1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8483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92445" r:id="rId1"/>
  </p:sldLayoutIdLst>
  <p:transition spd="med"/>
  <p:hf hdr="0" dt="0"/>
  <p:txStyles>
    <p:titleStyle>
      <a:lvl1pPr marL="0" marR="0" indent="0" algn="l" defTabSz="2438156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399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156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3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156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3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156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3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156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3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32" algn="l" defTabSz="2438156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3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066" algn="l" defTabSz="2438156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3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597" algn="l" defTabSz="2438156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3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131" algn="l" defTabSz="2438156" rtl="0" eaLnBrk="1" latinLnBrk="0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sz="63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156" rtl="0" eaLnBrk="1" latinLnBrk="0" hangingPunct="1">
        <a:lnSpc>
          <a:spcPct val="110000"/>
        </a:lnSpc>
        <a:spcBef>
          <a:spcPct val="0"/>
        </a:spcBef>
        <a:spcAft>
          <a:spcPct val="0"/>
        </a:spcAft>
        <a:buClrTx/>
        <a:buSzTx/>
        <a:buFontTx/>
        <a:buNone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51" marR="0" indent="-329151" algn="l" defTabSz="2438156" rtl="0" eaLnBrk="1" latinLnBrk="0" hangingPunct="1">
        <a:lnSpc>
          <a:spcPct val="110000"/>
        </a:lnSpc>
        <a:spcBef>
          <a:spcPct val="0"/>
        </a:spcBef>
        <a:spcAft>
          <a:spcPct val="0"/>
        </a:spcAft>
        <a:buClrTx/>
        <a:buSzTx/>
        <a:buFontTx/>
        <a:buChar char="–"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02" marR="0" indent="-329151" algn="l" defTabSz="2438156" rtl="0" eaLnBrk="1" latinLnBrk="0" hangingPunct="1">
        <a:lnSpc>
          <a:spcPct val="110000"/>
        </a:lnSpc>
        <a:spcBef>
          <a:spcPct val="0"/>
        </a:spcBef>
        <a:spcAft>
          <a:spcPct val="0"/>
        </a:spcAft>
        <a:buClrTx/>
        <a:buSzTx/>
        <a:buFontTx/>
        <a:buChar char="•"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453" marR="0" indent="-329151" algn="l" defTabSz="2438156" rtl="0" eaLnBrk="1" latinLnBrk="0" hangingPunct="1">
        <a:lnSpc>
          <a:spcPct val="110000"/>
        </a:lnSpc>
        <a:spcBef>
          <a:spcPct val="0"/>
        </a:spcBef>
        <a:spcAft>
          <a:spcPct val="0"/>
        </a:spcAft>
        <a:buClrTx/>
        <a:buSzTx/>
        <a:buFontTx/>
        <a:buChar char="–"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2886" marR="0" indent="-457154" algn="l" defTabSz="2438156" rtl="0" eaLnBrk="1" latinLnBrk="0" hangingPunct="1">
        <a:lnSpc>
          <a:spcPct val="110000"/>
        </a:lnSpc>
        <a:spcBef>
          <a:spcPts val="2900"/>
        </a:spcBef>
        <a:spcAft>
          <a:spcPct val="0"/>
        </a:spcAft>
        <a:buClrTx/>
        <a:buSzTx/>
        <a:buFont typeface="IBM Plex Sans" panose="020B0503050203000203" pitchFamily="34" charset="0"/>
        <a:buChar char="•"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2876" marR="0" indent="-388970" algn="l" defTabSz="2438156" rtl="0" eaLnBrk="1" latinLnBrk="0" hangingPunct="1">
        <a:lnSpc>
          <a:spcPct val="100000"/>
        </a:lnSpc>
        <a:spcBef>
          <a:spcPts val="2900"/>
        </a:spcBef>
        <a:spcAft>
          <a:spcPct val="0"/>
        </a:spcAft>
        <a:buClrTx/>
        <a:buSzTx/>
        <a:buFontTx/>
        <a:buChar char="»"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410" marR="0" indent="-388970" algn="l" defTabSz="2438156" rtl="0" eaLnBrk="1" latinLnBrk="0" hangingPunct="1">
        <a:lnSpc>
          <a:spcPct val="100000"/>
        </a:lnSpc>
        <a:spcBef>
          <a:spcPts val="2900"/>
        </a:spcBef>
        <a:spcAft>
          <a:spcPct val="0"/>
        </a:spcAft>
        <a:buClrTx/>
        <a:buSzTx/>
        <a:buFontTx/>
        <a:buChar char="»"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7943" marR="0" indent="-388970" algn="l" defTabSz="2438156" rtl="0" eaLnBrk="1" latinLnBrk="0" hangingPunct="1">
        <a:lnSpc>
          <a:spcPct val="100000"/>
        </a:lnSpc>
        <a:spcBef>
          <a:spcPts val="2900"/>
        </a:spcBef>
        <a:spcAft>
          <a:spcPct val="0"/>
        </a:spcAft>
        <a:buClrTx/>
        <a:buSzTx/>
        <a:buFontTx/>
        <a:buChar char="»"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476" marR="0" indent="-388970" algn="l" defTabSz="2438156" rtl="0" eaLnBrk="1" latinLnBrk="0" hangingPunct="1">
        <a:lnSpc>
          <a:spcPct val="100000"/>
        </a:lnSpc>
        <a:spcBef>
          <a:spcPts val="2900"/>
        </a:spcBef>
        <a:spcAft>
          <a:spcPct val="0"/>
        </a:spcAft>
        <a:buClrTx/>
        <a:buSzTx/>
        <a:buFontTx/>
        <a:buChar char="»"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104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57" algn="r" defTabSz="1829104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13" algn="r" defTabSz="1829104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871" algn="r" defTabSz="1829104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828" algn="r" defTabSz="1829104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785" algn="r" defTabSz="1829104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742" algn="r" defTabSz="1829104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700" algn="r" defTabSz="1829104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657" algn="r" defTabSz="1829104" rtl="0" eaLnBrk="1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pos="481" userDrawn="1">
          <p15:clr>
            <a:srgbClr val="EE5396"/>
          </p15:clr>
        </p15:guide>
        <p15:guide id="2" pos="3841" userDrawn="1">
          <p15:clr>
            <a:srgbClr val="0F62FE"/>
          </p15:clr>
        </p15:guide>
        <p15:guide id="3" pos="1921" userDrawn="1">
          <p15:clr>
            <a:srgbClr val="000000"/>
          </p15:clr>
        </p15:guide>
        <p15:guide id="4" pos="5761" userDrawn="1">
          <p15:clr>
            <a:srgbClr val="000000"/>
          </p15:clr>
        </p15:guide>
        <p15:guide id="5" pos="7201" userDrawn="1">
          <p15:clr>
            <a:srgbClr val="EE5396"/>
          </p15:clr>
        </p15:guide>
        <p15:guide id="6" pos="8161" userDrawn="1">
          <p15:clr>
            <a:srgbClr val="EE5396"/>
          </p15:clr>
        </p15:guide>
        <p15:guide id="7" pos="4321" userDrawn="1">
          <p15:clr>
            <a:srgbClr val="EE5396"/>
          </p15:clr>
        </p15:guide>
        <p15:guide id="8" pos="3361" userDrawn="1">
          <p15:clr>
            <a:srgbClr val="EE5396"/>
          </p15:clr>
        </p15:guide>
        <p15:guide id="9" pos="9601" userDrawn="1">
          <p15:clr>
            <a:srgbClr val="000000"/>
          </p15:clr>
        </p15:guide>
        <p15:guide id="10" pos="11041" userDrawn="1">
          <p15:clr>
            <a:srgbClr val="EE5396"/>
          </p15:clr>
        </p15:guide>
        <p15:guide id="11" pos="12001" userDrawn="1">
          <p15:clr>
            <a:srgbClr val="EE5396"/>
          </p15:clr>
        </p15:guide>
        <p15:guide id="12" pos="14881" userDrawn="1">
          <p15:clr>
            <a:srgbClr val="EE5396"/>
          </p15:clr>
        </p15:guide>
        <p15:guide id="13" orient="horz" pos="3840" userDrawn="1">
          <p15:clr>
            <a:srgbClr val="EE5396"/>
          </p15:clr>
        </p15:guide>
        <p15:guide id="14" orient="horz" pos="960" userDrawn="1">
          <p15:clr>
            <a:srgbClr val="9FCC3B"/>
          </p15:clr>
        </p15:guide>
        <p15:guide id="15" orient="horz" pos="7680" userDrawn="1">
          <p15:clr>
            <a:srgbClr val="9FCC3B"/>
          </p15:clr>
        </p15:guide>
        <p15:guide id="16" pos="7680" userDrawn="1">
          <p15:clr>
            <a:srgbClr val="0F62FE"/>
          </p15:clr>
        </p15:guide>
        <p15:guide id="17" pos="11520" userDrawn="1">
          <p15:clr>
            <a:srgbClr val="0F62FE"/>
          </p15:clr>
        </p15:guide>
        <p15:guide id="18" orient="horz" pos="4800" userDrawn="1">
          <p15:clr>
            <a:srgbClr val="EE5396"/>
          </p15:clr>
        </p15:guide>
        <p15:guide id="19" orient="horz" pos="8160" userDrawn="1">
          <p15:clr>
            <a:srgbClr val="F26B43"/>
          </p15:clr>
        </p15:guide>
        <p15:guide id="20" orient="horz" pos="480" userDrawn="1">
          <p15:clr>
            <a:srgbClr val="F26B43"/>
          </p15:clr>
        </p15:guide>
        <p15:guide id="21" pos="961" userDrawn="1">
          <p15:clr>
            <a:srgbClr val="9FCC3B"/>
          </p15:clr>
        </p15:guide>
        <p15:guide id="22" pos="14401" userDrawn="1">
          <p15:clr>
            <a:srgbClr val="9FCC3B"/>
          </p15:clr>
        </p15:guide>
        <p15:guide id="23" pos="13441" userDrawn="1">
          <p15:clr>
            <a:srgbClr val="000000"/>
          </p15:clr>
        </p15:guide>
        <p15:guide id="24" orient="horz" pos="4320" userDrawn="1">
          <p15:clr>
            <a:srgbClr val="EE5396"/>
          </p15:clr>
        </p15:guide>
        <p15:guide id="25" pos="241" userDrawn="1">
          <p15:clr>
            <a:srgbClr val="A4A3A4"/>
          </p15:clr>
        </p15:guide>
        <p15:guide id="26" pos="721" userDrawn="1">
          <p15:clr>
            <a:srgbClr val="A4A3A4"/>
          </p15:clr>
        </p15:guide>
        <p15:guide id="27" pos="1201" userDrawn="1">
          <p15:clr>
            <a:srgbClr val="A4A3A4"/>
          </p15:clr>
        </p15:guide>
        <p15:guide id="28" pos="1441" userDrawn="1">
          <p15:clr>
            <a:srgbClr val="A4A3A4"/>
          </p15:clr>
        </p15:guide>
        <p15:guide id="29" pos="1681" userDrawn="1">
          <p15:clr>
            <a:srgbClr val="A4A3A4"/>
          </p15:clr>
        </p15:guide>
        <p15:guide id="30" pos="2161" userDrawn="1">
          <p15:clr>
            <a:srgbClr val="A4A3A4"/>
          </p15:clr>
        </p15:guide>
        <p15:guide id="31" pos="2401" userDrawn="1">
          <p15:clr>
            <a:srgbClr val="A4A3A4"/>
          </p15:clr>
        </p15:guide>
        <p15:guide id="32" pos="2641" userDrawn="1">
          <p15:clr>
            <a:srgbClr val="A4A3A4"/>
          </p15:clr>
        </p15:guide>
        <p15:guide id="33" pos="2881" userDrawn="1">
          <p15:clr>
            <a:srgbClr val="A4A3A4"/>
          </p15:clr>
        </p15:guide>
        <p15:guide id="34" pos="3121" userDrawn="1">
          <p15:clr>
            <a:srgbClr val="A4A3A4"/>
          </p15:clr>
        </p15:guide>
        <p15:guide id="35" pos="3601" userDrawn="1">
          <p15:clr>
            <a:srgbClr val="A4A3A4"/>
          </p15:clr>
        </p15:guide>
        <p15:guide id="36" pos="4081" userDrawn="1">
          <p15:clr>
            <a:srgbClr val="A4A3A4"/>
          </p15:clr>
        </p15:guide>
        <p15:guide id="37" pos="4561" userDrawn="1">
          <p15:clr>
            <a:srgbClr val="A4A3A4"/>
          </p15:clr>
        </p15:guide>
        <p15:guide id="38" pos="4801" userDrawn="1">
          <p15:clr>
            <a:srgbClr val="A4A3A4"/>
          </p15:clr>
        </p15:guide>
        <p15:guide id="39" pos="5041" userDrawn="1">
          <p15:clr>
            <a:srgbClr val="A4A3A4"/>
          </p15:clr>
        </p15:guide>
        <p15:guide id="40" pos="5281" userDrawn="1">
          <p15:clr>
            <a:srgbClr val="A4A3A4"/>
          </p15:clr>
        </p15:guide>
        <p15:guide id="41" pos="5521" userDrawn="1">
          <p15:clr>
            <a:srgbClr val="A4A3A4"/>
          </p15:clr>
        </p15:guide>
        <p15:guide id="42" pos="6001" userDrawn="1">
          <p15:clr>
            <a:srgbClr val="A4A3A4"/>
          </p15:clr>
        </p15:guide>
        <p15:guide id="43" pos="6241" userDrawn="1">
          <p15:clr>
            <a:srgbClr val="A4A3A4"/>
          </p15:clr>
        </p15:guide>
        <p15:guide id="44" pos="6481" userDrawn="1">
          <p15:clr>
            <a:srgbClr val="A4A3A4"/>
          </p15:clr>
        </p15:guide>
        <p15:guide id="45" pos="6721" userDrawn="1">
          <p15:clr>
            <a:srgbClr val="A4A3A4"/>
          </p15:clr>
        </p15:guide>
        <p15:guide id="46" pos="6961" userDrawn="1">
          <p15:clr>
            <a:srgbClr val="A4A3A4"/>
          </p15:clr>
        </p15:guide>
        <p15:guide id="47" pos="7441" userDrawn="1">
          <p15:clr>
            <a:srgbClr val="A4A3A4"/>
          </p15:clr>
        </p15:guide>
        <p15:guide id="48" pos="7921" userDrawn="1">
          <p15:clr>
            <a:srgbClr val="A4A3A4"/>
          </p15:clr>
        </p15:guide>
        <p15:guide id="49" pos="8401" userDrawn="1">
          <p15:clr>
            <a:srgbClr val="A4A3A4"/>
          </p15:clr>
        </p15:guide>
        <p15:guide id="50" pos="8641" userDrawn="1">
          <p15:clr>
            <a:srgbClr val="A4A3A4"/>
          </p15:clr>
        </p15:guide>
        <p15:guide id="51" pos="8881" userDrawn="1">
          <p15:clr>
            <a:srgbClr val="A4A3A4"/>
          </p15:clr>
        </p15:guide>
        <p15:guide id="52" pos="9121" userDrawn="1">
          <p15:clr>
            <a:srgbClr val="A4A3A4"/>
          </p15:clr>
        </p15:guide>
        <p15:guide id="53" pos="9361" userDrawn="1">
          <p15:clr>
            <a:srgbClr val="A4A3A4"/>
          </p15:clr>
        </p15:guide>
        <p15:guide id="54" pos="9841" userDrawn="1">
          <p15:clr>
            <a:srgbClr val="A4A3A4"/>
          </p15:clr>
        </p15:guide>
        <p15:guide id="55" pos="10081" userDrawn="1">
          <p15:clr>
            <a:srgbClr val="A4A3A4"/>
          </p15:clr>
        </p15:guide>
        <p15:guide id="56" pos="10321" userDrawn="1">
          <p15:clr>
            <a:srgbClr val="A4A3A4"/>
          </p15:clr>
        </p15:guide>
        <p15:guide id="57" pos="10561" userDrawn="1">
          <p15:clr>
            <a:srgbClr val="A4A3A4"/>
          </p15:clr>
        </p15:guide>
        <p15:guide id="58" pos="10801" userDrawn="1">
          <p15:clr>
            <a:srgbClr val="A4A3A4"/>
          </p15:clr>
        </p15:guide>
        <p15:guide id="59" pos="11281" userDrawn="1">
          <p15:clr>
            <a:srgbClr val="A4A3A4"/>
          </p15:clr>
        </p15:guide>
        <p15:guide id="60" pos="11761" userDrawn="1">
          <p15:clr>
            <a:srgbClr val="A4A3A4"/>
          </p15:clr>
        </p15:guide>
        <p15:guide id="61" pos="12241" userDrawn="1">
          <p15:clr>
            <a:srgbClr val="A4A3A4"/>
          </p15:clr>
        </p15:guide>
        <p15:guide id="62" pos="12481" userDrawn="1">
          <p15:clr>
            <a:srgbClr val="A4A3A4"/>
          </p15:clr>
        </p15:guide>
        <p15:guide id="63" pos="12721" userDrawn="1">
          <p15:clr>
            <a:srgbClr val="A4A3A4"/>
          </p15:clr>
        </p15:guide>
        <p15:guide id="64" pos="12961" userDrawn="1">
          <p15:clr>
            <a:srgbClr val="A4A3A4"/>
          </p15:clr>
        </p15:guide>
        <p15:guide id="65" pos="13201" userDrawn="1">
          <p15:clr>
            <a:srgbClr val="A4A3A4"/>
          </p15:clr>
        </p15:guide>
        <p15:guide id="66" pos="13681" userDrawn="1">
          <p15:clr>
            <a:srgbClr val="A4A3A4"/>
          </p15:clr>
        </p15:guide>
        <p15:guide id="67" pos="13921" userDrawn="1">
          <p15:clr>
            <a:srgbClr val="A4A3A4"/>
          </p15:clr>
        </p15:guide>
        <p15:guide id="68" pos="14161" userDrawn="1">
          <p15:clr>
            <a:srgbClr val="A4A3A4"/>
          </p15:clr>
        </p15:guide>
        <p15:guide id="69" pos="14641" userDrawn="1">
          <p15:clr>
            <a:srgbClr val="A4A3A4"/>
          </p15:clr>
        </p15:guide>
        <p15:guide id="70" pos="15121" userDrawn="1">
          <p15:clr>
            <a:srgbClr val="A4A3A4"/>
          </p15:clr>
        </p15:guide>
        <p15:guide id="71" orient="horz" pos="240" userDrawn="1">
          <p15:clr>
            <a:srgbClr val="A4A3A4"/>
          </p15:clr>
        </p15:guide>
        <p15:guide id="72" orient="horz" pos="720" userDrawn="1">
          <p15:clr>
            <a:srgbClr val="A4A3A4"/>
          </p15:clr>
        </p15:guide>
        <p15:guide id="73" orient="horz" pos="1200" userDrawn="1">
          <p15:clr>
            <a:srgbClr val="A4A3A4"/>
          </p15:clr>
        </p15:guide>
        <p15:guide id="74" orient="horz" pos="1440" userDrawn="1">
          <p15:clr>
            <a:srgbClr val="A4A3A4"/>
          </p15:clr>
        </p15:guide>
        <p15:guide id="75" orient="horz" pos="1680" userDrawn="1">
          <p15:clr>
            <a:srgbClr val="A4A3A4"/>
          </p15:clr>
        </p15:guide>
        <p15:guide id="76" orient="horz" pos="1920" userDrawn="1">
          <p15:clr>
            <a:srgbClr val="A4A3A4"/>
          </p15:clr>
        </p15:guide>
        <p15:guide id="77" orient="horz" pos="2160" userDrawn="1">
          <p15:clr>
            <a:srgbClr val="A4A3A4"/>
          </p15:clr>
        </p15:guide>
        <p15:guide id="78" orient="horz" pos="2400" userDrawn="1">
          <p15:clr>
            <a:srgbClr val="A4A3A4"/>
          </p15:clr>
        </p15:guide>
        <p15:guide id="79" orient="horz" pos="2640" userDrawn="1">
          <p15:clr>
            <a:srgbClr val="A4A3A4"/>
          </p15:clr>
        </p15:guide>
        <p15:guide id="80" orient="horz" pos="2880" userDrawn="1">
          <p15:clr>
            <a:srgbClr val="A4A3A4"/>
          </p15:clr>
        </p15:guide>
        <p15:guide id="81" orient="horz" pos="3120" userDrawn="1">
          <p15:clr>
            <a:srgbClr val="A4A3A4"/>
          </p15:clr>
        </p15:guide>
        <p15:guide id="82" orient="horz" pos="3360" userDrawn="1">
          <p15:clr>
            <a:srgbClr val="A4A3A4"/>
          </p15:clr>
        </p15:guide>
        <p15:guide id="83" orient="horz" pos="3600" userDrawn="1">
          <p15:clr>
            <a:srgbClr val="A4A3A4"/>
          </p15:clr>
        </p15:guide>
        <p15:guide id="84" orient="horz" pos="4080" userDrawn="1">
          <p15:clr>
            <a:srgbClr val="A4A3A4"/>
          </p15:clr>
        </p15:guide>
        <p15:guide id="85" orient="horz" pos="4560" userDrawn="1">
          <p15:clr>
            <a:srgbClr val="A4A3A4"/>
          </p15:clr>
        </p15:guide>
        <p15:guide id="86" orient="horz" pos="5040" userDrawn="1">
          <p15:clr>
            <a:srgbClr val="A4A3A4"/>
          </p15:clr>
        </p15:guide>
        <p15:guide id="87" orient="horz" pos="5280" userDrawn="1">
          <p15:clr>
            <a:srgbClr val="A4A3A4"/>
          </p15:clr>
        </p15:guide>
        <p15:guide id="88" orient="horz" pos="5520" userDrawn="1">
          <p15:clr>
            <a:srgbClr val="A4A3A4"/>
          </p15:clr>
        </p15:guide>
        <p15:guide id="89" orient="horz" pos="5760" userDrawn="1">
          <p15:clr>
            <a:srgbClr val="A4A3A4"/>
          </p15:clr>
        </p15:guide>
        <p15:guide id="90" orient="horz" pos="6000" userDrawn="1">
          <p15:clr>
            <a:srgbClr val="A4A3A4"/>
          </p15:clr>
        </p15:guide>
        <p15:guide id="91" orient="horz" pos="6240" userDrawn="1">
          <p15:clr>
            <a:srgbClr val="A4A3A4"/>
          </p15:clr>
        </p15:guide>
        <p15:guide id="92" orient="horz" pos="6480" userDrawn="1">
          <p15:clr>
            <a:srgbClr val="A4A3A4"/>
          </p15:clr>
        </p15:guide>
        <p15:guide id="93" orient="horz" pos="6720" userDrawn="1">
          <p15:clr>
            <a:srgbClr val="A4A3A4"/>
          </p15:clr>
        </p15:guide>
        <p15:guide id="94" orient="horz" pos="6960" userDrawn="1">
          <p15:clr>
            <a:srgbClr val="A4A3A4"/>
          </p15:clr>
        </p15:guide>
        <p15:guide id="95" orient="horz" pos="7200" userDrawn="1">
          <p15:clr>
            <a:srgbClr val="A4A3A4"/>
          </p15:clr>
        </p15:guide>
        <p15:guide id="96" orient="horz" pos="7440" userDrawn="1">
          <p15:clr>
            <a:srgbClr val="A4A3A4"/>
          </p15:clr>
        </p15:guide>
        <p15:guide id="97" orient="horz" pos="7920" userDrawn="1">
          <p15:clr>
            <a:srgbClr val="A4A3A4"/>
          </p15:clr>
        </p15:guide>
        <p15:guide id="98" orient="horz" pos="8400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emf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em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ibm.com/products/db2-genius-hub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ibm.com/products/db2-genius-hub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ibm.com/products/db2-genius-hub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ibm.com/products/db2-genius-hub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svg"/><Relationship Id="rId4" Type="http://schemas.openxmlformats.org/officeDocument/2006/relationships/image" Target="../media/image8.svg"/><Relationship Id="rId5" Type="http://schemas.openxmlformats.org/officeDocument/2006/relationships/image" Target="../media/image9.svg"/><Relationship Id="rId6" Type="http://schemas.openxmlformats.org/officeDocument/2006/relationships/image" Target="../media/image1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Title"/>
          <p:cNvSpPr txBox="1">
            <a:spLocks noGrp="1"/>
          </p:cNvSpPr>
          <p:nvPr>
            <p:ph type="title"/>
          </p:nvPr>
        </p:nvSpPr>
        <p:spPr>
          <a:xfrm>
            <a:off x="562441" y="608582"/>
            <a:ext cx="11832750" cy="602552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r>
              <a:rPr lang="en-US" sz="7400" b="1" dirty="0"/>
              <a:t>Customer</a:t>
            </a:r>
            <a:br>
              <a:rPr lang="en-US" sz="7400" b="1" dirty="0"/>
            </a:br>
            <a:r>
              <a:rPr lang="en-US" sz="5400" dirty="0"/>
              <a:t>Business Value Assessment</a:t>
            </a:r>
            <a:br>
              <a:rPr dirty="0"/>
            </a:br>
            <a:br>
              <a:rPr lang="en-US" sz="4200" dirty="0"/>
            </a:br>
            <a:r>
              <a:rPr lang="en-US" sz="4200" dirty="0"/>
              <a:t>Db2 AI Editions</a:t>
            </a:r>
            <a:br>
              <a:rPr lang="en-US" sz="4200" dirty="0"/>
            </a:br>
            <a:r>
              <a:rPr lang="en-US" sz="4200" dirty="0"/>
              <a:t>Genius Hub</a:t>
            </a:r>
            <a:br>
              <a:rPr lang="en-US" sz="4200" dirty="0"/>
            </a:br>
            <a:br>
              <a:rPr lang="en-US" sz="3200" dirty="0">
                <a:solidFill>
                  <a:srgbClr val="000000"/>
                </a:solidFill>
              </a:rPr>
            </a:br>
            <a:r>
              <a:rPr lang="en-US" sz="3200" dirty="0">
                <a:solidFill>
                  <a:srgbClr val="000000"/>
                </a:solidFill>
              </a:rPr>
              <a:t>April 2026</a:t>
            </a:r>
            <a:endParaRPr lang="en-US" u="sng" dirty="0">
              <a:solidFill>
                <a:schemeClr val="accent1"/>
              </a:solidFill>
              <a:uFill>
                <a:solidFill>
                  <a:srgbClr val="0F62FE"/>
                </a:solidFill>
              </a:uFill>
            </a:endParaRPr>
          </a:p>
        </p:txBody>
      </p:sp>
      <p:grpSp>
        <p:nvGrpSpPr>
          <p:cNvPr id="1102" name="Group 2"/>
          <p:cNvGrpSpPr/>
          <p:nvPr/>
        </p:nvGrpSpPr>
        <p:grpSpPr>
          <a:xfrm>
            <a:off x="-291027" y="-292947"/>
            <a:ext cx="24971255" cy="14305281"/>
            <a:chOff x="0" y="0"/>
            <a:chExt cx="24971254" cy="14305280"/>
          </a:xfrm>
        </p:grpSpPr>
        <p:grpSp>
          <p:nvGrpSpPr>
            <p:cNvPr id="1069" name="Group 59"/>
            <p:cNvGrpSpPr/>
            <p:nvPr/>
          </p:nvGrpSpPr>
          <p:grpSpPr>
            <a:xfrm>
              <a:off x="903906" y="-1"/>
              <a:ext cx="23164620" cy="243842"/>
              <a:chOff x="0" y="0"/>
              <a:chExt cx="23164618" cy="243840"/>
            </a:xfrm>
          </p:grpSpPr>
          <p:sp>
            <p:nvSpPr>
              <p:cNvPr id="1058" name="Straight Connector 92"/>
              <p:cNvSpPr/>
              <p:nvPr/>
            </p:nvSpPr>
            <p:spPr>
              <a:xfrm flipV="1">
                <a:off x="-1" y="-1"/>
                <a:ext cx="2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59" name="Straight Connector 93"/>
              <p:cNvSpPr/>
              <p:nvPr/>
            </p:nvSpPr>
            <p:spPr>
              <a:xfrm flipV="1">
                <a:off x="48768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60" name="Straight Connector 94"/>
              <p:cNvSpPr/>
              <p:nvPr/>
            </p:nvSpPr>
            <p:spPr>
              <a:xfrm flipV="1">
                <a:off x="54864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61" name="Straight Connector 95"/>
              <p:cNvSpPr/>
              <p:nvPr/>
            </p:nvSpPr>
            <p:spPr>
              <a:xfrm flipV="1">
                <a:off x="60960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62" name="Straight Connector 96"/>
              <p:cNvSpPr/>
              <p:nvPr/>
            </p:nvSpPr>
            <p:spPr>
              <a:xfrm flipV="1">
                <a:off x="109728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63" name="Straight Connector 97"/>
              <p:cNvSpPr/>
              <p:nvPr/>
            </p:nvSpPr>
            <p:spPr>
              <a:xfrm flipV="1">
                <a:off x="115824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64" name="Straight Connector 98"/>
              <p:cNvSpPr/>
              <p:nvPr/>
            </p:nvSpPr>
            <p:spPr>
              <a:xfrm flipV="1">
                <a:off x="121920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65" name="Straight Connector 99"/>
              <p:cNvSpPr/>
              <p:nvPr/>
            </p:nvSpPr>
            <p:spPr>
              <a:xfrm flipV="1">
                <a:off x="170688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66" name="Straight Connector 100"/>
              <p:cNvSpPr/>
              <p:nvPr/>
            </p:nvSpPr>
            <p:spPr>
              <a:xfrm flipV="1">
                <a:off x="17678401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67" name="Straight Connector 101"/>
              <p:cNvSpPr/>
              <p:nvPr/>
            </p:nvSpPr>
            <p:spPr>
              <a:xfrm flipV="1">
                <a:off x="18288001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68" name="Straight Connector 102"/>
              <p:cNvSpPr/>
              <p:nvPr/>
            </p:nvSpPr>
            <p:spPr>
              <a:xfrm flipV="1">
                <a:off x="23164618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</p:grpSp>
        <p:grpSp>
          <p:nvGrpSpPr>
            <p:cNvPr id="1081" name="Group 60"/>
            <p:cNvGrpSpPr/>
            <p:nvPr/>
          </p:nvGrpSpPr>
          <p:grpSpPr>
            <a:xfrm>
              <a:off x="903906" y="14061440"/>
              <a:ext cx="23164620" cy="243841"/>
              <a:chOff x="0" y="0"/>
              <a:chExt cx="23164618" cy="243840"/>
            </a:xfrm>
          </p:grpSpPr>
          <p:sp>
            <p:nvSpPr>
              <p:cNvPr id="1070" name="Straight Connector 81"/>
              <p:cNvSpPr/>
              <p:nvPr/>
            </p:nvSpPr>
            <p:spPr>
              <a:xfrm flipV="1">
                <a:off x="-1" y="-1"/>
                <a:ext cx="2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71" name="Straight Connector 82"/>
              <p:cNvSpPr/>
              <p:nvPr/>
            </p:nvSpPr>
            <p:spPr>
              <a:xfrm flipV="1">
                <a:off x="48768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72" name="Straight Connector 83"/>
              <p:cNvSpPr/>
              <p:nvPr/>
            </p:nvSpPr>
            <p:spPr>
              <a:xfrm flipV="1">
                <a:off x="54864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73" name="Straight Connector 84"/>
              <p:cNvSpPr/>
              <p:nvPr/>
            </p:nvSpPr>
            <p:spPr>
              <a:xfrm flipV="1">
                <a:off x="60960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74" name="Straight Connector 85"/>
              <p:cNvSpPr/>
              <p:nvPr/>
            </p:nvSpPr>
            <p:spPr>
              <a:xfrm flipV="1">
                <a:off x="109728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75" name="Straight Connector 86"/>
              <p:cNvSpPr/>
              <p:nvPr/>
            </p:nvSpPr>
            <p:spPr>
              <a:xfrm flipV="1">
                <a:off x="115824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76" name="Straight Connector 87"/>
              <p:cNvSpPr/>
              <p:nvPr/>
            </p:nvSpPr>
            <p:spPr>
              <a:xfrm flipV="1">
                <a:off x="121920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77" name="Straight Connector 88"/>
              <p:cNvSpPr/>
              <p:nvPr/>
            </p:nvSpPr>
            <p:spPr>
              <a:xfrm flipV="1">
                <a:off x="17068800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78" name="Straight Connector 89"/>
              <p:cNvSpPr/>
              <p:nvPr/>
            </p:nvSpPr>
            <p:spPr>
              <a:xfrm flipV="1">
                <a:off x="17678401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79" name="Straight Connector 90"/>
              <p:cNvSpPr/>
              <p:nvPr/>
            </p:nvSpPr>
            <p:spPr>
              <a:xfrm flipV="1">
                <a:off x="18288001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80" name="Straight Connector 91"/>
              <p:cNvSpPr/>
              <p:nvPr/>
            </p:nvSpPr>
            <p:spPr>
              <a:xfrm flipV="1">
                <a:off x="23164618" y="-1"/>
                <a:ext cx="1" cy="243842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</p:grpSp>
        <p:grpSp>
          <p:nvGrpSpPr>
            <p:cNvPr id="1091" name="Group 61"/>
            <p:cNvGrpSpPr/>
            <p:nvPr/>
          </p:nvGrpSpPr>
          <p:grpSpPr>
            <a:xfrm>
              <a:off x="-1" y="901530"/>
              <a:ext cx="243842" cy="12497817"/>
              <a:chOff x="0" y="0"/>
              <a:chExt cx="243840" cy="12497816"/>
            </a:xfrm>
          </p:grpSpPr>
          <p:sp>
            <p:nvSpPr>
              <p:cNvPr id="1082" name="Straight Connector 72"/>
              <p:cNvSpPr/>
              <p:nvPr/>
            </p:nvSpPr>
            <p:spPr>
              <a:xfrm flipH="1">
                <a:off x="0" y="1134872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83" name="Straight Connector 73"/>
              <p:cNvSpPr/>
              <p:nvPr/>
            </p:nvSpPr>
            <p:spPr>
              <a:xfrm flipH="1">
                <a:off x="0" y="2829559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84" name="Straight Connector 74"/>
              <p:cNvSpPr/>
              <p:nvPr/>
            </p:nvSpPr>
            <p:spPr>
              <a:xfrm flipH="1">
                <a:off x="0" y="4536440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85" name="Straight Connector 75"/>
              <p:cNvSpPr/>
              <p:nvPr/>
            </p:nvSpPr>
            <p:spPr>
              <a:xfrm flipH="1">
                <a:off x="0" y="6247389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86" name="Straight Connector 76"/>
              <p:cNvSpPr/>
              <p:nvPr/>
            </p:nvSpPr>
            <p:spPr>
              <a:xfrm flipH="1">
                <a:off x="0" y="7950200"/>
                <a:ext cx="243841" cy="0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87" name="Straight Connector 77"/>
              <p:cNvSpPr/>
              <p:nvPr/>
            </p:nvSpPr>
            <p:spPr>
              <a:xfrm flipH="1">
                <a:off x="0" y="9657080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88" name="Straight Connector 78"/>
              <p:cNvSpPr/>
              <p:nvPr/>
            </p:nvSpPr>
            <p:spPr>
              <a:xfrm flipH="1">
                <a:off x="0" y="11384619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89" name="Straight Connector 79"/>
              <p:cNvSpPr/>
              <p:nvPr/>
            </p:nvSpPr>
            <p:spPr>
              <a:xfrm flipH="1" flipV="1">
                <a:off x="0" y="-1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90" name="Straight Connector 80"/>
              <p:cNvSpPr/>
              <p:nvPr/>
            </p:nvSpPr>
            <p:spPr>
              <a:xfrm flipH="1">
                <a:off x="0" y="12497816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</p:grpSp>
        <p:grpSp>
          <p:nvGrpSpPr>
            <p:cNvPr id="1101" name="Group 62"/>
            <p:cNvGrpSpPr/>
            <p:nvPr/>
          </p:nvGrpSpPr>
          <p:grpSpPr>
            <a:xfrm>
              <a:off x="24727414" y="901530"/>
              <a:ext cx="243841" cy="12495108"/>
              <a:chOff x="0" y="0"/>
              <a:chExt cx="243840" cy="12495106"/>
            </a:xfrm>
          </p:grpSpPr>
          <p:sp>
            <p:nvSpPr>
              <p:cNvPr id="1092" name="Straight Connector 63"/>
              <p:cNvSpPr/>
              <p:nvPr/>
            </p:nvSpPr>
            <p:spPr>
              <a:xfrm flipH="1">
                <a:off x="0" y="1134872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93" name="Straight Connector 64"/>
              <p:cNvSpPr/>
              <p:nvPr/>
            </p:nvSpPr>
            <p:spPr>
              <a:xfrm flipH="1">
                <a:off x="0" y="2829560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94" name="Straight Connector 65"/>
              <p:cNvSpPr/>
              <p:nvPr/>
            </p:nvSpPr>
            <p:spPr>
              <a:xfrm flipH="1">
                <a:off x="0" y="4536440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95" name="Straight Connector 66"/>
              <p:cNvSpPr/>
              <p:nvPr/>
            </p:nvSpPr>
            <p:spPr>
              <a:xfrm flipH="1">
                <a:off x="0" y="6243320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96" name="Straight Connector 67"/>
              <p:cNvSpPr/>
              <p:nvPr/>
            </p:nvSpPr>
            <p:spPr>
              <a:xfrm flipH="1">
                <a:off x="0" y="7950200"/>
                <a:ext cx="243841" cy="0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97" name="Straight Connector 68"/>
              <p:cNvSpPr/>
              <p:nvPr/>
            </p:nvSpPr>
            <p:spPr>
              <a:xfrm flipH="1">
                <a:off x="0" y="9657080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98" name="Straight Connector 69"/>
              <p:cNvSpPr/>
              <p:nvPr/>
            </p:nvSpPr>
            <p:spPr>
              <a:xfrm flipH="1">
                <a:off x="0" y="11384619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099" name="Straight Connector 70"/>
              <p:cNvSpPr/>
              <p:nvPr/>
            </p:nvSpPr>
            <p:spPr>
              <a:xfrm flipH="1" flipV="1">
                <a:off x="0" y="0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  <p:sp>
            <p:nvSpPr>
              <p:cNvPr id="1100" name="Straight Connector 71"/>
              <p:cNvSpPr/>
              <p:nvPr/>
            </p:nvSpPr>
            <p:spPr>
              <a:xfrm flipH="1">
                <a:off x="0" y="12495107"/>
                <a:ext cx="243841" cy="1"/>
              </a:xfrm>
              <a:prstGeom prst="line">
                <a:avLst/>
              </a:prstGeom>
              <a:noFill/>
              <a:ln w="31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1829287">
                  <a:defRPr sz="3400">
                    <a:solidFill>
                      <a:srgbClr val="000000"/>
                    </a:solidFill>
                  </a:defRPr>
                </a:pPr>
                <a:endParaRPr sz="3400"/>
              </a:p>
            </p:txBody>
          </p:sp>
        </p:grpSp>
      </p:grp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C62B5-3197-FA14-E4E8-DAD791A18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3DCC2E4-ABB1-FA04-2D05-3847A5007255}"/>
              </a:ext>
            </a:extLst>
          </p:cNvPr>
          <p:cNvSpPr txBox="1"/>
          <p:nvPr/>
        </p:nvSpPr>
        <p:spPr>
          <a:xfrm>
            <a:off x="711324" y="599192"/>
            <a:ext cx="18231993" cy="875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457200" bIns="0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8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>
              <a:spcBef>
                <a:spcPts val="1800"/>
              </a:spcBef>
            </a:pPr>
            <a:r>
              <a:rPr lang="en-US" sz="4400" dirty="0">
                <a:latin typeface="IBM Plex Sans" panose="020B0503050203000203" pitchFamily="34" charset="0"/>
                <a:ea typeface="Inter" panose="02000503000000020004" pitchFamily="2" charset="0"/>
              </a:rPr>
              <a:t>Genius Hub empowers &lt;Customer&gt; to save </a:t>
            </a:r>
            <a:r>
              <a:rPr lang="en-US" sz="4400" b="1" dirty="0">
                <a:solidFill>
                  <a:schemeClr val="accent1"/>
                </a:solidFill>
                <a:latin typeface="IBM Plex Sans" panose="020B0503050203000203" pitchFamily="34" charset="0"/>
                <a:ea typeface="Inter" panose="02000503000000020004" pitchFamily="2" charset="0"/>
              </a:rPr>
              <a:t>$10M</a:t>
            </a:r>
            <a:r>
              <a:rPr lang="en-US" sz="4400" dirty="0">
                <a:latin typeface="IBM Plex Sans" panose="020B0503050203000203" pitchFamily="34" charset="0"/>
                <a:ea typeface="Inter" panose="02000503000000020004" pitchFamily="2" charset="0"/>
              </a:rPr>
              <a:t> over three years</a:t>
            </a:r>
            <a:endParaRPr lang="en-US" sz="4400" dirty="0">
              <a:latin typeface="IBM Plex Sans" panose="020B0503050203000203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4CAD0B-474C-2665-3F28-4313A8E505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592899"/>
              </p:ext>
            </p:extLst>
          </p:nvPr>
        </p:nvGraphicFramePr>
        <p:xfrm>
          <a:off x="727059" y="7148944"/>
          <a:ext cx="22933055" cy="5335254"/>
        </p:xfrm>
        <a:graphic>
          <a:graphicData uri="http://schemas.openxmlformats.org/drawingml/2006/table">
            <a:tbl>
              <a:tblPr bandRow="1"/>
              <a:tblGrid>
                <a:gridCol w="10436255">
                  <a:extLst>
                    <a:ext uri="{9D8B030D-6E8A-4147-A177-3AD203B41FA5}">
                      <a16:colId xmlns:a16="http://schemas.microsoft.com/office/drawing/2014/main" val="4030021754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3601073926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187713213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718579458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896298771"/>
                    </a:ext>
                  </a:extLst>
                </a:gridCol>
              </a:tblGrid>
              <a:tr h="889209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chemeClr val="bg1"/>
                          </a:solidFill>
                          <a:effectLst/>
                          <a:latin typeface="IBM Plex Sans" panose="020B0503050203000203" pitchFamily="34" charset="0"/>
                        </a:rPr>
                        <a:t>Benefits</a:t>
                      </a:r>
                    </a:p>
                  </a:txBody>
                  <a:tcPr marL="95250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Year 1</a:t>
                      </a:r>
                    </a:p>
                  </a:txBody>
                  <a:tcPr marL="47625" marR="47625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Year 2</a:t>
                      </a:r>
                    </a:p>
                  </a:txBody>
                  <a:tcPr marL="47625" marR="47625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Year 3</a:t>
                      </a:r>
                    </a:p>
                  </a:txBody>
                  <a:tcPr marL="47625" marR="47625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3-Year Total</a:t>
                      </a:r>
                    </a:p>
                  </a:txBody>
                  <a:tcPr marL="47625" marR="47625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66270"/>
                  </a:ext>
                </a:extLst>
              </a:tr>
              <a:tr h="889209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Avoided Severe Incidents &amp; Downtime Risk</a:t>
                      </a:r>
                    </a:p>
                  </a:txBody>
                  <a:tcPr marL="95250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$225,000</a:t>
                      </a:r>
                    </a:p>
                  </a:txBody>
                  <a:tcPr marL="47625" marR="47625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$237,500</a:t>
                      </a:r>
                    </a:p>
                  </a:txBody>
                  <a:tcPr marL="47625" marR="47625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$250,000</a:t>
                      </a:r>
                    </a:p>
                  </a:txBody>
                  <a:tcPr marL="47625" marR="47625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$712,500</a:t>
                      </a:r>
                    </a:p>
                  </a:txBody>
                  <a:tcPr marL="47625" marR="47625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9209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DBA Productivity &amp; Labor Cost Avoidance</a:t>
                      </a:r>
                    </a:p>
                  </a:txBody>
                  <a:tcPr marL="95250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$826,200</a:t>
                      </a:r>
                    </a:p>
                  </a:txBody>
                  <a:tcPr marL="47625" marR="47625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$872,100</a:t>
                      </a:r>
                    </a:p>
                  </a:txBody>
                  <a:tcPr marL="47625" marR="47625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$918,000</a:t>
                      </a:r>
                    </a:p>
                  </a:txBody>
                  <a:tcPr marL="47625" marR="47625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$2,616,300</a:t>
                      </a:r>
                    </a:p>
                  </a:txBody>
                  <a:tcPr marL="47625" marR="47625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9209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Faster Incident Resolution (MTTR Reduction)</a:t>
                      </a:r>
                    </a:p>
                  </a:txBody>
                  <a:tcPr marL="95250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$540,000</a:t>
                      </a:r>
                    </a:p>
                  </a:txBody>
                  <a:tcPr marL="47625" marR="47625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$570,000</a:t>
                      </a:r>
                    </a:p>
                  </a:txBody>
                  <a:tcPr marL="47625" marR="47625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$600,000</a:t>
                      </a:r>
                    </a:p>
                  </a:txBody>
                  <a:tcPr marL="47625" marR="47625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$1,710,000</a:t>
                      </a:r>
                    </a:p>
                  </a:txBody>
                  <a:tcPr marL="47625" marR="47625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9209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Tool Consolidation &amp; Operational Efficiency</a:t>
                      </a:r>
                    </a:p>
                  </a:txBody>
                  <a:tcPr marL="95250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$90,000</a:t>
                      </a:r>
                    </a:p>
                  </a:txBody>
                  <a:tcPr marL="47625" marR="47625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$95,000</a:t>
                      </a:r>
                    </a:p>
                  </a:txBody>
                  <a:tcPr marL="47625" marR="47625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$100,000</a:t>
                      </a:r>
                    </a:p>
                  </a:txBody>
                  <a:tcPr marL="47625" marR="47625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$285,000</a:t>
                      </a:r>
                    </a:p>
                  </a:txBody>
                  <a:tcPr marL="47625" marR="47625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9209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 dirty="0">
                          <a:solidFill>
                            <a:schemeClr val="bg1"/>
                          </a:solidFill>
                          <a:effectLst/>
                          <a:latin typeface="IBM Plex Sans" panose="020B0503050203000203" pitchFamily="34" charset="0"/>
                        </a:rPr>
                        <a:t>Benefit</a:t>
                      </a:r>
                    </a:p>
                  </a:txBody>
                  <a:tcPr marL="95250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auto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>
                          <a:solidFill>
                            <a:schemeClr val="bg1"/>
                          </a:solidFill>
                          <a:effectLst/>
                          <a:latin typeface="IBM Plex Sans" panose="020B0503050203000203" pitchFamily="34" charset="0"/>
                        </a:rPr>
                        <a:t>$1,681,200</a:t>
                      </a:r>
                    </a:p>
                  </a:txBody>
                  <a:tcPr marL="47625" marR="47625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auto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>
                          <a:solidFill>
                            <a:schemeClr val="bg1"/>
                          </a:solidFill>
                          <a:effectLst/>
                          <a:latin typeface="IBM Plex Sans" panose="020B0503050203000203" pitchFamily="34" charset="0"/>
                        </a:rPr>
                        <a:t>$1,774,600</a:t>
                      </a:r>
                    </a:p>
                  </a:txBody>
                  <a:tcPr marL="47625" marR="47625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auto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>
                          <a:solidFill>
                            <a:schemeClr val="bg1"/>
                          </a:solidFill>
                          <a:effectLst/>
                          <a:latin typeface="IBM Plex Sans" panose="020B0503050203000203" pitchFamily="34" charset="0"/>
                        </a:rPr>
                        <a:t>$1,868,000</a:t>
                      </a:r>
                    </a:p>
                  </a:txBody>
                  <a:tcPr marL="47625" marR="47625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auto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 dirty="0">
                          <a:solidFill>
                            <a:schemeClr val="bg1"/>
                          </a:solidFill>
                          <a:effectLst/>
                          <a:latin typeface="IBM Plex Sans" panose="020B0503050203000203" pitchFamily="34" charset="0"/>
                        </a:rPr>
                        <a:t>$10,000,000</a:t>
                      </a:r>
                    </a:p>
                  </a:txBody>
                  <a:tcPr marL="47625" marT="182880" marB="18288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E802F5B9-C348-20D4-B5D0-9E16EDDBD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4877" y="518065"/>
            <a:ext cx="1638301" cy="609600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DC0C5C0-CEDD-AA76-74E6-6CAEF71E7AD0}"/>
              </a:ext>
            </a:extLst>
          </p:cNvPr>
          <p:cNvSpPr txBox="1"/>
          <p:nvPr/>
        </p:nvSpPr>
        <p:spPr>
          <a:xfrm>
            <a:off x="22798382" y="12766403"/>
            <a:ext cx="995944" cy="380732"/>
          </a:xfrm>
          <a:prstGeom prst="rect">
            <a:avLst/>
          </a:prstGeom>
        </p:spPr>
        <p:txBody>
          <a:bodyPr/>
          <a:lstStyle>
            <a:defPPr>
              <a:defRPr lang="en-CH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829014">
              <a:defRPr/>
            </a:pPr>
            <a:fld id="{86CB4B4D-7CA3-9044-876B-883B54F8677D}" type="slidenum">
              <a:rPr lang="en-US" sz="1600">
                <a:solidFill>
                  <a:srgbClr val="000000"/>
                </a:solidFill>
                <a:latin typeface="IBM Plex Sans" panose="020B0503050203000203" pitchFamily="34" charset="0"/>
                <a:sym typeface="IBM Plex Sans"/>
              </a:rPr>
              <a:pPr algn="r" defTabSz="1829014">
                <a:defRPr/>
              </a:pPr>
              <a:t>2</a:t>
            </a:fld>
            <a:endParaRPr lang="en-US" sz="1600">
              <a:solidFill>
                <a:srgbClr val="000000"/>
              </a:solidFill>
              <a:latin typeface="IBM Plex Sans" panose="020B0503050203000203" pitchFamily="34" charset="0"/>
              <a:sym typeface="IBM Plex Sans"/>
            </a:endParaRPr>
          </a:p>
        </p:txBody>
      </p:sp>
      <p:pic>
        <p:nvPicPr>
          <p:cNvPr id="3" name="taxonomy_chart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DB6081B-7B10-13EA-6FC1-A82D1075C8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41" r="6963" b="47283"/>
          <a:stretch>
            <a:fillRect/>
          </a:stretch>
        </p:blipFill>
        <p:spPr>
          <a:xfrm>
            <a:off x="4077929" y="1531484"/>
            <a:ext cx="16231313" cy="533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0024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07;p25">
            <a:extLst>
              <a:ext uri="{FF2B5EF4-FFF2-40B4-BE49-F238E27FC236}">
                <a16:creationId xmlns:a16="http://schemas.microsoft.com/office/drawing/2014/main" id="{D9DDBFB0-C0CA-BC67-CA4C-0B905EF3FFDF}"/>
              </a:ext>
            </a:extLst>
          </p:cNvPr>
          <p:cNvSpPr txBox="1"/>
          <p:nvPr/>
        </p:nvSpPr>
        <p:spPr>
          <a:xfrm>
            <a:off x="443662" y="4235730"/>
            <a:ext cx="22049387" cy="1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200" tIns="137200" rIns="137200" bIns="137200" anchor="b" anchorCtr="0">
            <a:noAutofit/>
          </a:bodyPr>
          <a:lstStyle/>
          <a:p>
            <a:r>
              <a:rPr lang="en-US" sz="10800">
                <a:solidFill>
                  <a:schemeClr val="accent1"/>
                </a:solidFill>
                <a:latin typeface="IBM Plex Sans" panose="020B0503050203000203" pitchFamily="34" charset="0"/>
                <a:ea typeface="Inter" panose="02000503000000020004" pitchFamily="2" charset="0"/>
                <a:cs typeface="Arial" panose="020B0604020202020204" pitchFamily="34" charset="0"/>
                <a:sym typeface="Open Sans"/>
              </a:rPr>
              <a:t>$5.32M</a:t>
            </a:r>
          </a:p>
        </p:txBody>
      </p:sp>
      <p:sp>
        <p:nvSpPr>
          <p:cNvPr id="15" name="Google Shape;3849;p9">
            <a:extLst>
              <a:ext uri="{FF2B5EF4-FFF2-40B4-BE49-F238E27FC236}">
                <a16:creationId xmlns:a16="http://schemas.microsoft.com/office/drawing/2014/main" id="{05D56976-971A-763F-DAFB-520C0B11FE79}"/>
              </a:ext>
            </a:extLst>
          </p:cNvPr>
          <p:cNvSpPr txBox="1"/>
          <p:nvPr/>
        </p:nvSpPr>
        <p:spPr>
          <a:xfrm>
            <a:off x="648285" y="5731812"/>
            <a:ext cx="770207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rPr lang="en-US" sz="2400">
                <a:latin typeface="IBM Plex Sans" panose="020B0503050203000203" pitchFamily="34" charset="0"/>
                <a:sym typeface="Arial"/>
              </a:rPr>
              <a:t>3-Year Total Benefits</a:t>
            </a:r>
            <a:endParaRPr lang="en-US" sz="2400">
              <a:latin typeface="IBM Plex Sans" panose="020B0503050203000203" pitchFamily="34" charset="0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A5FD6-BCC1-B881-AEEC-EB2C6FE678F4}"/>
              </a:ext>
            </a:extLst>
          </p:cNvPr>
          <p:cNvSpPr txBox="1"/>
          <p:nvPr/>
        </p:nvSpPr>
        <p:spPr>
          <a:xfrm>
            <a:off x="22798382" y="12766403"/>
            <a:ext cx="995944" cy="380732"/>
          </a:xfrm>
          <a:prstGeom prst="rect">
            <a:avLst/>
          </a:prstGeom>
        </p:spPr>
        <p:txBody>
          <a:bodyPr/>
          <a:lstStyle>
            <a:defPPr>
              <a:defRPr lang="en-CH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829014">
              <a:defRPr/>
            </a:pPr>
            <a:fld id="{86CB4B4D-7CA3-9044-876B-883B54F8677D}" type="slidenum">
              <a:rPr lang="en-US" sz="1600">
                <a:solidFill>
                  <a:srgbClr val="000000"/>
                </a:solidFill>
                <a:latin typeface="IBM Plex Sans" panose="020B0503050203000203" pitchFamily="34" charset="0"/>
                <a:sym typeface="IBM Plex Sans"/>
              </a:rPr>
              <a:pPr algn="r" defTabSz="1829014">
                <a:defRPr/>
              </a:pPr>
              <a:t>3</a:t>
            </a:fld>
            <a:endParaRPr lang="en-US" sz="1600">
              <a:solidFill>
                <a:srgbClr val="000000"/>
              </a:solidFill>
              <a:latin typeface="IBM Plex Sans" panose="020B0503050203000203" pitchFamily="34" charset="0"/>
              <a:sym typeface="IBM Plex Sans"/>
            </a:endParaRPr>
          </a:p>
        </p:txBody>
      </p:sp>
      <p:sp>
        <p:nvSpPr>
          <p:cNvPr id="4" name="Google Shape;207;p25">
            <a:extLst>
              <a:ext uri="{FF2B5EF4-FFF2-40B4-BE49-F238E27FC236}">
                <a16:creationId xmlns:a16="http://schemas.microsoft.com/office/drawing/2014/main" id="{DA5B55E4-3800-3267-F467-D5E6783985F5}"/>
              </a:ext>
            </a:extLst>
          </p:cNvPr>
          <p:cNvSpPr txBox="1"/>
          <p:nvPr/>
        </p:nvSpPr>
        <p:spPr>
          <a:xfrm>
            <a:off x="666415" y="6441949"/>
            <a:ext cx="5969510" cy="1166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1200"/>
              </a:spcBef>
            </a:pPr>
            <a:r>
              <a:rPr lang="en-US">
                <a:solidFill>
                  <a:schemeClr val="accent1"/>
                </a:solidFill>
                <a:latin typeface="IBM Plex Sans" panose="020B0503050203000203" pitchFamily="34" charset="0"/>
                <a:ea typeface="Inter" panose="02000503000000020004" pitchFamily="2" charset="0"/>
                <a:cs typeface="Arial" panose="020B0604020202020204" pitchFamily="34" charset="0"/>
                <a:sym typeface="Open Sans"/>
              </a:rPr>
              <a:t>0.0%</a:t>
            </a:r>
          </a:p>
          <a:p>
            <a:pPr>
              <a:spcBef>
                <a:spcPts val="1200"/>
              </a:spcBef>
            </a:pPr>
            <a:r>
              <a:rPr lang="en-US" sz="2400">
                <a:latin typeface="IBM Plex Sans" panose="020B0503050203000203" pitchFamily="34" charset="0"/>
                <a:ea typeface="Inter" panose="02000503000000020004" pitchFamily="2" charset="0"/>
                <a:cs typeface="Arial" panose="020B0604020202020204" pitchFamily="34" charset="0"/>
                <a:sym typeface="Open Sans"/>
              </a:rPr>
              <a:t>ROI</a:t>
            </a:r>
            <a:endParaRPr sz="2400">
              <a:latin typeface="IBM Plex Sans" panose="020B0503050203000203" pitchFamily="34" charset="0"/>
              <a:ea typeface="Inter" panose="02000503000000020004" pitchFamily="2" charset="0"/>
              <a:cs typeface="Arial" panose="020B0604020202020204" pitchFamily="34" charset="0"/>
              <a:sym typeface="Open Sans"/>
            </a:endParaRPr>
          </a:p>
        </p:txBody>
      </p:sp>
      <p:sp>
        <p:nvSpPr>
          <p:cNvPr id="7" name="Google Shape;207;p25">
            <a:extLst>
              <a:ext uri="{FF2B5EF4-FFF2-40B4-BE49-F238E27FC236}">
                <a16:creationId xmlns:a16="http://schemas.microsoft.com/office/drawing/2014/main" id="{89BB919F-D055-E994-070D-3AEA938E60C0}"/>
              </a:ext>
            </a:extLst>
          </p:cNvPr>
          <p:cNvSpPr txBox="1"/>
          <p:nvPr/>
        </p:nvSpPr>
        <p:spPr>
          <a:xfrm>
            <a:off x="666416" y="9384749"/>
            <a:ext cx="5969518" cy="1213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1200"/>
              </a:spcBef>
            </a:pPr>
            <a:r>
              <a:rPr lang="en-US">
                <a:solidFill>
                  <a:schemeClr val="accent1"/>
                </a:solidFill>
                <a:latin typeface="IBM Plex Sans" panose="020B0503050203000203" pitchFamily="34" charset="0"/>
                <a:ea typeface="Inter" panose="02000503000000020004" pitchFamily="2" charset="0"/>
                <a:cs typeface="Arial" panose="020B0604020202020204" pitchFamily="34" charset="0"/>
                <a:sym typeface="Open Sans"/>
              </a:rPr>
              <a:t>$367K</a:t>
            </a:r>
          </a:p>
          <a:p>
            <a:pPr>
              <a:spcBef>
                <a:spcPts val="1200"/>
              </a:spcBef>
            </a:pPr>
            <a:r>
              <a:rPr lang="en-US" sz="2400">
                <a:latin typeface="IBM Plex Sans" panose="020B0503050203000203" pitchFamily="34" charset="0"/>
                <a:ea typeface="Inter" panose="02000503000000020004" pitchFamily="2" charset="0"/>
                <a:cs typeface="Arial" panose="020B0604020202020204" pitchFamily="34" charset="0"/>
                <a:sym typeface="Open Sans"/>
              </a:rPr>
              <a:t>3-Month Cost of Delay</a:t>
            </a:r>
          </a:p>
        </p:txBody>
      </p:sp>
      <p:sp>
        <p:nvSpPr>
          <p:cNvPr id="11" name="Google Shape;207;p25">
            <a:extLst>
              <a:ext uri="{FF2B5EF4-FFF2-40B4-BE49-F238E27FC236}">
                <a16:creationId xmlns:a16="http://schemas.microsoft.com/office/drawing/2014/main" id="{D6680D24-EDDD-9448-563A-629E41764BC2}"/>
              </a:ext>
            </a:extLst>
          </p:cNvPr>
          <p:cNvSpPr txBox="1"/>
          <p:nvPr/>
        </p:nvSpPr>
        <p:spPr>
          <a:xfrm>
            <a:off x="666415" y="7889943"/>
            <a:ext cx="5969511" cy="1213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37200" bIns="0" anchor="t" anchorCtr="0">
            <a:noAutofit/>
          </a:bodyPr>
          <a:lstStyle/>
          <a:p>
            <a:pPr>
              <a:spcBef>
                <a:spcPts val="1200"/>
              </a:spcBef>
            </a:pPr>
            <a:r>
              <a:rPr lang="en-US">
                <a:solidFill>
                  <a:schemeClr val="accent1"/>
                </a:solidFill>
                <a:latin typeface="IBM Plex Sans" panose="020B0503050203000203" pitchFamily="34" charset="0"/>
                <a:ea typeface="Inter" panose="02000503000000020004" pitchFamily="2" charset="0"/>
                <a:cs typeface="Arial" panose="020B0604020202020204" pitchFamily="34" charset="0"/>
                <a:sym typeface="Open Sans"/>
              </a:rPr>
              <a:t>Immediate</a:t>
            </a:r>
          </a:p>
          <a:p>
            <a:pPr>
              <a:spcBef>
                <a:spcPts val="1200"/>
              </a:spcBef>
            </a:pPr>
            <a:r>
              <a:rPr lang="en-US" sz="2400">
                <a:latin typeface="IBM Plex Sans" panose="020B0503050203000203" pitchFamily="34" charset="0"/>
                <a:ea typeface="Inter" panose="02000503000000020004" pitchFamily="2" charset="0"/>
                <a:cs typeface="Arial" panose="020B0604020202020204" pitchFamily="34" charset="0"/>
                <a:sym typeface="Open Sans"/>
              </a:rPr>
              <a:t>Payback Period</a:t>
            </a:r>
            <a:endParaRPr sz="2400">
              <a:latin typeface="IBM Plex Sans" panose="020B0503050203000203" pitchFamily="34" charset="0"/>
              <a:ea typeface="Inter" panose="02000503000000020004" pitchFamily="2" charset="0"/>
              <a:cs typeface="Arial" panose="020B0604020202020204" pitchFamily="34" charset="0"/>
              <a:sym typeface="Open Sans"/>
            </a:endParaRPr>
          </a:p>
        </p:txBody>
      </p:sp>
      <p:sp>
        <p:nvSpPr>
          <p:cNvPr id="12" name="Google Shape;492;p74">
            <a:extLst>
              <a:ext uri="{FF2B5EF4-FFF2-40B4-BE49-F238E27FC236}">
                <a16:creationId xmlns:a16="http://schemas.microsoft.com/office/drawing/2014/main" id="{20E0398B-1E0F-2C3F-6126-F229BB6DDAF3}"/>
              </a:ext>
            </a:extLst>
          </p:cNvPr>
          <p:cNvSpPr/>
          <p:nvPr/>
        </p:nvSpPr>
        <p:spPr>
          <a:xfrm>
            <a:off x="648285" y="10879556"/>
            <a:ext cx="5969518" cy="116688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1200"/>
              </a:spcBef>
            </a:pPr>
            <a:r>
              <a:rPr lang="en-US">
                <a:solidFill>
                  <a:schemeClr val="accent1"/>
                </a:solidFill>
                <a:latin typeface="IBM Plex Sans" panose="020B0503050203000203" pitchFamily="34" charset="0"/>
                <a:ea typeface="Inter SemiBold" panose="02000503000000020004" pitchFamily="2" charset="0"/>
                <a:cs typeface="Inter"/>
                <a:sym typeface="Inter"/>
              </a:rPr>
              <a:t>$4.4M</a:t>
            </a:r>
          </a:p>
          <a:p>
            <a:pPr>
              <a:spcBef>
                <a:spcPts val="1200"/>
              </a:spcBef>
            </a:pPr>
            <a:r>
              <a:rPr lang="en-US" sz="2400">
                <a:latin typeface="IBM Plex Sans" panose="020B0503050203000203" pitchFamily="34" charset="0"/>
                <a:ea typeface="Inter SemiBold" panose="02000503000000020004" pitchFamily="2" charset="0"/>
                <a:cs typeface="Inter"/>
                <a:sym typeface="Inter"/>
              </a:rPr>
              <a:t>Net Present Value</a:t>
            </a:r>
            <a:endParaRPr sz="2400">
              <a:latin typeface="IBM Plex Sans" panose="020B0503050203000203" pitchFamily="34" charset="0"/>
              <a:ea typeface="Inter SemiBold" panose="02000503000000020004" pitchFamily="2" charset="0"/>
              <a:cs typeface="Inter"/>
              <a:sym typeface="Inter"/>
            </a:endParaRPr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DBBFF256-FF3D-BC4A-226A-21D79A2996E9}"/>
              </a:ext>
            </a:extLst>
          </p:cNvPr>
          <p:cNvCxnSpPr>
            <a:cxnSpLocks/>
          </p:cNvCxnSpPr>
          <p:nvPr/>
        </p:nvCxnSpPr>
        <p:spPr bwMode="auto">
          <a:xfrm>
            <a:off x="7594448" y="2253003"/>
            <a:ext cx="0" cy="1019972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summary_chart">
            <a:extLst>
              <a:ext uri="{FF2B5EF4-FFF2-40B4-BE49-F238E27FC236}">
                <a16:creationId xmlns:a16="http://schemas.microsoft.com/office/drawing/2014/main" id="{14B09DAD-D178-2250-F1A1-172F1AEE029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64693" y="2227387"/>
            <a:ext cx="14057357" cy="797454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CAEBC05-FFB9-AE50-8B68-C8E19E7F4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737511"/>
              </p:ext>
            </p:extLst>
          </p:nvPr>
        </p:nvGraphicFramePr>
        <p:xfrm>
          <a:off x="8652451" y="10468849"/>
          <a:ext cx="14556359" cy="2487920"/>
        </p:xfrm>
        <a:graphic>
          <a:graphicData uri="http://schemas.openxmlformats.org/drawingml/2006/table">
            <a:tbl>
              <a:tblPr bandRow="1"/>
              <a:tblGrid>
                <a:gridCol w="4472559">
                  <a:extLst>
                    <a:ext uri="{9D8B030D-6E8A-4147-A177-3AD203B41FA5}">
                      <a16:colId xmlns:a16="http://schemas.microsoft.com/office/drawing/2014/main" val="4030021754"/>
                    </a:ext>
                  </a:extLst>
                </a:gridCol>
                <a:gridCol w="2298700">
                  <a:extLst>
                    <a:ext uri="{9D8B030D-6E8A-4147-A177-3AD203B41FA5}">
                      <a16:colId xmlns:a16="http://schemas.microsoft.com/office/drawing/2014/main" val="3601073926"/>
                    </a:ext>
                  </a:extLst>
                </a:gridCol>
                <a:gridCol w="2298700">
                  <a:extLst>
                    <a:ext uri="{9D8B030D-6E8A-4147-A177-3AD203B41FA5}">
                      <a16:colId xmlns:a16="http://schemas.microsoft.com/office/drawing/2014/main" val="187713213"/>
                    </a:ext>
                  </a:extLst>
                </a:gridCol>
                <a:gridCol w="2298700">
                  <a:extLst>
                    <a:ext uri="{9D8B030D-6E8A-4147-A177-3AD203B41FA5}">
                      <a16:colId xmlns:a16="http://schemas.microsoft.com/office/drawing/2014/main" val="2718579458"/>
                    </a:ext>
                  </a:extLst>
                </a:gridCol>
                <a:gridCol w="3187700">
                  <a:extLst>
                    <a:ext uri="{9D8B030D-6E8A-4147-A177-3AD203B41FA5}">
                      <a16:colId xmlns:a16="http://schemas.microsoft.com/office/drawing/2014/main" val="896298771"/>
                    </a:ext>
                  </a:extLst>
                </a:gridCol>
              </a:tblGrid>
              <a:tr h="621980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accent1"/>
                          </a:solidFill>
                          <a:effectLst/>
                          <a:latin typeface="IBM Plex Sans" panose="020B0503050203000203" pitchFamily="34" charset="0"/>
                        </a:rPr>
                        <a:t>Benefits</a:t>
                      </a:r>
                    </a:p>
                  </a:txBody>
                  <a:tcPr marL="95250" marT="91440" marB="9144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chemeClr val="bg1"/>
                          </a:solidFill>
                          <a:effectLst/>
                          <a:latin typeface="IBM Plex Sans" panose="020B0503050203000203" pitchFamily="34" charset="0"/>
                        </a:rPr>
                        <a:t>Year 1</a:t>
                      </a:r>
                    </a:p>
                  </a:txBody>
                  <a:tcPr marL="47625" marR="47625" marT="91440" marB="9144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bg1"/>
                          </a:solidFill>
                          <a:effectLst/>
                          <a:latin typeface="IBM Plex Sans" panose="020B0503050203000203" pitchFamily="34" charset="0"/>
                        </a:rPr>
                        <a:t>Year 2</a:t>
                      </a:r>
                    </a:p>
                  </a:txBody>
                  <a:tcPr marL="47625" marR="47625" marT="91440" marB="9144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bg1"/>
                          </a:solidFill>
                          <a:effectLst/>
                          <a:latin typeface="IBM Plex Sans" panose="020B0503050203000203" pitchFamily="34" charset="0"/>
                        </a:rPr>
                        <a:t>Year 3</a:t>
                      </a:r>
                    </a:p>
                  </a:txBody>
                  <a:tcPr marL="47625" marR="47625" marT="91440" marB="9144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bg1"/>
                          </a:solidFill>
                          <a:effectLst/>
                          <a:latin typeface="IBM Plex Sans" panose="020B0503050203000203" pitchFamily="34" charset="0"/>
                        </a:rPr>
                        <a:t>3-Year Total</a:t>
                      </a:r>
                    </a:p>
                  </a:txBody>
                  <a:tcPr marL="47625" marT="91440" marB="9144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66270"/>
                  </a:ext>
                </a:extLst>
              </a:tr>
              <a:tr h="621980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Benefits</a:t>
                      </a:r>
                      <a:endParaRPr lang="en-US" sz="2000" b="0" i="0" u="none" strike="noStrike" noProof="0">
                        <a:solidFill>
                          <a:schemeClr val="tx1"/>
                        </a:solidFill>
                        <a:effectLst/>
                        <a:latin typeface="IBM Plex Sans" panose="020B0503050203000203" pitchFamily="34" charset="0"/>
                      </a:endParaRPr>
                    </a:p>
                  </a:txBody>
                  <a:tcPr marL="95250" marT="91440" marB="9144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$1,681,200</a:t>
                      </a:r>
                    </a:p>
                  </a:txBody>
                  <a:tcPr marL="47625" marR="47625" marT="91440" marB="9144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$1,774,600</a:t>
                      </a:r>
                    </a:p>
                  </a:txBody>
                  <a:tcPr marL="47625" marR="47625" marT="91440" marB="9144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$1,868,000</a:t>
                      </a:r>
                    </a:p>
                  </a:txBody>
                  <a:tcPr marL="47625" marR="47625" marT="91440" marB="9144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$5,323,800</a:t>
                      </a:r>
                    </a:p>
                  </a:txBody>
                  <a:tcPr marL="47625" marR="47625" marT="91440" marB="9144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297913"/>
                  </a:ext>
                </a:extLst>
              </a:tr>
              <a:tr h="62198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Investment</a:t>
                      </a:r>
                    </a:p>
                  </a:txBody>
                  <a:tcPr marL="95249" marT="91440" marB="9144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---</a:t>
                      </a:r>
                    </a:p>
                  </a:txBody>
                  <a:tcPr marL="47625" marR="47625" marT="91440" marB="9144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---</a:t>
                      </a:r>
                    </a:p>
                  </a:txBody>
                  <a:tcPr marL="47625" marR="47625" marT="91440" marB="9144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---</a:t>
                      </a:r>
                    </a:p>
                  </a:txBody>
                  <a:tcPr marL="47625" marR="47625" marT="91440" marB="9144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---</a:t>
                      </a:r>
                    </a:p>
                  </a:txBody>
                  <a:tcPr marL="47625" marR="47625" marT="91440" marB="9144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241146"/>
                  </a:ext>
                </a:extLst>
              </a:tr>
              <a:tr h="621980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Net Benefit</a:t>
                      </a:r>
                    </a:p>
                  </a:txBody>
                  <a:tcPr marL="95250" marT="91440" marB="9144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auto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$1,681,200</a:t>
                      </a:r>
                    </a:p>
                  </a:txBody>
                  <a:tcPr marL="47625" marR="47625" marT="91440" marB="9144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auto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 dirty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$1,774,600</a:t>
                      </a:r>
                    </a:p>
                  </a:txBody>
                  <a:tcPr marL="47625" marR="47625" marT="91440" marB="9144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auto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$1,868,000</a:t>
                      </a:r>
                    </a:p>
                  </a:txBody>
                  <a:tcPr marL="47625" marR="47625" marT="91440" marB="9144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auto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 dirty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$5,323,800</a:t>
                      </a:r>
                    </a:p>
                  </a:txBody>
                  <a:tcPr marL="47625" marR="47625" marT="91440" marB="9144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135409"/>
                  </a:ext>
                </a:extLst>
              </a:tr>
            </a:tbl>
          </a:graphicData>
        </a:graphic>
      </p:graphicFrame>
      <p:sp>
        <p:nvSpPr>
          <p:cNvPr id="3" name="Google Shape;288;p43">
            <a:extLst>
              <a:ext uri="{FF2B5EF4-FFF2-40B4-BE49-F238E27FC236}">
                <a16:creationId xmlns:a16="http://schemas.microsoft.com/office/drawing/2014/main" id="{877EB2D9-CAD6-CD6F-A943-E738E9C78426}"/>
              </a:ext>
            </a:extLst>
          </p:cNvPr>
          <p:cNvSpPr txBox="1"/>
          <p:nvPr/>
        </p:nvSpPr>
        <p:spPr>
          <a:xfrm>
            <a:off x="335809" y="2253003"/>
            <a:ext cx="6109589" cy="1686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400">
                <a:latin typeface="IBM Plex Sans" panose="020B0503050203000203" pitchFamily="34" charset="0"/>
                <a:ea typeface="Inter" panose="02000503000000020004" pitchFamily="2" charset="0"/>
              </a:rPr>
              <a:t>The 3-year total benefits are estimated at </a:t>
            </a:r>
            <a:r>
              <a:rPr lang="en-US" sz="2400">
                <a:solidFill>
                  <a:schemeClr val="accent1"/>
                </a:solidFill>
                <a:latin typeface="IBM Plex Sans" panose="020B0503050203000203" pitchFamily="34" charset="0"/>
                <a:ea typeface="Inter" panose="02000503000000020004" pitchFamily="2" charset="0"/>
              </a:rPr>
              <a:t>$5.32M </a:t>
            </a:r>
            <a:r>
              <a:rPr lang="en-US" sz="2400">
                <a:latin typeface="IBM Plex Sans" panose="020B0503050203000203" pitchFamily="34" charset="0"/>
                <a:ea typeface="Inter" panose="02000503000000020004" pitchFamily="2" charset="0"/>
              </a:rPr>
              <a:t>with net benefits of </a:t>
            </a:r>
            <a:r>
              <a:rPr lang="en-US" sz="2400">
                <a:solidFill>
                  <a:schemeClr val="accent1"/>
                </a:solidFill>
                <a:latin typeface="IBM Plex Sans" panose="020B0503050203000203" pitchFamily="34" charset="0"/>
                <a:ea typeface="Inter" panose="02000503000000020004" pitchFamily="2" charset="0"/>
              </a:rPr>
              <a:t>$5.32M </a:t>
            </a:r>
            <a:r>
              <a:rPr lang="en-US" sz="2400">
                <a:latin typeface="IBM Plex Sans" panose="020B0503050203000203" pitchFamily="34" charset="0"/>
                <a:ea typeface="Inter" panose="02000503000000020004" pitchFamily="2" charset="0"/>
              </a:rPr>
              <a:t>and a </a:t>
            </a:r>
            <a:r>
              <a:rPr lang="en-US" sz="2400">
                <a:solidFill>
                  <a:schemeClr val="accent1"/>
                </a:solidFill>
                <a:latin typeface="IBM Plex Sans" panose="020B0503050203000203" pitchFamily="34" charset="0"/>
                <a:ea typeface="Inter" panose="02000503000000020004" pitchFamily="2" charset="0"/>
              </a:rPr>
              <a:t>3-year ROI of 0.0%</a:t>
            </a:r>
            <a:r>
              <a:rPr lang="en-US" sz="2400">
                <a:latin typeface="IBM Plex Sans" panose="020B0503050203000203" pitchFamily="34" charset="0"/>
                <a:ea typeface="Inter" panose="02000503000000020004" pitchFamily="2" charset="0"/>
              </a:rPr>
              <a:t>.</a:t>
            </a:r>
            <a:endParaRPr sz="2400">
              <a:latin typeface="IBM Plex Sans" panose="020B0503050203000203" pitchFamily="34" charset="0"/>
              <a:ea typeface="Inter" panose="02000503000000020004" pitchFamily="2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421A075-E78C-90D0-3B17-B8BCD87C5F29}"/>
              </a:ext>
            </a:extLst>
          </p:cNvPr>
          <p:cNvSpPr txBox="1"/>
          <p:nvPr/>
        </p:nvSpPr>
        <p:spPr>
          <a:xfrm>
            <a:off x="711324" y="599192"/>
            <a:ext cx="18231993" cy="875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457200" bIns="0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8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>
              <a:spcBef>
                <a:spcPts val="1800"/>
              </a:spcBef>
            </a:pPr>
            <a:r>
              <a:rPr lang="en-US" sz="4400" dirty="0">
                <a:latin typeface="IBM Plex Sans" panose="020B0503050203000203" pitchFamily="34" charset="0"/>
                <a:ea typeface="Inter" panose="02000503000000020004" pitchFamily="2" charset="0"/>
              </a:rPr>
              <a:t>3-year </a:t>
            </a:r>
            <a:r>
              <a:rPr lang="en-US" sz="4400" dirty="0">
                <a:latin typeface="IBM Plex Sans" panose="020B0503050203000203" pitchFamily="34" charset="0"/>
              </a:rPr>
              <a:t>Business case summary</a:t>
            </a:r>
          </a:p>
        </p:txBody>
      </p:sp>
    </p:spTree>
    <p:extLst>
      <p:ext uri="{BB962C8B-B14F-4D97-AF65-F5344CB8AC3E}">
        <p14:creationId xmlns:p14="http://schemas.microsoft.com/office/powerpoint/2010/main" val="420008414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>
          <a:extLst>
            <a:ext uri="{FF2B5EF4-FFF2-40B4-BE49-F238E27FC236}">
              <a16:creationId xmlns:a16="http://schemas.microsoft.com/office/drawing/2014/main" id="{EF8FAE5A-1CAA-4BE6-9B69-6C2A3AADB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29;p46">
            <a:extLst>
              <a:ext uri="{FF2B5EF4-FFF2-40B4-BE49-F238E27FC236}">
                <a16:creationId xmlns:a16="http://schemas.microsoft.com/office/drawing/2014/main" id="{E696DBC3-FDA7-665A-3E8F-3B41E585D389}"/>
              </a:ext>
            </a:extLst>
          </p:cNvPr>
          <p:cNvSpPr/>
          <p:nvPr/>
        </p:nvSpPr>
        <p:spPr>
          <a:xfrm>
            <a:off x="13363094" y="3362562"/>
            <a:ext cx="9946090" cy="6846888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/>
            </a:solidFill>
          </a:ln>
        </p:spPr>
        <p:txBody>
          <a:bodyPr spcFirstLastPara="1" wrap="square" lIns="731600" tIns="182866" rIns="0" bIns="0" anchor="ctr" anchorCtr="0">
            <a:noAutofit/>
          </a:bodyPr>
          <a:lstStyle/>
          <a:p>
            <a:pPr>
              <a:lnSpc>
                <a:spcPct val="115000"/>
              </a:lnSpc>
            </a:pPr>
            <a:endParaRPr sz="4800">
              <a:solidFill>
                <a:srgbClr val="FFFFFF"/>
              </a:solidFill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  <a:sym typeface="Salesforce Sans"/>
            </a:endParaRPr>
          </a:p>
        </p:txBody>
      </p:sp>
      <p:sp>
        <p:nvSpPr>
          <p:cNvPr id="3" name="Google Shape;205;p25">
            <a:extLst>
              <a:ext uri="{FF2B5EF4-FFF2-40B4-BE49-F238E27FC236}">
                <a16:creationId xmlns:a16="http://schemas.microsoft.com/office/drawing/2014/main" id="{EF2CA7CB-41EF-11B7-0FC0-77E76555ACDA}"/>
              </a:ext>
            </a:extLst>
          </p:cNvPr>
          <p:cNvSpPr txBox="1"/>
          <p:nvPr/>
        </p:nvSpPr>
        <p:spPr>
          <a:xfrm>
            <a:off x="868013" y="1708582"/>
            <a:ext cx="19629020" cy="1211372"/>
          </a:xfrm>
          <a:prstGeom prst="rect">
            <a:avLst/>
          </a:prstGeom>
        </p:spPr>
        <p:txBody>
          <a:bodyPr spcFirstLastPara="1" vert="horz" wrap="square" lIns="182866" tIns="91400" rIns="182866" bIns="914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2" b="0" i="0" kern="1200">
                <a:solidFill>
                  <a:schemeClr val="bg1"/>
                </a:solidFill>
                <a:latin typeface="Century Gothic" panose="020B0502020202020204" pitchFamily="34" charset="0"/>
                <a:ea typeface="Century Gothic Regular" charset="0"/>
                <a:cs typeface="Century Gothic Regular" charset="0"/>
              </a:defRPr>
            </a:lvl1pPr>
          </a:lstStyle>
          <a:p>
            <a:pPr algn="l">
              <a:spcBef>
                <a:spcPct val="0"/>
              </a:spcBef>
            </a:pPr>
            <a:r>
              <a:rPr lang="en-US" sz="8800">
                <a:solidFill>
                  <a:schemeClr val="tx1"/>
                </a:solidFill>
                <a:latin typeface="IBM Plex Sans" panose="020B0503050203000203" pitchFamily="34" charset="0"/>
                <a:ea typeface="Inter SemiBold" panose="02000503000000020004" pitchFamily="2" charset="0"/>
                <a:cs typeface="Open Sans ExtraBold" panose="020B0606030504020204" pitchFamily="34" charset="0"/>
              </a:rPr>
              <a:t>The cost of doing nothing</a:t>
            </a:r>
          </a:p>
        </p:txBody>
      </p:sp>
      <p:sp>
        <p:nvSpPr>
          <p:cNvPr id="5" name="Google Shape;329;p46">
            <a:extLst>
              <a:ext uri="{FF2B5EF4-FFF2-40B4-BE49-F238E27FC236}">
                <a16:creationId xmlns:a16="http://schemas.microsoft.com/office/drawing/2014/main" id="{83A3A021-FD1C-1FC0-F865-2464602F9867}"/>
              </a:ext>
            </a:extLst>
          </p:cNvPr>
          <p:cNvSpPr/>
          <p:nvPr/>
        </p:nvSpPr>
        <p:spPr>
          <a:xfrm>
            <a:off x="1111204" y="3362562"/>
            <a:ext cx="12066854" cy="6846888"/>
          </a:xfrm>
          <a:prstGeom prst="roundRect">
            <a:avLst>
              <a:gd name="adj" fmla="val 0"/>
            </a:avLst>
          </a:prstGeom>
          <a:solidFill>
            <a:srgbClr val="E5F6FF"/>
          </a:solidFill>
          <a:ln>
            <a:solidFill>
              <a:srgbClr val="E5F6FF"/>
            </a:solidFill>
          </a:ln>
        </p:spPr>
        <p:txBody>
          <a:bodyPr spcFirstLastPara="1" wrap="square" lIns="731600" tIns="182866" rIns="0" bIns="0" anchor="ctr" anchorCtr="0">
            <a:noAutofit/>
          </a:bodyPr>
          <a:lstStyle/>
          <a:p>
            <a:pPr>
              <a:lnSpc>
                <a:spcPct val="115000"/>
              </a:lnSpc>
            </a:pPr>
            <a:endParaRPr sz="4800">
              <a:solidFill>
                <a:srgbClr val="FFFFFF"/>
              </a:solidFill>
              <a:latin typeface="Inter" panose="02000503000000020004" pitchFamily="2" charset="0"/>
              <a:ea typeface="Inter" panose="02000503000000020004" pitchFamily="2" charset="0"/>
              <a:cs typeface="Open Sans" panose="020B0606030504020204" pitchFamily="34" charset="0"/>
              <a:sym typeface="Salesforce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01CDF3-2564-F668-4CC0-EA0CD1B6FA8B}"/>
              </a:ext>
            </a:extLst>
          </p:cNvPr>
          <p:cNvSpPr txBox="1"/>
          <p:nvPr/>
        </p:nvSpPr>
        <p:spPr>
          <a:xfrm>
            <a:off x="2947750" y="5092184"/>
            <a:ext cx="46512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806">
              <a:defRPr/>
            </a:pPr>
            <a:r>
              <a:rPr lang="en-US" sz="2400">
                <a:latin typeface="IBM Plex Sans" panose="020B0503050203000203" pitchFamily="34" charset="0"/>
                <a:ea typeface="Inter SemiBold" panose="02000503000000020004" pitchFamily="2" charset="0"/>
              </a:rPr>
              <a:t>Projected cash stream from investing in IBM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BE9D-3AFD-2D0B-FCBE-A5F299F8BA8B}"/>
              </a:ext>
            </a:extLst>
          </p:cNvPr>
          <p:cNvSpPr txBox="1"/>
          <p:nvPr/>
        </p:nvSpPr>
        <p:spPr>
          <a:xfrm>
            <a:off x="9952666" y="6727968"/>
            <a:ext cx="25037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806">
              <a:defRPr/>
            </a:pPr>
            <a:r>
              <a:rPr lang="en-US" sz="2400">
                <a:latin typeface="IBM Plex Sans" panose="020B0503050203000203" pitchFamily="34" charset="0"/>
                <a:ea typeface="Inter SemiBold" panose="02000503000000020004" pitchFamily="2" charset="0"/>
              </a:rPr>
              <a:t>Assumed cash stream resulting from doing nothing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952654-DC11-0428-1BCB-D55444534B5B}"/>
              </a:ext>
            </a:extLst>
          </p:cNvPr>
          <p:cNvSpPr txBox="1"/>
          <p:nvPr/>
        </p:nvSpPr>
        <p:spPr>
          <a:xfrm>
            <a:off x="1095974" y="10339046"/>
            <a:ext cx="82786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806">
              <a:defRPr/>
            </a:pPr>
            <a:r>
              <a:rPr lang="en-US" sz="1800">
                <a:solidFill>
                  <a:schemeClr val="bg1">
                    <a:lumMod val="65000"/>
                  </a:schemeClr>
                </a:solidFill>
                <a:latin typeface="IBM Plex Sans" panose="020B0503050203000203" pitchFamily="34" charset="0"/>
              </a:rPr>
              <a:t>* Source: Harvard Business Review, “Innovation Killers”</a:t>
            </a:r>
          </a:p>
          <a:p>
            <a:pPr defTabSz="913806">
              <a:defRPr/>
            </a:pPr>
            <a:r>
              <a:rPr lang="en-US" sz="1800">
                <a:solidFill>
                  <a:schemeClr val="bg1">
                    <a:lumMod val="65000"/>
                  </a:schemeClr>
                </a:solidFill>
                <a:latin typeface="IBM Plex Sans" panose="020B0503050203000203" pitchFamily="34" charset="0"/>
              </a:rPr>
              <a:t>How Financial Tools Destroy Your Capacity to Do New Things</a:t>
            </a:r>
          </a:p>
          <a:p>
            <a:pPr defTabSz="913806">
              <a:defRPr/>
            </a:pPr>
            <a:r>
              <a:rPr lang="en-US" sz="1800">
                <a:solidFill>
                  <a:schemeClr val="bg1">
                    <a:lumMod val="65000"/>
                  </a:schemeClr>
                </a:solidFill>
                <a:latin typeface="IBM Plex Sans" panose="020B0503050203000203" pitchFamily="34" charset="0"/>
              </a:rPr>
              <a:t>By Clayton M. Christensen, Stephen P. Kaufman, and Willy C. Shih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2773F95-995B-3B07-90F5-397312A7CB1F}"/>
              </a:ext>
            </a:extLst>
          </p:cNvPr>
          <p:cNvCxnSpPr/>
          <p:nvPr/>
        </p:nvCxnSpPr>
        <p:spPr>
          <a:xfrm>
            <a:off x="1111204" y="7392574"/>
            <a:ext cx="865642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ACC3243-C890-863D-312A-4833D20F8616}"/>
              </a:ext>
            </a:extLst>
          </p:cNvPr>
          <p:cNvCxnSpPr/>
          <p:nvPr/>
        </p:nvCxnSpPr>
        <p:spPr>
          <a:xfrm flipH="1">
            <a:off x="8596163" y="5337858"/>
            <a:ext cx="0" cy="2036440"/>
          </a:xfrm>
          <a:prstGeom prst="straightConnector1">
            <a:avLst/>
          </a:prstGeom>
          <a:ln w="19050">
            <a:solidFill>
              <a:schemeClr val="accent1"/>
            </a:solidFill>
            <a:prstDash val="sysDot"/>
            <a:headEnd type="arrow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eeform: Shape 8">
            <a:extLst>
              <a:ext uri="{FF2B5EF4-FFF2-40B4-BE49-F238E27FC236}">
                <a16:creationId xmlns:a16="http://schemas.microsoft.com/office/drawing/2014/main" id="{EF30782A-31C5-EECE-583D-B8F1A0B838C6}"/>
              </a:ext>
            </a:extLst>
          </p:cNvPr>
          <p:cNvSpPr/>
          <p:nvPr/>
        </p:nvSpPr>
        <p:spPr>
          <a:xfrm rot="11357646">
            <a:off x="1814246" y="4121140"/>
            <a:ext cx="7289050" cy="3953080"/>
          </a:xfrm>
          <a:custGeom>
            <a:avLst/>
            <a:gdLst>
              <a:gd name="connsiteX0" fmla="*/ 0 w 2994660"/>
              <a:gd name="connsiteY0" fmla="*/ 914388 h 914388"/>
              <a:gd name="connsiteX1" fmla="*/ 1668780 w 2994660"/>
              <a:gd name="connsiteY1" fmla="*/ 102858 h 914388"/>
              <a:gd name="connsiteX2" fmla="*/ 2994660 w 2994660"/>
              <a:gd name="connsiteY2" fmla="*/ 11418 h 914388"/>
              <a:gd name="connsiteX3" fmla="*/ 2994660 w 2994660"/>
              <a:gd name="connsiteY3" fmla="*/ 11418 h 914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4660" h="914388">
                <a:moveTo>
                  <a:pt x="0" y="914388"/>
                </a:moveTo>
                <a:cubicBezTo>
                  <a:pt x="584835" y="583870"/>
                  <a:pt x="1169670" y="253353"/>
                  <a:pt x="1668780" y="102858"/>
                </a:cubicBezTo>
                <a:cubicBezTo>
                  <a:pt x="2167890" y="-47637"/>
                  <a:pt x="2994660" y="11418"/>
                  <a:pt x="2994660" y="11418"/>
                </a:cubicBezTo>
                <a:lnTo>
                  <a:pt x="2994660" y="11418"/>
                </a:lnTo>
              </a:path>
            </a:pathLst>
          </a:custGeom>
          <a:ln w="50800">
            <a:solidFill>
              <a:schemeClr val="accent1"/>
            </a:solidFill>
            <a:headEnd type="arrow"/>
            <a:tailEnd type="none" w="lg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3806">
              <a:defRPr/>
            </a:pPr>
            <a:endParaRPr lang="en-US" sz="3596">
              <a:solidFill>
                <a:srgbClr val="293E40"/>
              </a:solidFill>
              <a:latin typeface="Inter" panose="02000503000000020004" pitchFamily="2" charset="0"/>
            </a:endParaRPr>
          </a:p>
        </p:txBody>
      </p:sp>
      <p:sp>
        <p:nvSpPr>
          <p:cNvPr id="26" name="TextBox 1">
            <a:extLst>
              <a:ext uri="{FF2B5EF4-FFF2-40B4-BE49-F238E27FC236}">
                <a16:creationId xmlns:a16="http://schemas.microsoft.com/office/drawing/2014/main" id="{9920364F-635B-0E17-8255-5EBA9A55BA25}"/>
              </a:ext>
            </a:extLst>
          </p:cNvPr>
          <p:cNvSpPr txBox="1"/>
          <p:nvPr/>
        </p:nvSpPr>
        <p:spPr>
          <a:xfrm>
            <a:off x="13363094" y="10315526"/>
            <a:ext cx="9180720" cy="738664"/>
          </a:xfrm>
          <a:prstGeom prst="rect">
            <a:avLst/>
          </a:prstGeom>
          <a:noFill/>
        </p:spPr>
        <p:txBody>
          <a:bodyPr wrap="square" lIns="182880" tIns="91440" rIns="182880" bIns="9144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65000"/>
                  </a:schemeClr>
                </a:solidFill>
                <a:latin typeface="IBM Plex Sans" panose="020B0503050203000203" pitchFamily="34" charset="0"/>
              </a:rPr>
              <a:t>NOTE: The cost of doing nothing is calculated as: 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  <a:latin typeface="IBM Plex Sans" panose="020B0503050203000203" pitchFamily="34" charset="0"/>
              </a:rPr>
              <a:t>Net Present Value (NPV) of Net Benefits/(Finance Horizon years * 4 Quarters per year)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BF52FD69-4D94-A8AF-E52A-6DF8A326B0A4}"/>
              </a:ext>
            </a:extLst>
          </p:cNvPr>
          <p:cNvSpPr txBox="1"/>
          <p:nvPr/>
        </p:nvSpPr>
        <p:spPr bwMode="black">
          <a:xfrm>
            <a:off x="14099995" y="4910854"/>
            <a:ext cx="8443819" cy="225388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SzTx/>
              <a:buFont typeface="Arial"/>
              <a:buNone/>
              <a:defRPr sz="1800" b="1" i="0" kern="1200">
                <a:solidFill>
                  <a:schemeClr val="accent1"/>
                </a:solidFill>
                <a:latin typeface="HP Simplified" pitchFamily="34" charset="0"/>
                <a:ea typeface="+mn-ea"/>
                <a:cs typeface="HP Simplified" pitchFamily="34" charset="0"/>
              </a:defRPr>
            </a:lvl1pPr>
            <a:lvl2pPr marL="0" indent="0" algn="l" defTabSz="430213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SzTx/>
              <a:buFont typeface="Lucida Grande"/>
              <a:buNone/>
              <a:defRPr sz="1600" b="0" i="0" kern="1200">
                <a:solidFill>
                  <a:srgbClr val="000000"/>
                </a:solidFill>
                <a:latin typeface="HP Simplified" pitchFamily="34" charset="0"/>
                <a:ea typeface="+mn-ea"/>
                <a:cs typeface="HP Simplified" pitchFamily="34" charset="0"/>
              </a:defRPr>
            </a:lvl2pPr>
            <a:lvl3pPr marL="169863" indent="-169863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Font typeface="Arial"/>
              <a:buChar char="•"/>
              <a:defRPr sz="1400" b="0" i="0" kern="1200">
                <a:solidFill>
                  <a:srgbClr val="000000"/>
                </a:solidFill>
                <a:latin typeface="HP Simplified" pitchFamily="34" charset="0"/>
                <a:ea typeface="+mn-ea"/>
                <a:cs typeface="HP Simplified" pitchFamily="34" charset="0"/>
              </a:defRPr>
            </a:lvl3pPr>
            <a:lvl4pPr marL="341313" indent="-180975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SzPct val="80000"/>
              <a:buFont typeface="Lucida Grande"/>
              <a:buChar char="−"/>
              <a:defRPr lang="en-US" sz="1400" b="0" i="0" kern="1200">
                <a:solidFill>
                  <a:srgbClr val="000000"/>
                </a:solidFill>
                <a:latin typeface="HP Simplified" pitchFamily="34" charset="0"/>
                <a:ea typeface="+mn-ea"/>
                <a:cs typeface="HP Simplified" pitchFamily="34" charset="0"/>
              </a:defRPr>
            </a:lvl4pPr>
            <a:lvl5pPr marL="469900" indent="-150813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Font typeface="Arial"/>
              <a:buChar char="•"/>
              <a:defRPr sz="1400" b="0" i="0" kern="1200">
                <a:solidFill>
                  <a:srgbClr val="000000"/>
                </a:solidFill>
                <a:latin typeface="HP Simplified" pitchFamily="34" charset="0"/>
                <a:ea typeface="+mn-ea"/>
                <a:cs typeface="HP Simplified" pitchFamily="34" charset="0"/>
              </a:defRPr>
            </a:lvl5pPr>
            <a:lvl6pPr marL="2286000" indent="0" algn="l" defTabSz="457200" rtl="0" eaLnBrk="1" latinLnBrk="0" hangingPunct="1">
              <a:lnSpc>
                <a:spcPts val="25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146832">
              <a:spcAft>
                <a:spcPct val="0"/>
              </a:spcAft>
              <a:tabLst>
                <a:tab pos="304692" algn="l"/>
              </a:tabLst>
            </a:pPr>
            <a:r>
              <a:rPr lang="en-US" sz="2800" b="0" dirty="0">
                <a:solidFill>
                  <a:schemeClr val="tx1"/>
                </a:solidFill>
                <a:latin typeface="IBM Plex Sans" panose="020B0503050203000203" pitchFamily="34" charset="0"/>
                <a:cs typeface="Open Sans" panose="020B0606030504020204" pitchFamily="34" charset="0"/>
              </a:rPr>
              <a:t>With every quarter of inaction, </a:t>
            </a:r>
            <a:r>
              <a:rPr lang="en-US" sz="2800" dirty="0">
                <a:latin typeface="IBM Plex Sans" panose="020B0503050203000203" pitchFamily="34" charset="0"/>
                <a:ea typeface="Inter"/>
                <a:cs typeface="Inter"/>
                <a:sym typeface="Inter"/>
              </a:rPr>
              <a:t>&lt;Customer&gt;</a:t>
            </a:r>
            <a:r>
              <a:rPr lang="en-US" sz="2800" b="0" dirty="0">
                <a:solidFill>
                  <a:schemeClr val="tx1"/>
                </a:solidFill>
                <a:latin typeface="IBM Plex Sans" panose="020B0503050203000203" pitchFamily="34" charset="0"/>
                <a:cs typeface="Open Sans" panose="020B0606030504020204" pitchFamily="34" charset="0"/>
              </a:rPr>
              <a:t> forfeits </a:t>
            </a:r>
          </a:p>
          <a:p>
            <a:pPr defTabSz="1146832">
              <a:spcAft>
                <a:spcPct val="0"/>
              </a:spcAft>
              <a:tabLst>
                <a:tab pos="304692" algn="l"/>
              </a:tabLst>
            </a:pPr>
            <a:r>
              <a:rPr lang="en-US" sz="17600" b="0" dirty="0">
                <a:latin typeface="IBM Plex Sans" panose="020B0503050203000203" pitchFamily="34" charset="0"/>
                <a:ea typeface="Inter Medium" panose="02000503000000020004" pitchFamily="2" charset="0"/>
                <a:cs typeface="Open Sans" panose="020B0606030504020204" pitchFamily="34" charset="0"/>
              </a:rPr>
              <a:t>$367K </a:t>
            </a:r>
          </a:p>
          <a:p>
            <a:pPr defTabSz="1146832">
              <a:spcAft>
                <a:spcPct val="0"/>
              </a:spcAft>
              <a:tabLst>
                <a:tab pos="304692" algn="l"/>
              </a:tabLst>
            </a:pPr>
            <a:r>
              <a:rPr lang="en-US" sz="2800" b="0" dirty="0">
                <a:solidFill>
                  <a:schemeClr val="tx1"/>
                </a:solidFill>
                <a:latin typeface="IBM Plex Sans" panose="020B0503050203000203" pitchFamily="34" charset="0"/>
                <a:cs typeface="Open Sans" panose="020B0606030504020204" pitchFamily="34" charset="0"/>
              </a:rPr>
              <a:t>in business benefits based on the net present value of IBM platform.</a:t>
            </a:r>
            <a:endParaRPr lang="en-US" sz="2800" b="0" dirty="0">
              <a:solidFill>
                <a:schemeClr val="tx1"/>
              </a:solidFill>
              <a:latin typeface="IBM Plex Sans" panose="020B0503050203000203" pitchFamily="34" charset="0"/>
            </a:endParaRPr>
          </a:p>
        </p:txBody>
      </p:sp>
      <p:sp>
        <p:nvSpPr>
          <p:cNvPr id="28" name="Title 2">
            <a:extLst>
              <a:ext uri="{FF2B5EF4-FFF2-40B4-BE49-F238E27FC236}">
                <a16:creationId xmlns:a16="http://schemas.microsoft.com/office/drawing/2014/main" id="{D19490DC-4FA7-3069-C750-06E619139D0B}"/>
              </a:ext>
            </a:extLst>
          </p:cNvPr>
          <p:cNvSpPr txBox="1"/>
          <p:nvPr/>
        </p:nvSpPr>
        <p:spPr>
          <a:xfrm>
            <a:off x="14099995" y="4076049"/>
            <a:ext cx="6504968" cy="83480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baseline="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sz="4800" b="0">
                <a:latin typeface="IBM Plex Sans" panose="020B0503050203000203" pitchFamily="34" charset="0"/>
                <a:ea typeface="Inter SemiBold" panose="02000503000000020004" pitchFamily="2" charset="0"/>
              </a:rPr>
              <a:t>Why Now?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BB43788-E39A-364B-A576-590023F9015F}"/>
              </a:ext>
            </a:extLst>
          </p:cNvPr>
          <p:cNvSpPr txBox="1"/>
          <p:nvPr/>
        </p:nvSpPr>
        <p:spPr>
          <a:xfrm>
            <a:off x="22798382" y="12766403"/>
            <a:ext cx="995944" cy="380732"/>
          </a:xfrm>
          <a:prstGeom prst="rect">
            <a:avLst/>
          </a:prstGeom>
        </p:spPr>
        <p:txBody>
          <a:bodyPr/>
          <a:lstStyle>
            <a:defPPr>
              <a:defRPr lang="en-CH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829014">
              <a:defRPr/>
            </a:pPr>
            <a:fld id="{86CB4B4D-7CA3-9044-876B-883B54F8677D}" type="slidenum">
              <a:rPr lang="en-US" sz="1600">
                <a:solidFill>
                  <a:srgbClr val="000000"/>
                </a:solidFill>
                <a:latin typeface="IBM Plex Sans" panose="020B0503050203000203" pitchFamily="34" charset="0"/>
                <a:sym typeface="IBM Plex Sans"/>
              </a:rPr>
              <a:pPr algn="r" defTabSz="1829014">
                <a:defRPr/>
              </a:pPr>
              <a:t>4</a:t>
            </a:fld>
            <a:endParaRPr lang="en-US" sz="1600">
              <a:solidFill>
                <a:srgbClr val="000000"/>
              </a:solidFill>
              <a:latin typeface="IBM Plex Sans" panose="020B0503050203000203" pitchFamily="34" charset="0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91737263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8D917-E50B-3FA8-6F3C-0883D548C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5988D7B-C6D0-8E3B-E49F-5C0AB07BDCC1}"/>
              </a:ext>
            </a:extLst>
          </p:cNvPr>
          <p:cNvSpPr txBox="1"/>
          <p:nvPr/>
        </p:nvSpPr>
        <p:spPr>
          <a:xfrm>
            <a:off x="644418" y="576890"/>
            <a:ext cx="15401627" cy="875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wp="http://schemas.openxmlformats.org/drawingml/2006/wordprocessingDrawing" xmlns:w="http://schemas.openxmlformats.org/wordprocessingml/2006/main" val="1"/>
            </a:ext>
          </a:extLst>
        </p:spPr>
        <p:txBody>
          <a:bodyPr lIns="0" tIns="0" rIns="457200" bIns="0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8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>
              <a:spcBef>
                <a:spcPts val="1800"/>
              </a:spcBef>
            </a:pPr>
            <a:r>
              <a:rPr lang="en-US" sz="4400" dirty="0">
                <a:latin typeface="IBM Plex Sans" panose="020B0503050203000203" pitchFamily="34" charset="0"/>
              </a:rPr>
              <a:t>Key assumptions</a:t>
            </a:r>
            <a:endParaRPr lang="en-US" sz="3600" dirty="0">
              <a:latin typeface="IBM Plex Sans" panose="020B0503050203000203" pitchFamily="34" charset="0"/>
            </a:endParaRPr>
          </a:p>
        </p:txBody>
      </p:sp>
      <p:sp>
        <p:nvSpPr>
          <p:cNvPr id="3" name="Google Shape;288;p43">
            <a:extLst>
              <a:ext uri="{FF2B5EF4-FFF2-40B4-BE49-F238E27FC236}">
                <a16:creationId xmlns:a16="http://schemas.microsoft.com/office/drawing/2014/main" id="{645526E6-C3C4-52EE-F43E-35863BC4D7D9}"/>
              </a:ext>
            </a:extLst>
          </p:cNvPr>
          <p:cNvSpPr txBox="1"/>
          <p:nvPr/>
        </p:nvSpPr>
        <p:spPr>
          <a:xfrm>
            <a:off x="402715" y="1101095"/>
            <a:ext cx="20985324" cy="123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spAutoFit/>
          </a:bodyPr>
          <a:lstStyle/>
          <a:p>
            <a:pPr lvl="0">
              <a:buSzPts val="1600"/>
            </a:pPr>
            <a:r>
              <a:rPr lang="en-US" sz="2400" dirty="0">
                <a:latin typeface="IBM Plex Sans" panose="020B0503050203000203" pitchFamily="34" charset="0"/>
                <a:ea typeface="Inter" panose="02000503000000020004" pitchFamily="2" charset="0"/>
                <a:cs typeface="Open Sans" panose="020B0606030504020204" pitchFamily="34" charset="0"/>
                <a:sym typeface="Montserrat Light"/>
              </a:rPr>
              <a:t>The projected benefits presented in this document are driven by the following assumptions. The details on the calculated benefits for each quantified outcome are outlined further in the Appendix.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A89858-26CD-108C-A79D-D9D1C4FDE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4877" y="518065"/>
            <a:ext cx="1638301" cy="609600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45D4501-EE63-3D79-BFC3-7197B719E65B}"/>
              </a:ext>
            </a:extLst>
          </p:cNvPr>
          <p:cNvSpPr txBox="1"/>
          <p:nvPr/>
        </p:nvSpPr>
        <p:spPr>
          <a:xfrm>
            <a:off x="22798382" y="12766403"/>
            <a:ext cx="995944" cy="380732"/>
          </a:xfrm>
          <a:prstGeom prst="rect">
            <a:avLst/>
          </a:prstGeom>
        </p:spPr>
        <p:txBody>
          <a:bodyPr/>
          <a:lstStyle>
            <a:defPPr>
              <a:defRPr lang="en-CH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829014">
              <a:defRPr/>
            </a:pPr>
            <a:fld id="{86CB4B4D-7CA3-9044-876B-883B54F8677D}" type="slidenum">
              <a:rPr lang="en-US" sz="1600">
                <a:solidFill>
                  <a:srgbClr val="000000"/>
                </a:solidFill>
                <a:latin typeface="IBM Plex Sans" panose="020B0503050203000203" pitchFamily="34" charset="0"/>
                <a:sym typeface="IBM Plex Sans"/>
              </a:rPr>
              <a:pPr algn="r" defTabSz="1829014">
                <a:defRPr/>
              </a:pPr>
              <a:t>5</a:t>
            </a:fld>
            <a:endParaRPr lang="en-US" sz="1600">
              <a:solidFill>
                <a:srgbClr val="000000"/>
              </a:solidFill>
              <a:latin typeface="IBM Plex Sans" panose="020B0503050203000203" pitchFamily="34" charset="0"/>
              <a:sym typeface="IBM Plex San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6D51C4-2A6E-D966-70CC-7F775091D6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319381"/>
              </p:ext>
            </p:extLst>
          </p:nvPr>
        </p:nvGraphicFramePr>
        <p:xfrm>
          <a:off x="644418" y="2332121"/>
          <a:ext cx="22876848" cy="1013115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933112">
                  <a:extLst>
                    <a:ext uri="{9D8B030D-6E8A-4147-A177-3AD203B41FA5}">
                      <a16:colId xmlns:a16="http://schemas.microsoft.com/office/drawing/2014/main" val="2731154734"/>
                    </a:ext>
                  </a:extLst>
                </a:gridCol>
                <a:gridCol w="4943736">
                  <a:extLst>
                    <a:ext uri="{9D8B030D-6E8A-4147-A177-3AD203B41FA5}">
                      <a16:colId xmlns:a16="http://schemas.microsoft.com/office/drawing/2014/main" val="239489924"/>
                    </a:ext>
                  </a:extLst>
                </a:gridCol>
              </a:tblGrid>
              <a:tr h="723654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IBM Plex Sans" panose="020B0503050203000203" pitchFamily="34" charset="0"/>
                        </a:rPr>
                        <a:t>Key Assumption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IBM Plex Sans" panose="020B0503050203000203" pitchFamily="34" charset="0"/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812703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+mn-cs"/>
                          <a:sym typeface="IBM Plex Sans"/>
                        </a:rPr>
                        <a:t>Benefit Realization ramp (Years 1-3)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IBM Plex Sans" panose="020B0503050203000203" pitchFamily="34" charset="0"/>
                        </a:rPr>
                        <a:t>90%, 95%, 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901178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+mn-cs"/>
                          <a:sym typeface="IBM Plex Sans"/>
                        </a:rPr>
                        <a:t># of Data Base Administrators (DBAs) supporting enterprise workloads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IBM Plex Sans" panose="020B0503050203000203" pitchFamily="34" charset="0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165664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IBM Plex Sans" panose="020B0503050203000203" pitchFamily="34" charset="0"/>
                        </a:rPr>
                        <a:t>“All-in” DBA annual pay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IBM Plex Sans" panose="020B0503050203000203" pitchFamily="34" charset="0"/>
                        </a:rPr>
                        <a:t>$180,000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736805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400" b="0" i="0" u="none" strike="noStrike" kern="1200" cap="none" spc="0" normalizeH="0" baseline="0" noProof="0" dirty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% of DBA time spent on operations</a:t>
                      </a: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IBM Plex Sans" panose="020B0503050203000203" pitchFamily="34" charset="0"/>
                        </a:rPr>
                        <a:t>85%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678703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IBM Plex Sans"/>
                        </a:rPr>
                        <a:t>Reduction in manual operational effort driven by Db2 Genius Hub</a:t>
                      </a:r>
                      <a:r>
                        <a:rPr lang="en-US" sz="2400" dirty="0">
                          <a:latin typeface="IBM Plex Sans" panose="020B0503050203000203" pitchFamily="34" charset="0"/>
                        </a:rPr>
                        <a:t> </a:t>
                      </a:r>
                      <a:endParaRPr lang="en-US" sz="2400" b="0" i="0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IBM Plex Sans" panose="020B0503050203000203" pitchFamily="34" charset="0"/>
                        </a:rPr>
                        <a:t>30%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51404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IBM Plex Sans"/>
                        </a:rPr>
                        <a:t>Material Db2 performance or availability incidents, per year</a:t>
                      </a:r>
                      <a:endParaRPr lang="en-US" sz="2400" b="0" i="0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0" lang="en-US" sz="2400" b="0" i="0" u="none" strike="noStrike" kern="1200" cap="none" spc="0" normalizeH="0" baseline="0" noProof="0" dirty="0">
                          <a:solidFill>
                            <a:schemeClr val="tx1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40</a:t>
                      </a:r>
                      <a:endParaRPr lang="en-US" sz="2400" b="0" i="0" u="none" strike="noStrike" noProof="0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595428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IBM Plex Sans"/>
                        </a:rPr>
                        <a:t>Average business impact, per material Db2 performance or availability incident</a:t>
                      </a:r>
                      <a:endParaRPr kumimoji="0" lang="en-US" sz="2400" b="0" i="0" u="none" strike="noStrike" kern="1200" cap="none" spc="0" normalizeH="0" baseline="0" noProof="0" dirty="0">
                        <a:solidFill>
                          <a:srgbClr val="000000"/>
                        </a:solidFill>
                        <a:uLnTx/>
                        <a:uFillTx/>
                        <a:latin typeface="IBM Plex Sans" panose="020B0503050203000203" pitchFamily="34" charset="0"/>
                        <a:ea typeface="Inter" panose="02000503000000020004" pitchFamily="2" charset="0"/>
                        <a:cs typeface="Arial"/>
                        <a:sym typeface="IBM Plex Sans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kumimoji="0" lang="en-US" sz="2400" b="0" i="0" u="none" strike="noStrike" kern="1200" cap="none" spc="0" normalizeH="0" baseline="0" noProof="0" dirty="0">
                          <a:solidFill>
                            <a:schemeClr val="tx1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$50,000</a:t>
                      </a: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028423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IBM Plex Sans"/>
                        </a:rPr>
                        <a:t>Reduction in time to resolution</a:t>
                      </a:r>
                      <a:endParaRPr kumimoji="0" lang="en-US" sz="2400" b="0" i="0" u="none" strike="noStrike" kern="1200" cap="none" spc="0" normalizeH="0" baseline="0" noProof="0" dirty="0">
                        <a:solidFill>
                          <a:schemeClr val="tx1"/>
                        </a:solidFill>
                        <a:uLnTx/>
                        <a:uFillTx/>
                        <a:latin typeface="IBM Plex Sans" panose="020B0503050203000203" pitchFamily="34" charset="0"/>
                        <a:ea typeface="Inter" panose="02000503000000020004" pitchFamily="2" charset="0"/>
                        <a:cs typeface="Arial"/>
                        <a:sym typeface="IBM Plex Sans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kumimoji="0" lang="en-US" sz="2400" b="0" i="0" u="none" strike="noStrike" kern="1200" cap="none" spc="0" normalizeH="0" baseline="0" noProof="0" dirty="0">
                          <a:solidFill>
                            <a:schemeClr val="tx1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30%</a:t>
                      </a: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266211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IBM Plex Sans"/>
                        </a:rPr>
                        <a:t># of tools supporting Db2 today</a:t>
                      </a:r>
                      <a:endParaRPr lang="en-US" sz="2400" b="0" i="0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0" lang="en-US" sz="2400" b="0" i="0" u="none" strike="noStrike" kern="1200" cap="none" spc="0" normalizeH="0" baseline="0" noProof="0" dirty="0">
                          <a:solidFill>
                            <a:schemeClr val="tx1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4</a:t>
                      </a:r>
                      <a:endParaRPr lang="en-US" sz="2400" b="0" i="0" u="none" strike="noStrike" noProof="0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870783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IBM Plex Sans"/>
                        </a:rPr>
                        <a:t>Reducible overhead cost, per tool</a:t>
                      </a:r>
                      <a:endParaRPr kumimoji="0" lang="en-US" sz="2400" b="0" i="0" u="none" strike="noStrike" kern="1200" cap="none" spc="0" normalizeH="0" baseline="0" noProof="0" dirty="0">
                        <a:solidFill>
                          <a:schemeClr val="tx1"/>
                        </a:solidFill>
                        <a:uLnTx/>
                        <a:uFillTx/>
                        <a:latin typeface="IBM Plex Sans" panose="020B0503050203000203" pitchFamily="34" charset="0"/>
                        <a:ea typeface="Inter" panose="02000503000000020004" pitchFamily="2" charset="0"/>
                        <a:cs typeface="Arial"/>
                        <a:sym typeface="IBM Plex Sans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kumimoji="0" lang="en-US" sz="2400" b="0" i="0" u="none" strike="noStrike" kern="1200" cap="none" spc="0" normalizeH="0" baseline="0" noProof="0" dirty="0">
                          <a:solidFill>
                            <a:schemeClr val="tx1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$25,000</a:t>
                      </a: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575505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IBM Plex Sans"/>
                        </a:rPr>
                        <a:t># of high-severity SEV-1 Db2 incidents, per year</a:t>
                      </a:r>
                      <a:endParaRPr kumimoji="0" lang="en-US" sz="2400" b="0" i="0" u="none" strike="noStrike" kern="1200" cap="none" spc="0" normalizeH="0" baseline="0" noProof="0" dirty="0">
                        <a:solidFill>
                          <a:srgbClr val="000000"/>
                        </a:solidFill>
                        <a:uLnTx/>
                        <a:uFillTx/>
                        <a:latin typeface="IBM Plex Sans" panose="020B0503050203000203" pitchFamily="34" charset="0"/>
                        <a:ea typeface="Inter" panose="02000503000000020004" pitchFamily="2" charset="0"/>
                        <a:cs typeface="+mn-cs"/>
                        <a:sym typeface="IBM Plex S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IBM Plex Sans" panose="020B0503050203000203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557725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IBM Plex Sans"/>
                        </a:rPr>
                        <a:t>Average cost per SEV‑1 in financial services industry</a:t>
                      </a:r>
                      <a:endParaRPr kumimoji="0" lang="en-US" sz="2400" b="0" i="0" u="none" strike="noStrike" kern="1200" cap="none" spc="0" normalizeH="0" baseline="0" noProof="0" dirty="0">
                        <a:solidFill>
                          <a:srgbClr val="000000"/>
                        </a:solidFill>
                        <a:uLnTx/>
                        <a:uFillTx/>
                        <a:latin typeface="IBM Plex Sans" panose="020B0503050203000203" pitchFamily="34" charset="0"/>
                        <a:ea typeface="Inter" panose="02000503000000020004" pitchFamily="2" charset="0"/>
                        <a:cs typeface="+mn-cs"/>
                        <a:sym typeface="IBM Plex Sa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IBM Plex Sans" panose="020B0503050203000203" pitchFamily="34" charset="0"/>
                        </a:rPr>
                        <a:t>$250,000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333145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IBM Plex Sans"/>
                        </a:rPr>
                        <a:t>Reduction in SEV‑1 occurrence</a:t>
                      </a:r>
                      <a:endParaRPr lang="en-US" sz="2400" dirty="0">
                        <a:latin typeface="IBM Plex Sans" panose="020B050305020300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IBM Plex Sans" panose="020B0503050203000203" pitchFamily="34" charset="0"/>
                        </a:rPr>
                        <a:t>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287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737482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33D38-7191-2AA2-4541-10DC9AAD2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483;p74">
            <a:extLst>
              <a:ext uri="{FF2B5EF4-FFF2-40B4-BE49-F238E27FC236}">
                <a16:creationId xmlns:a16="http://schemas.microsoft.com/office/drawing/2014/main" id="{5587BD97-FEC5-1030-186C-487390CF6A94}"/>
              </a:ext>
            </a:extLst>
          </p:cNvPr>
          <p:cNvSpPr/>
          <p:nvPr/>
        </p:nvSpPr>
        <p:spPr>
          <a:xfrm>
            <a:off x="16472977" y="2605489"/>
            <a:ext cx="7002981" cy="8467378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200"/>
              </a:spcBef>
            </a:pPr>
            <a:r>
              <a:rPr lang="en-US" sz="3200" dirty="0">
                <a:solidFill>
                  <a:schemeClr val="accent1"/>
                </a:solidFill>
                <a:latin typeface="IBM Plex Sans" panose="020B0503050203000203" pitchFamily="34" charset="0"/>
                <a:ea typeface="Inter SemiBold" panose="02000503000000020004" pitchFamily="2" charset="0"/>
                <a:cs typeface="Inter"/>
                <a:sym typeface="Inter"/>
              </a:rPr>
              <a:t>Value Proposition </a:t>
            </a:r>
            <a:endParaRPr sz="3200" dirty="0">
              <a:solidFill>
                <a:schemeClr val="accent1"/>
              </a:solidFill>
              <a:latin typeface="IBM Plex Sans" panose="020B0503050203000203" pitchFamily="34" charset="0"/>
              <a:ea typeface="Inter SemiBold" panose="02000503000000020004" pitchFamily="2" charset="0"/>
              <a:cs typeface="Inter"/>
              <a:sym typeface="Inter"/>
            </a:endParaRPr>
          </a:p>
          <a:p>
            <a:pPr>
              <a:spcBef>
                <a:spcPts val="200"/>
              </a:spcBef>
            </a:pPr>
            <a:r>
              <a:rPr lang="en-US" sz="2400" dirty="0">
                <a:latin typeface="IBM Plex Sans" panose="020B0503050203000203" pitchFamily="34" charset="0"/>
                <a:ea typeface="Inter"/>
                <a:cs typeface="Inter"/>
                <a:sym typeface="Inter"/>
              </a:rPr>
              <a:t>From our collaborative assessment, &lt;Customer&gt; can realize the following value:</a:t>
            </a:r>
            <a:endParaRPr sz="2400" dirty="0">
              <a:latin typeface="IBM Plex Sans" panose="020B0503050203000203" pitchFamily="34" charset="0"/>
              <a:ea typeface="Inter"/>
              <a:cs typeface="Inter"/>
              <a:sym typeface="Inter"/>
            </a:endParaRPr>
          </a:p>
          <a:p>
            <a:pPr>
              <a:spcBef>
                <a:spcPts val="200"/>
              </a:spcBef>
            </a:pPr>
            <a:endParaRPr sz="2400" dirty="0">
              <a:latin typeface="IBM Plex Sans" panose="020B0503050203000203" pitchFamily="34" charset="0"/>
              <a:ea typeface="Inter"/>
              <a:cs typeface="Inter"/>
              <a:sym typeface="Inter"/>
            </a:endParaRPr>
          </a:p>
          <a:p>
            <a:pPr>
              <a:spcBef>
                <a:spcPts val="200"/>
              </a:spcBef>
            </a:pPr>
            <a:endParaRPr sz="2400" dirty="0">
              <a:latin typeface="IBM Plex Sans" panose="020B0503050203000203" pitchFamily="34" charset="0"/>
              <a:ea typeface="Inter"/>
              <a:cs typeface="Inter"/>
              <a:sym typeface="Inter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IBM Plex Sans" panose="020B0503050203000203" pitchFamily="34" charset="0"/>
              <a:ea typeface="Inter"/>
              <a:cs typeface="Inter"/>
              <a:sym typeface="Inter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IBM Plex Sans" panose="020B0503050203000203" pitchFamily="34" charset="0"/>
              <a:ea typeface="Inter"/>
              <a:cs typeface="Inter"/>
              <a:sym typeface="Inter"/>
            </a:endParaRPr>
          </a:p>
          <a:p>
            <a:pPr>
              <a:lnSpc>
                <a:spcPct val="90000"/>
              </a:lnSpc>
            </a:pPr>
            <a:endParaRPr sz="2400" dirty="0">
              <a:latin typeface="IBM Plex Sans" panose="020B0503050203000203" pitchFamily="34" charset="0"/>
              <a:ea typeface="Inter"/>
              <a:cs typeface="Inter"/>
              <a:sym typeface="Inter"/>
            </a:endParaRPr>
          </a:p>
          <a:p>
            <a:pPr>
              <a:lnSpc>
                <a:spcPct val="90000"/>
              </a:lnSpc>
            </a:pPr>
            <a:endParaRPr sz="2400" dirty="0">
              <a:latin typeface="IBM Plex Sans" panose="020B0503050203000203" pitchFamily="34" charset="0"/>
              <a:ea typeface="Inter"/>
              <a:cs typeface="Inter"/>
              <a:sym typeface="Inter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IBM Plex Sans" panose="020B0503050203000203" pitchFamily="34" charset="0"/>
              <a:ea typeface="Inter"/>
              <a:cs typeface="Inter"/>
              <a:sym typeface="Inter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IBM Plex Sans" panose="020B0503050203000203" pitchFamily="34" charset="0"/>
              <a:ea typeface="Inter"/>
              <a:cs typeface="Inter"/>
              <a:sym typeface="Inter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IBM Plex Sans" panose="020B0503050203000203" pitchFamily="34" charset="0"/>
              <a:ea typeface="Inter"/>
              <a:cs typeface="Inter"/>
              <a:sym typeface="Inter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IBM Plex Sans" panose="020B0503050203000203" pitchFamily="34" charset="0"/>
              <a:ea typeface="Inter"/>
              <a:cs typeface="Inter"/>
              <a:sym typeface="Inter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IBM Plex Sans" panose="020B0503050203000203" pitchFamily="34" charset="0"/>
              <a:ea typeface="Inter"/>
              <a:cs typeface="Inter"/>
              <a:sym typeface="Inter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IBM Plex Sans" panose="020B0503050203000203" pitchFamily="34" charset="0"/>
              <a:ea typeface="Inter"/>
              <a:cs typeface="Inter"/>
              <a:sym typeface="Inter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IBM Plex Sans" panose="020B0503050203000203" pitchFamily="34" charset="0"/>
              <a:ea typeface="Inter"/>
              <a:cs typeface="Inter"/>
              <a:sym typeface="Inter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IBM Plex Sans" panose="020B0503050203000203" pitchFamily="34" charset="0"/>
              <a:ea typeface="Inter"/>
              <a:cs typeface="Inter"/>
              <a:sym typeface="Inter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IBM Plex Sans" panose="020B0503050203000203" pitchFamily="34" charset="0"/>
              <a:ea typeface="Inter"/>
              <a:cs typeface="Inter"/>
              <a:sym typeface="Inter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IBM Plex Sans" panose="020B0503050203000203" pitchFamily="34" charset="0"/>
              <a:ea typeface="Inter"/>
              <a:cs typeface="Inter"/>
              <a:sym typeface="Inter"/>
            </a:endParaRPr>
          </a:p>
          <a:p>
            <a:pPr>
              <a:lnSpc>
                <a:spcPct val="90000"/>
              </a:lnSpc>
            </a:pPr>
            <a:endParaRPr sz="2400" dirty="0">
              <a:latin typeface="IBM Plex Sans" panose="020B0503050203000203" pitchFamily="34" charset="0"/>
              <a:ea typeface="Inter"/>
              <a:cs typeface="Inter"/>
              <a:sym typeface="Inter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IBM Plex Sans" panose="020B0503050203000203" pitchFamily="34" charset="0"/>
              <a:ea typeface="Inter"/>
              <a:cs typeface="Inter"/>
              <a:sym typeface="Inter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IBM Plex Sans" panose="020B0503050203000203" pitchFamily="34" charset="0"/>
              <a:ea typeface="Inter"/>
              <a:cs typeface="Inter"/>
              <a:sym typeface="Inter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IBM Plex Sans" panose="020B0503050203000203" pitchFamily="34" charset="0"/>
              <a:ea typeface="Inter"/>
              <a:cs typeface="Inter"/>
              <a:sym typeface="Inter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IBM Plex Sans" panose="020B0503050203000203" pitchFamily="34" charset="0"/>
              <a:ea typeface="Inter"/>
              <a:cs typeface="Inter"/>
              <a:sym typeface="Inter"/>
            </a:endParaRPr>
          </a:p>
          <a:p>
            <a:pPr>
              <a:spcBef>
                <a:spcPts val="200"/>
              </a:spcBef>
            </a:pPr>
            <a:endParaRPr lang="en-US" sz="2400" dirty="0">
              <a:latin typeface="IBM Plex Sans" panose="020B0503050203000203" pitchFamily="34" charset="0"/>
              <a:ea typeface="Inter"/>
              <a:cs typeface="Inter"/>
              <a:sym typeface="Inter"/>
            </a:endParaRPr>
          </a:p>
          <a:p>
            <a:pPr>
              <a:spcBef>
                <a:spcPts val="200"/>
              </a:spcBef>
            </a:pPr>
            <a:r>
              <a:rPr lang="en-US" sz="2400" dirty="0">
                <a:latin typeface="IBM Plex Sans" panose="020B0503050203000203" pitchFamily="34" charset="0"/>
                <a:ea typeface="Inter"/>
                <a:cs typeface="Inter"/>
                <a:sym typeface="Inter"/>
              </a:rPr>
              <a:t>Beyond these quantified benefits, there are many qualitative benefits associated with the investment. </a:t>
            </a:r>
            <a:endParaRPr sz="7200" dirty="0">
              <a:latin typeface="IBM Plex Sans" panose="020B0503050203000203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2" name="Google Shape;288;p43">
            <a:extLst>
              <a:ext uri="{FF2B5EF4-FFF2-40B4-BE49-F238E27FC236}">
                <a16:creationId xmlns:a16="http://schemas.microsoft.com/office/drawing/2014/main" id="{4C2CB748-4BBF-27CE-FA5B-58D8936186CB}"/>
              </a:ext>
            </a:extLst>
          </p:cNvPr>
          <p:cNvSpPr txBox="1"/>
          <p:nvPr/>
        </p:nvSpPr>
        <p:spPr>
          <a:xfrm>
            <a:off x="335809" y="1101095"/>
            <a:ext cx="21999015" cy="85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spAutoFit/>
          </a:bodyPr>
          <a:lstStyle/>
          <a:p>
            <a:r>
              <a:rPr lang="en-US" sz="2400" dirty="0">
                <a:latin typeface="IBM Plex Sans" panose="020B0503050203000203" pitchFamily="34" charset="0"/>
                <a:ea typeface="Inter" panose="02000503000000020004" pitchFamily="2" charset="0"/>
              </a:rPr>
              <a:t>Enabling Customer to deliver on its vision with potential to realize </a:t>
            </a:r>
            <a:r>
              <a:rPr lang="en-US" sz="2400" dirty="0">
                <a:solidFill>
                  <a:schemeClr val="accent1"/>
                </a:solidFill>
                <a:latin typeface="IBM Plex Sans" panose="020B0503050203000203" pitchFamily="34" charset="0"/>
                <a:ea typeface="Inter" panose="02000503000000020004" pitchFamily="2" charset="0"/>
              </a:rPr>
              <a:t>$5.32M </a:t>
            </a:r>
            <a:r>
              <a:rPr lang="en-US" sz="2400" dirty="0">
                <a:latin typeface="IBM Plex Sans" panose="020B0503050203000203" pitchFamily="34" charset="0"/>
                <a:ea typeface="Inter" panose="02000503000000020004" pitchFamily="2" charset="0"/>
              </a:rPr>
              <a:t>over </a:t>
            </a:r>
            <a:r>
              <a:rPr lang="en-US" sz="2400" dirty="0">
                <a:solidFill>
                  <a:schemeClr val="accent1"/>
                </a:solidFill>
                <a:latin typeface="IBM Plex Sans" panose="020B0503050203000203" pitchFamily="34" charset="0"/>
                <a:ea typeface="Inter" panose="02000503000000020004" pitchFamily="2" charset="0"/>
              </a:rPr>
              <a:t>3 years</a:t>
            </a:r>
            <a:r>
              <a:rPr lang="en-US" sz="2400" dirty="0">
                <a:latin typeface="IBM Plex Sans" panose="020B0503050203000203" pitchFamily="34" charset="0"/>
                <a:ea typeface="Inter" panose="02000503000000020004" pitchFamily="2" charset="0"/>
              </a:rPr>
              <a:t>.</a:t>
            </a:r>
            <a:endParaRPr sz="2400" dirty="0">
              <a:latin typeface="IBM Plex Sans" panose="020B0503050203000203" pitchFamily="34" charset="0"/>
              <a:ea typeface="Inter" panose="02000503000000020004" pitchFamily="2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18" name="Google Shape;482;p74">
            <a:extLst>
              <a:ext uri="{FF2B5EF4-FFF2-40B4-BE49-F238E27FC236}">
                <a16:creationId xmlns:a16="http://schemas.microsoft.com/office/drawing/2014/main" id="{0268FECD-7FDC-3716-279E-219A3B6726A4}"/>
              </a:ext>
            </a:extLst>
          </p:cNvPr>
          <p:cNvSpPr/>
          <p:nvPr/>
        </p:nvSpPr>
        <p:spPr>
          <a:xfrm>
            <a:off x="8411943" y="2565090"/>
            <a:ext cx="6881155" cy="3894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buSzPts val="1100"/>
            </a:pPr>
            <a:r>
              <a:rPr lang="en-US" sz="3200" dirty="0">
                <a:solidFill>
                  <a:schemeClr val="accent1"/>
                </a:solidFill>
                <a:latin typeface="IBM Plex Sans" panose="020B0503050203000203" pitchFamily="34" charset="0"/>
                <a:ea typeface="Inter SemiBold" panose="02000503000000020004" pitchFamily="2" charset="0"/>
                <a:cs typeface="Inter"/>
                <a:sym typeface="Inter"/>
              </a:rPr>
              <a:t>Solutions</a:t>
            </a:r>
            <a:endParaRPr sz="3200" dirty="0">
              <a:solidFill>
                <a:schemeClr val="accent1"/>
              </a:solidFill>
              <a:latin typeface="IBM Plex Sans" panose="020B0503050203000203" pitchFamily="34" charset="0"/>
              <a:ea typeface="Inter SemiBold" panose="02000503000000020004" pitchFamily="2" charset="0"/>
              <a:cs typeface="Inter"/>
              <a:sym typeface="Inter"/>
            </a:endParaRPr>
          </a:p>
          <a:p>
            <a:pPr>
              <a:lnSpc>
                <a:spcPct val="115000"/>
              </a:lnSpc>
              <a:buSzPts val="1100"/>
            </a:pPr>
            <a:r>
              <a:rPr lang="en-US" sz="2400" dirty="0">
                <a:latin typeface="IBM Plex Sans" panose="020B0503050203000203" pitchFamily="34" charset="0"/>
                <a:ea typeface="Inter"/>
                <a:cs typeface="Inter"/>
                <a:sym typeface="Inter"/>
              </a:rPr>
              <a:t>This report, developed by IBM in collaboration with &lt;Customer&gt;, leverages information provided by &lt;Customer&gt;, publicly available information, and industry standards to summarize the approximate quantified business impact offered to &lt;Customer&gt; by the following solution(s):</a:t>
            </a:r>
            <a:endParaRPr sz="2100" dirty="0">
              <a:latin typeface="IBM Plex Sans" panose="020B0503050203000203" pitchFamily="34" charset="0"/>
            </a:endParaRPr>
          </a:p>
        </p:txBody>
      </p:sp>
      <p:sp>
        <p:nvSpPr>
          <p:cNvPr id="19" name="Google Shape;484;p74">
            <a:extLst>
              <a:ext uri="{FF2B5EF4-FFF2-40B4-BE49-F238E27FC236}">
                <a16:creationId xmlns:a16="http://schemas.microsoft.com/office/drawing/2014/main" id="{EA2A54C1-4BCE-4738-7193-ED453E69178E}"/>
              </a:ext>
            </a:extLst>
          </p:cNvPr>
          <p:cNvSpPr txBox="1"/>
          <p:nvPr/>
        </p:nvSpPr>
        <p:spPr>
          <a:xfrm>
            <a:off x="560907" y="2487812"/>
            <a:ext cx="6820859" cy="70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50" rIns="0" bIns="68550" anchor="t" anchorCtr="0">
            <a:noAutofit/>
          </a:bodyPr>
          <a:lstStyle/>
          <a:p>
            <a:pPr>
              <a:lnSpc>
                <a:spcPct val="120000"/>
              </a:lnSpc>
              <a:buSzPts val="1500"/>
            </a:pPr>
            <a:r>
              <a:rPr lang="en-US" sz="3200">
                <a:solidFill>
                  <a:schemeClr val="accent1"/>
                </a:solidFill>
                <a:latin typeface="IBM Plex Sans" panose="020B0503050203000203" pitchFamily="34" charset="0"/>
                <a:ea typeface="Inter SemiBold" panose="02000503000000020004" pitchFamily="2" charset="0"/>
                <a:cs typeface="Inter"/>
                <a:sym typeface="Inter"/>
              </a:rPr>
              <a:t>Strategic Objectives</a:t>
            </a:r>
          </a:p>
        </p:txBody>
      </p:sp>
      <p:sp>
        <p:nvSpPr>
          <p:cNvPr id="20" name="Google Shape;488;p74">
            <a:extLst>
              <a:ext uri="{FF2B5EF4-FFF2-40B4-BE49-F238E27FC236}">
                <a16:creationId xmlns:a16="http://schemas.microsoft.com/office/drawing/2014/main" id="{4133B6EE-7486-AFF9-0855-EA9C9002C6EA}"/>
              </a:ext>
            </a:extLst>
          </p:cNvPr>
          <p:cNvSpPr/>
          <p:nvPr/>
        </p:nvSpPr>
        <p:spPr>
          <a:xfrm>
            <a:off x="8452241" y="6054410"/>
            <a:ext cx="7001189" cy="158243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IBM Plex Sans Medm" panose="020B0503050203000203" pitchFamily="34" charset="0"/>
              <a:ea typeface="Inter SemiBold" panose="02000503000000020004" pitchFamily="2" charset="0"/>
              <a:cs typeface="Open Sans ExtraBold" panose="020B0606030504020204" pitchFamily="34" charset="0"/>
              <a:sym typeface="Open Sans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IBM Plex Sans Medm" panose="020B0503050203000203" pitchFamily="34" charset="0"/>
                <a:ea typeface="Inter SemiBold" panose="02000503000000020004" pitchFamily="2" charset="0"/>
                <a:cs typeface="Open Sans ExtraBold" panose="020B0606030504020204" pitchFamily="34" charset="0"/>
                <a:sym typeface="Open Sans"/>
              </a:rPr>
              <a:t>Db2 AI Editions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IBM Plex Sans Medm" panose="020B0503050203000203" pitchFamily="34" charset="0"/>
                <a:ea typeface="Inter SemiBold" panose="02000503000000020004" pitchFamily="2" charset="0"/>
                <a:cs typeface="Open Sans ExtraBold" panose="020B0606030504020204" pitchFamily="34" charset="0"/>
                <a:sym typeface="Open Sans"/>
              </a:rPr>
              <a:t>Genius Hub</a:t>
            </a:r>
          </a:p>
        </p:txBody>
      </p:sp>
      <p:sp>
        <p:nvSpPr>
          <p:cNvPr id="21" name="Google Shape;490;p74">
            <a:extLst>
              <a:ext uri="{FF2B5EF4-FFF2-40B4-BE49-F238E27FC236}">
                <a16:creationId xmlns:a16="http://schemas.microsoft.com/office/drawing/2014/main" id="{D3EE3638-971F-7817-732F-DC423E5F2EF5}"/>
              </a:ext>
            </a:extLst>
          </p:cNvPr>
          <p:cNvSpPr/>
          <p:nvPr/>
        </p:nvSpPr>
        <p:spPr>
          <a:xfrm>
            <a:off x="16472982" y="3942684"/>
            <a:ext cx="9800446" cy="1669398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en-US" sz="6400">
                <a:solidFill>
                  <a:schemeClr val="accent1"/>
                </a:solidFill>
                <a:latin typeface="IBM Plex Sans" panose="020B0503050203000203" pitchFamily="34" charset="0"/>
                <a:ea typeface="Inter SemiBold" panose="02000503000000020004" pitchFamily="2" charset="0"/>
              </a:rPr>
              <a:t>$5.32M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en-US" sz="2400">
                <a:latin typeface="IBM Plex Sans" panose="020B0503050203000203" pitchFamily="34" charset="0"/>
                <a:ea typeface="Inter SemiBold" panose="02000503000000020004" pitchFamily="2" charset="0"/>
                <a:cs typeface="Inter"/>
                <a:sym typeface="Inter"/>
              </a:rPr>
              <a:t>3-Year Benefits</a:t>
            </a:r>
            <a:endParaRPr lang="en-US">
              <a:latin typeface="IBM Plex Sans" panose="020B0503050203000203" pitchFamily="34" charset="0"/>
              <a:ea typeface="Inter SemiBold" panose="02000503000000020004" pitchFamily="2" charset="0"/>
              <a:cs typeface="Inter"/>
              <a:sym typeface="Inter"/>
            </a:endParaRPr>
          </a:p>
        </p:txBody>
      </p:sp>
      <p:sp>
        <p:nvSpPr>
          <p:cNvPr id="22" name="Google Shape;491;p74">
            <a:extLst>
              <a:ext uri="{FF2B5EF4-FFF2-40B4-BE49-F238E27FC236}">
                <a16:creationId xmlns:a16="http://schemas.microsoft.com/office/drawing/2014/main" id="{19E73998-7129-8FF5-D6D5-38934D18FA68}"/>
              </a:ext>
            </a:extLst>
          </p:cNvPr>
          <p:cNvSpPr/>
          <p:nvPr/>
        </p:nvSpPr>
        <p:spPr>
          <a:xfrm>
            <a:off x="16472981" y="5815489"/>
            <a:ext cx="8507658" cy="151193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en-US" sz="6400">
                <a:solidFill>
                  <a:schemeClr val="accent1"/>
                </a:solidFill>
                <a:latin typeface="IBM Plex Sans" panose="020B0503050203000203" pitchFamily="34" charset="0"/>
                <a:ea typeface="Inter SemiBold" panose="02000503000000020004" pitchFamily="2" charset="0"/>
                <a:cs typeface="Inter"/>
                <a:sym typeface="Inter"/>
              </a:rPr>
              <a:t>Immediate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en-US" sz="2400">
                <a:latin typeface="IBM Plex Sans" panose="020B0503050203000203" pitchFamily="34" charset="0"/>
                <a:ea typeface="Inter SemiBold" panose="02000503000000020004" pitchFamily="2" charset="0"/>
                <a:cs typeface="Inter"/>
                <a:sym typeface="Inter"/>
              </a:rPr>
              <a:t>Payback Period</a:t>
            </a:r>
            <a:endParaRPr>
              <a:latin typeface="IBM Plex Sans" panose="020B0503050203000203" pitchFamily="34" charset="0"/>
              <a:ea typeface="Inter SemiBold" panose="02000503000000020004" pitchFamily="2" charset="0"/>
              <a:cs typeface="Inter"/>
              <a:sym typeface="Inter"/>
            </a:endParaRPr>
          </a:p>
        </p:txBody>
      </p:sp>
      <p:sp>
        <p:nvSpPr>
          <p:cNvPr id="23" name="Google Shape;492;p74">
            <a:extLst>
              <a:ext uri="{FF2B5EF4-FFF2-40B4-BE49-F238E27FC236}">
                <a16:creationId xmlns:a16="http://schemas.microsoft.com/office/drawing/2014/main" id="{446E987E-C9B8-7AD4-6A06-A65A0F6CE236}"/>
              </a:ext>
            </a:extLst>
          </p:cNvPr>
          <p:cNvSpPr/>
          <p:nvPr/>
        </p:nvSpPr>
        <p:spPr>
          <a:xfrm>
            <a:off x="16472979" y="7530832"/>
            <a:ext cx="6641844" cy="151330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en-US" sz="6400">
                <a:solidFill>
                  <a:schemeClr val="accent1"/>
                </a:solidFill>
                <a:latin typeface="IBM Plex Sans" panose="020B0503050203000203" pitchFamily="34" charset="0"/>
                <a:ea typeface="Inter SemiBold" panose="02000503000000020004" pitchFamily="2" charset="0"/>
                <a:cs typeface="Inter"/>
                <a:sym typeface="Inter"/>
              </a:rPr>
              <a:t>$4.4M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en-US" sz="2400">
                <a:latin typeface="IBM Plex Sans" panose="020B0503050203000203" pitchFamily="34" charset="0"/>
                <a:ea typeface="Inter SemiBold" panose="02000503000000020004" pitchFamily="2" charset="0"/>
                <a:cs typeface="Inter"/>
                <a:sym typeface="Inter"/>
              </a:rPr>
              <a:t>Net Present Value</a:t>
            </a:r>
            <a:endParaRPr>
              <a:latin typeface="IBM Plex Sans" panose="020B0503050203000203" pitchFamily="34" charset="0"/>
              <a:ea typeface="Inter SemiBold" panose="02000503000000020004" pitchFamily="2" charset="0"/>
              <a:cs typeface="Inter"/>
              <a:sym typeface="Inter"/>
            </a:endParaRPr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9033DBEF-F89A-ECC2-E4B7-8B10CB700B5E}"/>
              </a:ext>
            </a:extLst>
          </p:cNvPr>
          <p:cNvCxnSpPr>
            <a:cxnSpLocks/>
          </p:cNvCxnSpPr>
          <p:nvPr/>
        </p:nvCxnSpPr>
        <p:spPr bwMode="auto">
          <a:xfrm>
            <a:off x="7793631" y="2660137"/>
            <a:ext cx="0" cy="5167681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A23F469F-8C65-0B3E-896A-442A283C7E64}"/>
              </a:ext>
            </a:extLst>
          </p:cNvPr>
          <p:cNvCxnSpPr/>
          <p:nvPr/>
        </p:nvCxnSpPr>
        <p:spPr bwMode="auto">
          <a:xfrm flipH="1">
            <a:off x="15976496" y="2660137"/>
            <a:ext cx="0" cy="989746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72367BCF-1A66-B914-B088-FB76745A5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908" y="576072"/>
            <a:ext cx="11241231" cy="851506"/>
          </a:xfrm>
        </p:spPr>
        <p:txBody>
          <a:bodyPr lIns="0" tIns="0" rIns="0" bIns="0" anchor="t"/>
          <a:lstStyle/>
          <a:p>
            <a:r>
              <a:rPr lang="en-US" sz="4800" dirty="0"/>
              <a:t>Executive summary</a:t>
            </a:r>
          </a:p>
        </p:txBody>
      </p:sp>
      <p:sp>
        <p:nvSpPr>
          <p:cNvPr id="45" name="Google Shape;492;p74">
            <a:extLst>
              <a:ext uri="{FF2B5EF4-FFF2-40B4-BE49-F238E27FC236}">
                <a16:creationId xmlns:a16="http://schemas.microsoft.com/office/drawing/2014/main" id="{400ED420-3AC2-1856-B966-278E91C1D678}"/>
              </a:ext>
            </a:extLst>
          </p:cNvPr>
          <p:cNvSpPr/>
          <p:nvPr/>
        </p:nvSpPr>
        <p:spPr>
          <a:xfrm>
            <a:off x="16472977" y="9247545"/>
            <a:ext cx="6641844" cy="151330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en-US" sz="6400">
                <a:solidFill>
                  <a:schemeClr val="accent1"/>
                </a:solidFill>
                <a:latin typeface="IBM Plex Sans" panose="020B0503050203000203" pitchFamily="34" charset="0"/>
                <a:ea typeface="Inter SemiBold" panose="02000503000000020004" pitchFamily="2" charset="0"/>
                <a:cs typeface="Inter"/>
                <a:sym typeface="Inter"/>
              </a:rPr>
              <a:t>0.0%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en-US" sz="2400">
                <a:latin typeface="IBM Plex Sans" panose="020B0503050203000203" pitchFamily="34" charset="0"/>
                <a:ea typeface="Inter SemiBold" panose="02000503000000020004" pitchFamily="2" charset="0"/>
                <a:cs typeface="Inter"/>
                <a:sym typeface="Inter"/>
              </a:rPr>
              <a:t>Return on Investment</a:t>
            </a:r>
            <a:endParaRPr>
              <a:latin typeface="IBM Plex Sans" panose="020B0503050203000203" pitchFamily="34" charset="0"/>
              <a:ea typeface="Inter SemiBold" panose="02000503000000020004" pitchFamily="2" charset="0"/>
              <a:cs typeface="Inter"/>
              <a:sym typeface="Inter"/>
            </a:endParaRPr>
          </a:p>
        </p:txBody>
      </p:sp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B76EFD98-9448-D94B-5EB1-86EF672EAD17}"/>
              </a:ext>
            </a:extLst>
          </p:cNvPr>
          <p:cNvSpPr txBox="1"/>
          <p:nvPr/>
        </p:nvSpPr>
        <p:spPr>
          <a:xfrm>
            <a:off x="22798382" y="12766403"/>
            <a:ext cx="995944" cy="380732"/>
          </a:xfrm>
          <a:prstGeom prst="rect">
            <a:avLst/>
          </a:prstGeom>
        </p:spPr>
        <p:txBody>
          <a:bodyPr/>
          <a:lstStyle>
            <a:defPPr>
              <a:defRPr lang="en-CH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829014">
              <a:defRPr/>
            </a:pPr>
            <a:fld id="{86CB4B4D-7CA3-9044-876B-883B54F8677D}" type="slidenum">
              <a:rPr lang="en-US" sz="1600">
                <a:solidFill>
                  <a:srgbClr val="000000"/>
                </a:solidFill>
                <a:latin typeface="IBM Plex Sans" panose="020B0503050203000203" pitchFamily="34" charset="0"/>
                <a:sym typeface="IBM Plex Sans"/>
              </a:rPr>
              <a:pPr algn="r" defTabSz="1829014">
                <a:defRPr/>
              </a:pPr>
              <a:t>6</a:t>
            </a:fld>
            <a:endParaRPr lang="en-US" sz="1600">
              <a:solidFill>
                <a:srgbClr val="000000"/>
              </a:solidFill>
              <a:latin typeface="IBM Plex Sans" panose="020B0503050203000203" pitchFamily="34" charset="0"/>
              <a:sym typeface="IBM Plex Sans"/>
            </a:endParaRPr>
          </a:p>
        </p:txBody>
      </p:sp>
      <p:sp>
        <p:nvSpPr>
          <p:cNvPr id="3" name="Google Shape;482;p74">
            <a:extLst>
              <a:ext uri="{FF2B5EF4-FFF2-40B4-BE49-F238E27FC236}">
                <a16:creationId xmlns:a16="http://schemas.microsoft.com/office/drawing/2014/main" id="{0B04C825-E946-2297-B52E-1AD662B6A1CF}"/>
              </a:ext>
            </a:extLst>
          </p:cNvPr>
          <p:cNvSpPr/>
          <p:nvPr/>
        </p:nvSpPr>
        <p:spPr>
          <a:xfrm>
            <a:off x="560905" y="2981960"/>
            <a:ext cx="6736243" cy="3894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lnSpc>
                <a:spcPct val="115000"/>
              </a:lnSpc>
              <a:spcBef>
                <a:spcPts val="1500"/>
              </a:spcBef>
              <a:buSzTx/>
              <a:buFont typeface="Arial" panose="020B0604020202020204" pitchFamily="34" charset="0"/>
              <a:buChar char="•"/>
            </a:pPr>
            <a:r>
              <a:rPr lang="en-US" sz="2400">
                <a:latin typeface="IBM Plex Sans" panose="020B0503050203000203" pitchFamily="34" charset="0"/>
                <a:ea typeface="Inter"/>
                <a:sym typeface="Inter"/>
              </a:rPr>
              <a:t>Organizations need to continuously optimize operations to reduce costs and improve performance.</a:t>
            </a:r>
            <a:endParaRPr sz="2100">
              <a:latin typeface="IBM Plex Sans" panose="020B0503050203000203" pitchFamily="34" charset="0"/>
            </a:endParaRPr>
          </a:p>
          <a:p>
            <a:pPr marL="342900" indent="-342900">
              <a:lnSpc>
                <a:spcPct val="115000"/>
              </a:lnSpc>
              <a:spcBef>
                <a:spcPts val="1500"/>
              </a:spcBef>
              <a:buSzTx/>
              <a:buFont typeface="Arial" panose="020B0604020202020204" pitchFamily="34" charset="0"/>
              <a:buChar char="•"/>
            </a:pPr>
            <a:r>
              <a:rPr lang="en-US" sz="2400">
                <a:latin typeface="IBM Plex Sans" panose="020B0503050203000203" pitchFamily="34" charset="0"/>
                <a:ea typeface="Inter"/>
                <a:sym typeface="Inter"/>
              </a:rPr>
              <a:t>Modern business demands seamless, data-driven processes that enhance employee and customer experiences.</a:t>
            </a:r>
            <a:endParaRPr sz="2100">
              <a:latin typeface="IBM Plex Sans" panose="020B0503050203000203" pitchFamily="34" charset="0"/>
            </a:endParaRPr>
          </a:p>
          <a:p>
            <a:pPr marL="342900" indent="-342900">
              <a:lnSpc>
                <a:spcPct val="115000"/>
              </a:lnSpc>
              <a:spcBef>
                <a:spcPts val="1500"/>
              </a:spcBef>
              <a:buSzTx/>
              <a:buFont typeface="Arial" panose="020B0604020202020204" pitchFamily="34" charset="0"/>
              <a:buChar char="•"/>
            </a:pPr>
            <a:r>
              <a:rPr lang="en-US" sz="2400">
                <a:latin typeface="IBM Plex Sans" panose="020B0503050203000203" pitchFamily="34" charset="0"/>
                <a:ea typeface="Inter"/>
                <a:sym typeface="Inter"/>
              </a:rPr>
              <a:t>Innovation requires tools that eliminate inefficiencies and enable people to focus on higher-value work.</a:t>
            </a:r>
            <a:endParaRPr sz="2100">
              <a:latin typeface="IBM Plex Sans" panose="020B0503050203000203" pitchFamily="34" charset="0"/>
            </a:endParaRPr>
          </a:p>
        </p:txBody>
      </p:sp>
      <p:sp>
        <p:nvSpPr>
          <p:cNvPr id="7" name="Google Shape;482;p74">
            <a:extLst>
              <a:ext uri="{FF2B5EF4-FFF2-40B4-BE49-F238E27FC236}">
                <a16:creationId xmlns:a16="http://schemas.microsoft.com/office/drawing/2014/main" id="{82951B91-DBB6-F715-0D6F-9BCD3C21C8CB}"/>
              </a:ext>
            </a:extLst>
          </p:cNvPr>
          <p:cNvSpPr/>
          <p:nvPr/>
        </p:nvSpPr>
        <p:spPr>
          <a:xfrm>
            <a:off x="868728" y="8307477"/>
            <a:ext cx="6881155" cy="70741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buSzPts val="1100"/>
            </a:pPr>
            <a:r>
              <a:rPr lang="en-US" sz="3200" dirty="0">
                <a:solidFill>
                  <a:schemeClr val="accent1"/>
                </a:solidFill>
                <a:latin typeface="IBM Plex Sans" panose="020B0503050203000203" pitchFamily="34" charset="0"/>
                <a:ea typeface="Inter SemiBold" panose="02000503000000020004" pitchFamily="2" charset="0"/>
                <a:cs typeface="Inter"/>
                <a:sym typeface="Inter"/>
              </a:rPr>
              <a:t>Key Benefits and Estimated Impact</a:t>
            </a:r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D07D372-298D-F5FF-E5DE-8BE2C682F518}"/>
              </a:ext>
            </a:extLst>
          </p:cNvPr>
          <p:cNvCxnSpPr>
            <a:cxnSpLocks/>
          </p:cNvCxnSpPr>
          <p:nvPr/>
        </p:nvCxnSpPr>
        <p:spPr bwMode="auto">
          <a:xfrm flipH="1">
            <a:off x="868728" y="7827818"/>
            <a:ext cx="1510776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96245C2-958A-B4CD-C59A-DC3D351DA5C2}"/>
              </a:ext>
            </a:extLst>
          </p:cNvPr>
          <p:cNvGrpSpPr/>
          <p:nvPr/>
        </p:nvGrpSpPr>
        <p:grpSpPr>
          <a:xfrm>
            <a:off x="796070" y="9014891"/>
            <a:ext cx="15561749" cy="3542713"/>
            <a:chOff x="796070" y="9014891"/>
            <a:chExt cx="15561749" cy="3542713"/>
          </a:xfrm>
        </p:grpSpPr>
        <p:graphicFrame>
          <p:nvGraphicFramePr>
            <p:cNvPr id="6" name="top_benefits_chart_std">
              <a:extLst>
                <a:ext uri="{FF2B5EF4-FFF2-40B4-BE49-F238E27FC236}">
                  <a16:creationId xmlns:a16="http://schemas.microsoft.com/office/drawing/2014/main" id="{98D443CB-EFF1-887E-8B6D-F9D2FCBB6D7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925828004"/>
                </p:ext>
              </p:extLst>
            </p:nvPr>
          </p:nvGraphicFramePr>
          <p:xfrm>
            <a:off x="796070" y="9056204"/>
            <a:ext cx="15561749" cy="344522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3EA1F75-8AE4-7B94-E421-F5BE2039A44A}"/>
                </a:ext>
              </a:extLst>
            </p:cNvPr>
            <p:cNvSpPr/>
            <p:nvPr/>
          </p:nvSpPr>
          <p:spPr bwMode="auto">
            <a:xfrm>
              <a:off x="16161895" y="9014891"/>
              <a:ext cx="125683" cy="3542713"/>
            </a:xfrm>
            <a:prstGeom prst="rect">
              <a:avLst/>
            </a:prstGeom>
            <a:solidFill>
              <a:schemeClr val="bg1"/>
            </a:solidFill>
            <a:ln w="19050">
              <a:noFill/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588059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CE421-C1D9-A344-3559-00614F896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91B38EB-185C-EC93-3A78-E8A237DF0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3560" y="12557604"/>
            <a:ext cx="1638086" cy="609520"/>
          </a:xfrm>
          <a:prstGeom prst="rect">
            <a:avLst/>
          </a:prstGeom>
        </p:spPr>
      </p:pic>
      <p:sp>
        <p:nvSpPr>
          <p:cNvPr id="10" name="Google Shape;289;p43">
            <a:extLst>
              <a:ext uri="{FF2B5EF4-FFF2-40B4-BE49-F238E27FC236}">
                <a16:creationId xmlns:a16="http://schemas.microsoft.com/office/drawing/2014/main" id="{79E901FE-3577-D557-45EB-8BE3A7EFB785}"/>
              </a:ext>
            </a:extLst>
          </p:cNvPr>
          <p:cNvSpPr txBox="1"/>
          <p:nvPr/>
        </p:nvSpPr>
        <p:spPr>
          <a:xfrm>
            <a:off x="737103" y="5762846"/>
            <a:ext cx="21576457" cy="184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spAutoFit/>
          </a:bodyPr>
          <a:lstStyle/>
          <a:p>
            <a:r>
              <a:rPr lang="en-US" sz="8800">
                <a:solidFill>
                  <a:schemeClr val="accent1"/>
                </a:solidFill>
                <a:latin typeface="IBM Plex Sans" panose="020B0503050203000203" pitchFamily="34" charset="0"/>
                <a:ea typeface="Inter" panose="02000503000000020004" pitchFamily="2" charset="0"/>
                <a:cs typeface="Arial" panose="020B0604020202020204" pitchFamily="34" charset="0"/>
                <a:sym typeface="Open Sans"/>
              </a:rPr>
              <a:t>Appendix</a:t>
            </a:r>
            <a:endParaRPr lang="en-US" sz="8800">
              <a:solidFill>
                <a:schemeClr val="accent1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76486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 descr="Blue 10 quarter slide background">
            <a:extLst>
              <a:ext uri="{FF2B5EF4-FFF2-40B4-BE49-F238E27FC236}">
                <a16:creationId xmlns:a16="http://schemas.microsoft.com/office/drawing/2014/main" id="{819C309D-AEDD-8801-7B66-8C92BF58AA8D}"/>
              </a:ext>
            </a:extLst>
          </p:cNvPr>
          <p:cNvSpPr/>
          <p:nvPr/>
        </p:nvSpPr>
        <p:spPr bwMode="auto">
          <a:xfrm>
            <a:off x="1586" y="1787"/>
            <a:ext cx="8763273" cy="13714214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28" tIns="91428" rIns="91428" bIns="91428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1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A842CD-571C-ED6B-3051-49A86D229D50}"/>
              </a:ext>
            </a:extLst>
          </p:cNvPr>
          <p:cNvSpPr txBox="1"/>
          <p:nvPr/>
        </p:nvSpPr>
        <p:spPr>
          <a:xfrm>
            <a:off x="542363" y="2231519"/>
            <a:ext cx="7006480" cy="548592"/>
          </a:xfrm>
          <a:prstGeom prst="rect">
            <a:avLst/>
          </a:prstGeom>
          <a:noFill/>
        </p:spPr>
        <p:txBody>
          <a:bodyPr wrap="square" lIns="182832" tIns="91416" rIns="182832" bIns="91416" anchor="t">
            <a:spAutoFit/>
          </a:bodyPr>
          <a:lstStyle/>
          <a:p>
            <a:pPr defTabSz="914080">
              <a:defRPr/>
            </a:pPr>
            <a:r>
              <a:rPr lang="en-US" sz="2400">
                <a:latin typeface="IBM Plex Sans" panose="020B0503050203000203" pitchFamily="34" charset="0"/>
                <a:ea typeface="Inter" panose="02000503000000020004" pitchFamily="2" charset="0"/>
                <a:cs typeface="Arial" panose="020B0604020202020204" pitchFamily="34" charset="0"/>
              </a:rPr>
              <a:t>3-year total benefit</a:t>
            </a:r>
          </a:p>
        </p:txBody>
      </p:sp>
      <p:sp>
        <p:nvSpPr>
          <p:cNvPr id="4" name="Freeform 15">
            <a:extLst>
              <a:ext uri="{FF2B5EF4-FFF2-40B4-BE49-F238E27FC236}">
                <a16:creationId xmlns:a16="http://schemas.microsoft.com/office/drawing/2014/main" id="{03D91D2A-70D0-B1DD-1B0C-4C75DF8B85B3}"/>
              </a:ext>
            </a:extLst>
          </p:cNvPr>
          <p:cNvSpPr/>
          <p:nvPr/>
        </p:nvSpPr>
        <p:spPr>
          <a:xfrm>
            <a:off x="660576" y="1173001"/>
            <a:ext cx="5145864" cy="1043288"/>
          </a:xfrm>
          <a:custGeom>
            <a:avLst/>
            <a:gdLst>
              <a:gd name="connsiteX0" fmla="*/ 0 w 2816352"/>
              <a:gd name="connsiteY0" fmla="*/ 0 h 731519"/>
              <a:gd name="connsiteX1" fmla="*/ 2816352 w 2816352"/>
              <a:gd name="connsiteY1" fmla="*/ 0 h 731519"/>
              <a:gd name="connsiteX2" fmla="*/ 2816352 w 2816352"/>
              <a:gd name="connsiteY2" fmla="*/ 731519 h 731519"/>
              <a:gd name="connsiteX3" fmla="*/ 0 w 2816352"/>
              <a:gd name="connsiteY3" fmla="*/ 731519 h 731519"/>
              <a:gd name="connsiteX4" fmla="*/ 0 w 2816352"/>
              <a:gd name="connsiteY4" fmla="*/ 0 h 731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6352" h="731519">
                <a:moveTo>
                  <a:pt x="0" y="0"/>
                </a:moveTo>
                <a:lnTo>
                  <a:pt x="2816352" y="0"/>
                </a:lnTo>
                <a:lnTo>
                  <a:pt x="2816352" y="731519"/>
                </a:lnTo>
                <a:lnTo>
                  <a:pt x="0" y="731519"/>
                </a:lnTo>
                <a:lnTo>
                  <a:pt x="0" y="0"/>
                </a:lnTo>
                <a:close/>
              </a:path>
            </a:pathLst>
          </a:custGeom>
          <a:noFill/>
          <a:effectLst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b" anchorCtr="0">
            <a:noAutofit/>
          </a:bodyPr>
          <a:lstStyle/>
          <a:p>
            <a:pPr fontAlgn="t"/>
            <a:r>
              <a:rPr lang="en-US" sz="9600">
                <a:solidFill>
                  <a:schemeClr val="accent1"/>
                </a:solidFill>
                <a:latin typeface="IBM Plex Sans" panose="020B0503050203000203" pitchFamily="34" charset="0"/>
                <a:ea typeface="Inter" panose="02000503000000020004" pitchFamily="2" charset="0"/>
              </a:rPr>
              <a:t>$2.62M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C1C5A0A-5BAC-DDB8-1EA3-911B243DD7BD}"/>
              </a:ext>
            </a:extLst>
          </p:cNvPr>
          <p:cNvSpPr txBox="1"/>
          <p:nvPr/>
        </p:nvSpPr>
        <p:spPr>
          <a:xfrm>
            <a:off x="660576" y="4446021"/>
            <a:ext cx="7548343" cy="7660216"/>
          </a:xfrm>
          <a:prstGeom prst="rect">
            <a:avLst/>
          </a:prstGeom>
        </p:spPr>
        <p:txBody>
          <a:bodyPr vert="horz" lIns="0" tIns="0" rIns="182832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Tx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752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4263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477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82880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latin typeface="IBM Plex Sans" panose="020B0503050203000203" pitchFamily="34" charset="0"/>
                <a:ea typeface="Inter" panose="02000503000000020004" pitchFamily="2" charset="0"/>
                <a:cs typeface="Arial" panose="020B0604020202020204" pitchFamily="34" charset="0"/>
              </a:rPr>
              <a:t>Same staff supports more growth, higher‑value work (optimization, data initiatives), or avoids incremental hiring.</a:t>
            </a:r>
          </a:p>
          <a:p>
            <a:pPr defTabSz="182880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latin typeface="IBM Plex Sans" panose="020B0503050203000203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defTabSz="182880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latin typeface="IBM Plex Sans" panose="020B0503050203000203" pitchFamily="34" charset="0"/>
                <a:ea typeface="Inter" panose="02000503000000020004" pitchFamily="2" charset="0"/>
                <a:cs typeface="Arial" panose="020B0604020202020204" pitchFamily="34" charset="0"/>
                <a:hlinkClick r:id="rId2"/>
              </a:rPr>
              <a:t>IBM Genius Hub Product Page</a:t>
            </a:r>
            <a:endParaRPr lang="en-US" dirty="0">
              <a:latin typeface="IBM Plex Sans" panose="020B0503050203000203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A926233-0719-552B-DEC4-1FC9B862C433}"/>
              </a:ext>
            </a:extLst>
          </p:cNvPr>
          <p:cNvSpPr txBox="1"/>
          <p:nvPr/>
        </p:nvSpPr>
        <p:spPr>
          <a:xfrm>
            <a:off x="542362" y="2761159"/>
            <a:ext cx="7887959" cy="920180"/>
          </a:xfrm>
          <a:prstGeom prst="rect">
            <a:avLst/>
          </a:prstGeom>
          <a:noFill/>
        </p:spPr>
        <p:txBody>
          <a:bodyPr vert="horz" lIns="182880" tIns="91440" rIns="182880" bIns="91440" rtlCol="0" anchor="t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000">
                <a:solidFill>
                  <a:schemeClr val="tx1"/>
                </a:solidFill>
                <a:latin typeface="IBM Plex Sans" panose="020B0503050203000203" pitchFamily="34" charset="0"/>
                <a:ea typeface="Inter" panose="02000503000000020004" pitchFamily="2" charset="0"/>
                <a:cs typeface="Arial" panose="020B0604020202020204" pitchFamily="34" charset="0"/>
              </a:rPr>
              <a:t>DBA Productivity &amp; Labor Cost Avoidance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0742EF7-90F7-8BB5-8426-CDA27DFBF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908372"/>
              </p:ext>
            </p:extLst>
          </p:nvPr>
        </p:nvGraphicFramePr>
        <p:xfrm>
          <a:off x="9367024" y="1391008"/>
          <a:ext cx="14316592" cy="713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392">
                  <a:extLst>
                    <a:ext uri="{9D8B030D-6E8A-4147-A177-3AD203B41FA5}">
                      <a16:colId xmlns:a16="http://schemas.microsoft.com/office/drawing/2014/main" val="617011890"/>
                    </a:ext>
                  </a:extLst>
                </a:gridCol>
                <a:gridCol w="5613400">
                  <a:extLst>
                    <a:ext uri="{9D8B030D-6E8A-4147-A177-3AD203B41FA5}">
                      <a16:colId xmlns:a16="http://schemas.microsoft.com/office/drawing/2014/main" val="424662477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48714899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98382511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965270881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1" i="0" u="none" strike="noStrike" kern="1200" cap="none" spc="0" normalizeH="0" baseline="0" noProof="0">
                          <a:solidFill>
                            <a:srgbClr val="595959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A</a:t>
                      </a:r>
                      <a:endParaRPr lang="en-US" sz="2000" b="0" i="0" u="none" strike="noStrike" noProof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Db2 DBAs supporting enterprise workloads</a:t>
                      </a: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20</a:t>
                      </a: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kumimoji="0" lang="en-US" sz="2000" b="0" i="0" u="none" strike="noStrike" kern="1200" cap="none" spc="0" normalizeH="0" baseline="0" noProof="0">
                        <a:solidFill>
                          <a:srgbClr val="000000"/>
                        </a:solidFill>
                        <a:uLnTx/>
                        <a:uFillTx/>
                        <a:latin typeface="IBM Plex Sans" panose="020B0503050203000203" pitchFamily="34" charset="0"/>
                        <a:ea typeface="Inter" panose="02000503000000020004" pitchFamily="2" charset="0"/>
                        <a:cs typeface="Arial"/>
                        <a:sym typeface="IBM Plex Sans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kumimoji="0" lang="en-US" sz="2000" b="0" i="0" u="none" strike="noStrike" kern="1200" cap="none" spc="0" normalizeH="0" baseline="0" noProof="0">
                        <a:solidFill>
                          <a:srgbClr val="000000"/>
                        </a:solidFill>
                        <a:uLnTx/>
                        <a:uFillTx/>
                        <a:latin typeface="IBM Plex Sans" panose="020B0503050203000203" pitchFamily="34" charset="0"/>
                        <a:ea typeface="Inter" panose="02000503000000020004" pitchFamily="2" charset="0"/>
                        <a:cs typeface="Arial"/>
                        <a:sym typeface="IBM Plex Sans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256669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1" i="0" u="none" strike="noStrike" kern="1200" cap="none" spc="0" normalizeH="0" baseline="0" noProof="0">
                          <a:solidFill>
                            <a:srgbClr val="595959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B</a:t>
                      </a:r>
                      <a:endParaRPr lang="en-US" sz="2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"All-in"DBA annual pay</a:t>
                      </a:r>
                      <a:endParaRPr lang="en-US" sz="2000" b="0" i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$180,000</a:t>
                      </a:r>
                      <a:endParaRPr lang="en-US" sz="2000" b="0" i="0" u="none" strike="noStrike" noProof="0">
                        <a:solidFill>
                          <a:srgbClr val="000000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773786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1" i="0" u="none" strike="noStrike" kern="1200" cap="none" spc="0" normalizeH="0" baseline="0" noProof="0">
                          <a:solidFill>
                            <a:srgbClr val="595959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C</a:t>
                      </a:r>
                      <a:endParaRPr lang="en-US" sz="2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% of DBA time spent on operations</a:t>
                      </a: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85%</a:t>
                      </a: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51823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1" i="0" u="none" strike="noStrike" kern="1200" cap="none" spc="0" normalizeH="0" baseline="0" noProof="0">
                          <a:solidFill>
                            <a:srgbClr val="595959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D</a:t>
                      </a:r>
                      <a:endParaRPr lang="en-US" sz="2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Reduction in manual operational effort driven by Db2 Genius Hub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30%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-US" sz="2000" b="0" i="0" u="none" strike="noStrike" noProof="0">
                        <a:solidFill>
                          <a:srgbClr val="000000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281878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1" i="0" u="none" strike="noStrike" kern="1200" cap="none" spc="0" normalizeH="0" baseline="0" noProof="0">
                          <a:solidFill>
                            <a:srgbClr val="595959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E</a:t>
                      </a:r>
                      <a:endParaRPr lang="en-US" sz="2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Total DBA labor cost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$3,600,000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02147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1" i="0" u="none" strike="noStrike" kern="1200" cap="none" spc="0" normalizeH="0" baseline="0" noProof="0">
                          <a:solidFill>
                            <a:srgbClr val="595959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F</a:t>
                      </a:r>
                      <a:endParaRPr lang="en-US" sz="2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Operational portion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$3,060,000</a:t>
                      </a: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7014698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Year 1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Year 2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Year 3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88589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1" i="0" u="none" strike="noStrike" kern="1200" cap="none" spc="0" normalizeH="0" baseline="0" noProof="0">
                          <a:solidFill>
                            <a:srgbClr val="595959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G</a:t>
                      </a:r>
                      <a:endParaRPr lang="en-US" sz="2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Benefit Realization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90%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95%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100%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41892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400" b="1" i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b="1" i="0" u="none" strike="noStrike" noProof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  <a:ea typeface="Inter" panose="02000503000000020004" pitchFamily="2" charset="0"/>
                        </a:rPr>
                        <a:t>Annual Benefit</a:t>
                      </a:r>
                      <a:endParaRPr lang="en-US" sz="2400" b="1" i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b="1" i="0" u="none" strike="noStrike" noProof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  <a:ea typeface="Inter" panose="02000503000000020004" pitchFamily="2" charset="0"/>
                        </a:rPr>
                        <a:t>$826,200</a:t>
                      </a:r>
                      <a:endParaRPr lang="en-US" sz="2400" b="1" i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b="1" i="0" u="none" strike="noStrike" noProof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  <a:ea typeface="Inter" panose="02000503000000020004" pitchFamily="2" charset="0"/>
                        </a:rPr>
                        <a:t>$872,100</a:t>
                      </a:r>
                      <a:endParaRPr lang="en-US" sz="2400" b="1" i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b="1" i="0" u="none" strike="noStrike" noProof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  <a:ea typeface="Inter" panose="02000503000000020004" pitchFamily="2" charset="0"/>
                        </a:rPr>
                        <a:t>$918,000</a:t>
                      </a:r>
                      <a:endParaRPr lang="en-US" sz="2400" b="1" i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50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036362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 descr="Blue 10 quarter slide background">
            <a:extLst>
              <a:ext uri="{FF2B5EF4-FFF2-40B4-BE49-F238E27FC236}">
                <a16:creationId xmlns:a16="http://schemas.microsoft.com/office/drawing/2014/main" id="{819C309D-AEDD-8801-7B66-8C92BF58AA8D}"/>
              </a:ext>
            </a:extLst>
          </p:cNvPr>
          <p:cNvSpPr/>
          <p:nvPr/>
        </p:nvSpPr>
        <p:spPr bwMode="auto">
          <a:xfrm>
            <a:off x="1586" y="1787"/>
            <a:ext cx="8763273" cy="13714214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28" tIns="91428" rIns="91428" bIns="91428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1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A842CD-571C-ED6B-3051-49A86D229D50}"/>
              </a:ext>
            </a:extLst>
          </p:cNvPr>
          <p:cNvSpPr txBox="1"/>
          <p:nvPr/>
        </p:nvSpPr>
        <p:spPr>
          <a:xfrm>
            <a:off x="542363" y="2231519"/>
            <a:ext cx="7006480" cy="548592"/>
          </a:xfrm>
          <a:prstGeom prst="rect">
            <a:avLst/>
          </a:prstGeom>
          <a:noFill/>
        </p:spPr>
        <p:txBody>
          <a:bodyPr wrap="square" lIns="182832" tIns="91416" rIns="182832" bIns="91416" anchor="t">
            <a:spAutoFit/>
          </a:bodyPr>
          <a:lstStyle/>
          <a:p>
            <a:pPr defTabSz="914080">
              <a:defRPr/>
            </a:pPr>
            <a:r>
              <a:rPr lang="en-US" sz="2400">
                <a:latin typeface="IBM Plex Sans" panose="020B0503050203000203" pitchFamily="34" charset="0"/>
                <a:ea typeface="Inter" panose="02000503000000020004" pitchFamily="2" charset="0"/>
                <a:cs typeface="Arial" panose="020B0604020202020204" pitchFamily="34" charset="0"/>
              </a:rPr>
              <a:t>3-year total benefit</a:t>
            </a:r>
          </a:p>
        </p:txBody>
      </p:sp>
      <p:sp>
        <p:nvSpPr>
          <p:cNvPr id="4" name="Freeform 15">
            <a:extLst>
              <a:ext uri="{FF2B5EF4-FFF2-40B4-BE49-F238E27FC236}">
                <a16:creationId xmlns:a16="http://schemas.microsoft.com/office/drawing/2014/main" id="{03D91D2A-70D0-B1DD-1B0C-4C75DF8B85B3}"/>
              </a:ext>
            </a:extLst>
          </p:cNvPr>
          <p:cNvSpPr/>
          <p:nvPr/>
        </p:nvSpPr>
        <p:spPr>
          <a:xfrm>
            <a:off x="660576" y="1173001"/>
            <a:ext cx="5145864" cy="1043288"/>
          </a:xfrm>
          <a:custGeom>
            <a:avLst/>
            <a:gdLst>
              <a:gd name="connsiteX0" fmla="*/ 0 w 2816352"/>
              <a:gd name="connsiteY0" fmla="*/ 0 h 731519"/>
              <a:gd name="connsiteX1" fmla="*/ 2816352 w 2816352"/>
              <a:gd name="connsiteY1" fmla="*/ 0 h 731519"/>
              <a:gd name="connsiteX2" fmla="*/ 2816352 w 2816352"/>
              <a:gd name="connsiteY2" fmla="*/ 731519 h 731519"/>
              <a:gd name="connsiteX3" fmla="*/ 0 w 2816352"/>
              <a:gd name="connsiteY3" fmla="*/ 731519 h 731519"/>
              <a:gd name="connsiteX4" fmla="*/ 0 w 2816352"/>
              <a:gd name="connsiteY4" fmla="*/ 0 h 731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6352" h="731519">
                <a:moveTo>
                  <a:pt x="0" y="0"/>
                </a:moveTo>
                <a:lnTo>
                  <a:pt x="2816352" y="0"/>
                </a:lnTo>
                <a:lnTo>
                  <a:pt x="2816352" y="731519"/>
                </a:lnTo>
                <a:lnTo>
                  <a:pt x="0" y="731519"/>
                </a:lnTo>
                <a:lnTo>
                  <a:pt x="0" y="0"/>
                </a:lnTo>
                <a:close/>
              </a:path>
            </a:pathLst>
          </a:custGeom>
          <a:noFill/>
          <a:effectLst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b" anchorCtr="0">
            <a:noAutofit/>
          </a:bodyPr>
          <a:lstStyle/>
          <a:p>
            <a:pPr fontAlgn="t"/>
            <a:r>
              <a:rPr lang="en-US" sz="9600">
                <a:solidFill>
                  <a:schemeClr val="accent1"/>
                </a:solidFill>
                <a:latin typeface="IBM Plex Sans" panose="020B0503050203000203" pitchFamily="34" charset="0"/>
                <a:ea typeface="Inter" panose="02000503000000020004" pitchFamily="2" charset="0"/>
              </a:rPr>
              <a:t>$1.71M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C1C5A0A-5BAC-DDB8-1EA3-911B243DD7BD}"/>
              </a:ext>
            </a:extLst>
          </p:cNvPr>
          <p:cNvSpPr txBox="1"/>
          <p:nvPr/>
        </p:nvSpPr>
        <p:spPr>
          <a:xfrm>
            <a:off x="660576" y="4446021"/>
            <a:ext cx="7548343" cy="7660216"/>
          </a:xfrm>
          <a:prstGeom prst="rect">
            <a:avLst/>
          </a:prstGeom>
        </p:spPr>
        <p:txBody>
          <a:bodyPr vert="horz" lIns="0" tIns="0" rIns="182832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Tx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752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4263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477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82880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latin typeface="IBM Plex Sans" panose="020B0503050203000203" pitchFamily="34" charset="0"/>
                <a:ea typeface="Inter" panose="02000503000000020004" pitchFamily="2" charset="0"/>
                <a:cs typeface="Arial" panose="020B0604020202020204" pitchFamily="34" charset="0"/>
              </a:rPr>
              <a:t>Reduced business disruption, fewer escalations, improved internal SLAs.</a:t>
            </a:r>
          </a:p>
          <a:p>
            <a:pPr defTabSz="182880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latin typeface="IBM Plex Sans" panose="020B0503050203000203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defTabSz="182880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latin typeface="IBM Plex Sans" panose="020B0503050203000203" pitchFamily="34" charset="0"/>
                <a:ea typeface="Inter" panose="02000503000000020004" pitchFamily="2" charset="0"/>
                <a:cs typeface="Arial" panose="020B0604020202020204" pitchFamily="34" charset="0"/>
                <a:hlinkClick r:id="rId2"/>
              </a:rPr>
              <a:t>IBM Genius Hub Product Page</a:t>
            </a:r>
            <a:endParaRPr lang="en-US" dirty="0">
              <a:latin typeface="IBM Plex Sans" panose="020B0503050203000203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A926233-0719-552B-DEC4-1FC9B862C433}"/>
              </a:ext>
            </a:extLst>
          </p:cNvPr>
          <p:cNvSpPr txBox="1"/>
          <p:nvPr/>
        </p:nvSpPr>
        <p:spPr>
          <a:xfrm>
            <a:off x="542362" y="2761159"/>
            <a:ext cx="7887959" cy="920180"/>
          </a:xfrm>
          <a:prstGeom prst="rect">
            <a:avLst/>
          </a:prstGeom>
          <a:noFill/>
        </p:spPr>
        <p:txBody>
          <a:bodyPr vert="horz" lIns="182880" tIns="91440" rIns="182880" bIns="91440" rtlCol="0" anchor="t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000">
                <a:solidFill>
                  <a:schemeClr val="tx1"/>
                </a:solidFill>
                <a:latin typeface="IBM Plex Sans" panose="020B0503050203000203" pitchFamily="34" charset="0"/>
                <a:ea typeface="Inter" panose="02000503000000020004" pitchFamily="2" charset="0"/>
                <a:cs typeface="Arial" panose="020B0604020202020204" pitchFamily="34" charset="0"/>
              </a:rPr>
              <a:t>Faster Incident Resolution (MTTR Reduction)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0742EF7-90F7-8BB5-8426-CDA27DFBF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908372"/>
              </p:ext>
            </p:extLst>
          </p:nvPr>
        </p:nvGraphicFramePr>
        <p:xfrm>
          <a:off x="9367024" y="1391008"/>
          <a:ext cx="14316592" cy="554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392">
                  <a:extLst>
                    <a:ext uri="{9D8B030D-6E8A-4147-A177-3AD203B41FA5}">
                      <a16:colId xmlns:a16="http://schemas.microsoft.com/office/drawing/2014/main" val="617011890"/>
                    </a:ext>
                  </a:extLst>
                </a:gridCol>
                <a:gridCol w="5613400">
                  <a:extLst>
                    <a:ext uri="{9D8B030D-6E8A-4147-A177-3AD203B41FA5}">
                      <a16:colId xmlns:a16="http://schemas.microsoft.com/office/drawing/2014/main" val="424662477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48714899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98382511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965270881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1" i="0" u="none" strike="noStrike" kern="1200" cap="none" spc="0" normalizeH="0" baseline="0" noProof="0">
                          <a:solidFill>
                            <a:srgbClr val="595959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A</a:t>
                      </a:r>
                      <a:endParaRPr lang="en-US" sz="2000" b="0" i="0" u="none" strike="noStrike" noProof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Material Db2 performance or availability incidents, per year</a:t>
                      </a: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40</a:t>
                      </a: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kumimoji="0" lang="en-US" sz="2000" b="0" i="0" u="none" strike="noStrike" kern="1200" cap="none" spc="0" normalizeH="0" baseline="0" noProof="0">
                        <a:solidFill>
                          <a:srgbClr val="000000"/>
                        </a:solidFill>
                        <a:uLnTx/>
                        <a:uFillTx/>
                        <a:latin typeface="IBM Plex Sans" panose="020B0503050203000203" pitchFamily="34" charset="0"/>
                        <a:ea typeface="Inter" panose="02000503000000020004" pitchFamily="2" charset="0"/>
                        <a:cs typeface="Arial"/>
                        <a:sym typeface="IBM Plex Sans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kumimoji="0" lang="en-US" sz="2000" b="0" i="0" u="none" strike="noStrike" kern="1200" cap="none" spc="0" normalizeH="0" baseline="0" noProof="0">
                        <a:solidFill>
                          <a:srgbClr val="000000"/>
                        </a:solidFill>
                        <a:uLnTx/>
                        <a:uFillTx/>
                        <a:latin typeface="IBM Plex Sans" panose="020B0503050203000203" pitchFamily="34" charset="0"/>
                        <a:ea typeface="Inter" panose="02000503000000020004" pitchFamily="2" charset="0"/>
                        <a:cs typeface="Arial"/>
                        <a:sym typeface="IBM Plex Sans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256669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1" i="0" u="none" strike="noStrike" kern="1200" cap="none" spc="0" normalizeH="0" baseline="0" noProof="0">
                          <a:solidFill>
                            <a:srgbClr val="595959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B</a:t>
                      </a:r>
                      <a:endParaRPr lang="en-US" sz="2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Average business impact, per incident</a:t>
                      </a:r>
                      <a:endParaRPr lang="en-US" sz="2000" b="0" i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$50,000</a:t>
                      </a:r>
                      <a:endParaRPr lang="en-US" sz="2000" b="0" i="0" u="none" strike="noStrike" noProof="0">
                        <a:solidFill>
                          <a:srgbClr val="000000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773786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1" i="0" u="none" strike="noStrike" kern="1200" cap="none" spc="0" normalizeH="0" baseline="0" noProof="0">
                          <a:solidFill>
                            <a:srgbClr val="595959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C</a:t>
                      </a:r>
                      <a:endParaRPr lang="en-US" sz="2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Reduction in time to resolution</a:t>
                      </a: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30%</a:t>
                      </a: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51823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1" i="0" u="none" strike="noStrike" kern="1200" cap="none" spc="0" normalizeH="0" baseline="0" noProof="0">
                          <a:solidFill>
                            <a:srgbClr val="595959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D</a:t>
                      </a:r>
                      <a:endParaRPr lang="en-US" sz="2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Annual incident cost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$2,000,000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-US" sz="2000" b="0" i="0" u="none" strike="noStrike" noProof="0">
                        <a:solidFill>
                          <a:srgbClr val="000000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281878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Year 1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Year 2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Year 3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02147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1" i="0" u="none" strike="noStrike" kern="1200" cap="none" spc="0" normalizeH="0" baseline="0" noProof="0">
                          <a:solidFill>
                            <a:srgbClr val="595959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E</a:t>
                      </a:r>
                      <a:endParaRPr lang="en-US" sz="2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Benefit Realization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90%</a:t>
                      </a: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95%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100%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7014698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400" b="1" i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b="1" i="0" u="none" strike="noStrike" noProof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  <a:ea typeface="Inter" panose="02000503000000020004" pitchFamily="2" charset="0"/>
                        </a:rPr>
                        <a:t>Annual Benefit</a:t>
                      </a:r>
                      <a:endParaRPr lang="en-US" sz="2400" b="1" i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b="1" i="0" u="none" strike="noStrike" noProof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  <a:ea typeface="Inter" panose="02000503000000020004" pitchFamily="2" charset="0"/>
                        </a:rPr>
                        <a:t>$540,000</a:t>
                      </a:r>
                      <a:endParaRPr lang="en-US" sz="2400" b="1" i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b="1" i="0" u="none" strike="noStrike" noProof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  <a:ea typeface="Inter" panose="02000503000000020004" pitchFamily="2" charset="0"/>
                        </a:rPr>
                        <a:t>$570,000</a:t>
                      </a:r>
                      <a:endParaRPr lang="en-US" sz="2400" b="1" i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b="1" i="0" u="none" strike="noStrike" noProof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  <a:ea typeface="Inter" panose="02000503000000020004" pitchFamily="2" charset="0"/>
                        </a:rPr>
                        <a:t>$600,000</a:t>
                      </a:r>
                      <a:endParaRPr lang="en-US" sz="2400" b="1" i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50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036362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 descr="Blue 10 quarter slide background">
            <a:extLst>
              <a:ext uri="{FF2B5EF4-FFF2-40B4-BE49-F238E27FC236}">
                <a16:creationId xmlns:a16="http://schemas.microsoft.com/office/drawing/2014/main" id="{819C309D-AEDD-8801-7B66-8C92BF58AA8D}"/>
              </a:ext>
            </a:extLst>
          </p:cNvPr>
          <p:cNvSpPr/>
          <p:nvPr/>
        </p:nvSpPr>
        <p:spPr bwMode="auto">
          <a:xfrm>
            <a:off x="1586" y="1787"/>
            <a:ext cx="8763273" cy="13714214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28" tIns="91428" rIns="91428" bIns="91428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1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A842CD-571C-ED6B-3051-49A86D229D50}"/>
              </a:ext>
            </a:extLst>
          </p:cNvPr>
          <p:cNvSpPr txBox="1"/>
          <p:nvPr/>
        </p:nvSpPr>
        <p:spPr>
          <a:xfrm>
            <a:off x="542363" y="2231519"/>
            <a:ext cx="7006480" cy="548592"/>
          </a:xfrm>
          <a:prstGeom prst="rect">
            <a:avLst/>
          </a:prstGeom>
          <a:noFill/>
        </p:spPr>
        <p:txBody>
          <a:bodyPr wrap="square" lIns="182832" tIns="91416" rIns="182832" bIns="91416" anchor="t">
            <a:spAutoFit/>
          </a:bodyPr>
          <a:lstStyle/>
          <a:p>
            <a:pPr defTabSz="914080">
              <a:defRPr/>
            </a:pPr>
            <a:r>
              <a:rPr lang="en-US" sz="2400">
                <a:latin typeface="IBM Plex Sans" panose="020B0503050203000203" pitchFamily="34" charset="0"/>
                <a:ea typeface="Inter" panose="02000503000000020004" pitchFamily="2" charset="0"/>
                <a:cs typeface="Arial" panose="020B0604020202020204" pitchFamily="34" charset="0"/>
              </a:rPr>
              <a:t>3-year total benefit</a:t>
            </a:r>
          </a:p>
        </p:txBody>
      </p:sp>
      <p:sp>
        <p:nvSpPr>
          <p:cNvPr id="4" name="Freeform 15">
            <a:extLst>
              <a:ext uri="{FF2B5EF4-FFF2-40B4-BE49-F238E27FC236}">
                <a16:creationId xmlns:a16="http://schemas.microsoft.com/office/drawing/2014/main" id="{03D91D2A-70D0-B1DD-1B0C-4C75DF8B85B3}"/>
              </a:ext>
            </a:extLst>
          </p:cNvPr>
          <p:cNvSpPr/>
          <p:nvPr/>
        </p:nvSpPr>
        <p:spPr>
          <a:xfrm>
            <a:off x="660576" y="1173001"/>
            <a:ext cx="5145864" cy="1043288"/>
          </a:xfrm>
          <a:custGeom>
            <a:avLst/>
            <a:gdLst>
              <a:gd name="connsiteX0" fmla="*/ 0 w 2816352"/>
              <a:gd name="connsiteY0" fmla="*/ 0 h 731519"/>
              <a:gd name="connsiteX1" fmla="*/ 2816352 w 2816352"/>
              <a:gd name="connsiteY1" fmla="*/ 0 h 731519"/>
              <a:gd name="connsiteX2" fmla="*/ 2816352 w 2816352"/>
              <a:gd name="connsiteY2" fmla="*/ 731519 h 731519"/>
              <a:gd name="connsiteX3" fmla="*/ 0 w 2816352"/>
              <a:gd name="connsiteY3" fmla="*/ 731519 h 731519"/>
              <a:gd name="connsiteX4" fmla="*/ 0 w 2816352"/>
              <a:gd name="connsiteY4" fmla="*/ 0 h 731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6352" h="731519">
                <a:moveTo>
                  <a:pt x="0" y="0"/>
                </a:moveTo>
                <a:lnTo>
                  <a:pt x="2816352" y="0"/>
                </a:lnTo>
                <a:lnTo>
                  <a:pt x="2816352" y="731519"/>
                </a:lnTo>
                <a:lnTo>
                  <a:pt x="0" y="731519"/>
                </a:lnTo>
                <a:lnTo>
                  <a:pt x="0" y="0"/>
                </a:lnTo>
                <a:close/>
              </a:path>
            </a:pathLst>
          </a:custGeom>
          <a:noFill/>
          <a:effectLst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b" anchorCtr="0">
            <a:noAutofit/>
          </a:bodyPr>
          <a:lstStyle/>
          <a:p>
            <a:pPr fontAlgn="t"/>
            <a:r>
              <a:rPr lang="en-US" sz="9600">
                <a:solidFill>
                  <a:schemeClr val="accent1"/>
                </a:solidFill>
                <a:latin typeface="IBM Plex Sans" panose="020B0503050203000203" pitchFamily="34" charset="0"/>
                <a:ea typeface="Inter" panose="02000503000000020004" pitchFamily="2" charset="0"/>
              </a:rPr>
              <a:t>$712K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C1C5A0A-5BAC-DDB8-1EA3-911B243DD7BD}"/>
              </a:ext>
            </a:extLst>
          </p:cNvPr>
          <p:cNvSpPr txBox="1"/>
          <p:nvPr/>
        </p:nvSpPr>
        <p:spPr>
          <a:xfrm>
            <a:off x="660576" y="4446021"/>
            <a:ext cx="7548343" cy="7660216"/>
          </a:xfrm>
          <a:prstGeom prst="rect">
            <a:avLst/>
          </a:prstGeom>
        </p:spPr>
        <p:txBody>
          <a:bodyPr vert="horz" lIns="0" tIns="0" rIns="182832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Tx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752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4263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477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82880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latin typeface="IBM Plex Sans" panose="020B0503050203000203" pitchFamily="34" charset="0"/>
                <a:ea typeface="Inter" panose="02000503000000020004" pitchFamily="2" charset="0"/>
                <a:cs typeface="Arial" panose="020B0604020202020204" pitchFamily="34" charset="0"/>
              </a:rPr>
              <a:t>Higher system resilience and reduced operational risk in regulated environments.</a:t>
            </a:r>
          </a:p>
          <a:p>
            <a:pPr defTabSz="182880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latin typeface="IBM Plex Sans" panose="020B0503050203000203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defTabSz="182880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latin typeface="IBM Plex Sans" panose="020B0503050203000203" pitchFamily="34" charset="0"/>
                <a:ea typeface="Inter" panose="02000503000000020004" pitchFamily="2" charset="0"/>
                <a:cs typeface="Arial" panose="020B0604020202020204" pitchFamily="34" charset="0"/>
                <a:hlinkClick r:id="rId2"/>
              </a:rPr>
              <a:t>IBM Genius Hub Product Page</a:t>
            </a:r>
            <a:endParaRPr lang="en-US" dirty="0">
              <a:latin typeface="IBM Plex Sans" panose="020B0503050203000203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A926233-0719-552B-DEC4-1FC9B862C433}"/>
              </a:ext>
            </a:extLst>
          </p:cNvPr>
          <p:cNvSpPr txBox="1"/>
          <p:nvPr/>
        </p:nvSpPr>
        <p:spPr>
          <a:xfrm>
            <a:off x="542362" y="2761159"/>
            <a:ext cx="7887959" cy="920180"/>
          </a:xfrm>
          <a:prstGeom prst="rect">
            <a:avLst/>
          </a:prstGeom>
          <a:noFill/>
        </p:spPr>
        <p:txBody>
          <a:bodyPr vert="horz" lIns="182880" tIns="91440" rIns="182880" bIns="91440" rtlCol="0" anchor="t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000">
                <a:solidFill>
                  <a:schemeClr val="tx1"/>
                </a:solidFill>
                <a:latin typeface="IBM Plex Sans" panose="020B0503050203000203" pitchFamily="34" charset="0"/>
                <a:ea typeface="Inter" panose="02000503000000020004" pitchFamily="2" charset="0"/>
                <a:cs typeface="Arial" panose="020B0604020202020204" pitchFamily="34" charset="0"/>
              </a:rPr>
              <a:t>Avoided Severe Incidents &amp; Downtime Risk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0742EF7-90F7-8BB5-8426-CDA27DFBF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908372"/>
              </p:ext>
            </p:extLst>
          </p:nvPr>
        </p:nvGraphicFramePr>
        <p:xfrm>
          <a:off x="9367024" y="1391008"/>
          <a:ext cx="14316592" cy="554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392">
                  <a:extLst>
                    <a:ext uri="{9D8B030D-6E8A-4147-A177-3AD203B41FA5}">
                      <a16:colId xmlns:a16="http://schemas.microsoft.com/office/drawing/2014/main" val="617011890"/>
                    </a:ext>
                  </a:extLst>
                </a:gridCol>
                <a:gridCol w="5613400">
                  <a:extLst>
                    <a:ext uri="{9D8B030D-6E8A-4147-A177-3AD203B41FA5}">
                      <a16:colId xmlns:a16="http://schemas.microsoft.com/office/drawing/2014/main" val="424662477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48714899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98382511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965270881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1" i="0" u="none" strike="noStrike" kern="1200" cap="none" spc="0" normalizeH="0" baseline="0" noProof="0">
                          <a:solidFill>
                            <a:srgbClr val="595959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A</a:t>
                      </a:r>
                      <a:endParaRPr lang="en-US" sz="2000" b="0" i="0" u="none" strike="noStrike" noProof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# of high-severity SEV-1 Db2 incidents, per year</a:t>
                      </a: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2</a:t>
                      </a: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kumimoji="0" lang="en-US" sz="2000" b="0" i="0" u="none" strike="noStrike" kern="1200" cap="none" spc="0" normalizeH="0" baseline="0" noProof="0">
                        <a:solidFill>
                          <a:srgbClr val="000000"/>
                        </a:solidFill>
                        <a:uLnTx/>
                        <a:uFillTx/>
                        <a:latin typeface="IBM Plex Sans" panose="020B0503050203000203" pitchFamily="34" charset="0"/>
                        <a:ea typeface="Inter" panose="02000503000000020004" pitchFamily="2" charset="0"/>
                        <a:cs typeface="Arial"/>
                        <a:sym typeface="IBM Plex Sans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kumimoji="0" lang="en-US" sz="2000" b="0" i="0" u="none" strike="noStrike" kern="1200" cap="none" spc="0" normalizeH="0" baseline="0" noProof="0">
                        <a:solidFill>
                          <a:srgbClr val="000000"/>
                        </a:solidFill>
                        <a:uLnTx/>
                        <a:uFillTx/>
                        <a:latin typeface="IBM Plex Sans" panose="020B0503050203000203" pitchFamily="34" charset="0"/>
                        <a:ea typeface="Inter" panose="02000503000000020004" pitchFamily="2" charset="0"/>
                        <a:cs typeface="Arial"/>
                        <a:sym typeface="IBM Plex Sans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256669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1" i="0" u="none" strike="noStrike" kern="1200" cap="none" spc="0" normalizeH="0" baseline="0" noProof="0">
                          <a:solidFill>
                            <a:srgbClr val="595959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B</a:t>
                      </a:r>
                      <a:endParaRPr lang="en-US" sz="2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Average cost per SEV‑1 in financial services industry</a:t>
                      </a:r>
                      <a:endParaRPr lang="en-US" sz="2000" b="0" i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$250,000</a:t>
                      </a:r>
                      <a:endParaRPr lang="en-US" sz="2000" b="0" i="0" u="none" strike="noStrike" noProof="0">
                        <a:solidFill>
                          <a:srgbClr val="000000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773786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1" i="0" u="none" strike="noStrike" kern="1200" cap="none" spc="0" normalizeH="0" baseline="0" noProof="0">
                          <a:solidFill>
                            <a:srgbClr val="595959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C</a:t>
                      </a:r>
                      <a:endParaRPr lang="en-US" sz="2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Reduction in SEV‑1 occurrence</a:t>
                      </a: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50%</a:t>
                      </a: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51823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1" i="0" u="none" strike="noStrike" kern="1200" cap="none" spc="0" normalizeH="0" baseline="0" noProof="0">
                          <a:solidFill>
                            <a:srgbClr val="595959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D</a:t>
                      </a:r>
                      <a:endParaRPr lang="en-US" sz="2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Baseline SEV‑1 cost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$500,000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-US" sz="2000" b="0" i="0" u="none" strike="noStrike" noProof="0">
                        <a:solidFill>
                          <a:srgbClr val="000000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281878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Year 1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Year 2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Year 3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02147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1" i="0" u="none" strike="noStrike" kern="1200" cap="none" spc="0" normalizeH="0" baseline="0" noProof="0">
                          <a:solidFill>
                            <a:srgbClr val="595959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E</a:t>
                      </a:r>
                      <a:endParaRPr lang="en-US" sz="2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Benefit Realization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90%</a:t>
                      </a: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95%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100%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7014698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400" b="1" i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b="1" i="0" u="none" strike="noStrike" noProof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  <a:ea typeface="Inter" panose="02000503000000020004" pitchFamily="2" charset="0"/>
                        </a:rPr>
                        <a:t>Annual Benefit</a:t>
                      </a:r>
                      <a:endParaRPr lang="en-US" sz="2400" b="1" i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b="1" i="0" u="none" strike="noStrike" noProof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  <a:ea typeface="Inter" panose="02000503000000020004" pitchFamily="2" charset="0"/>
                        </a:rPr>
                        <a:t>$225,000</a:t>
                      </a:r>
                      <a:endParaRPr lang="en-US" sz="2400" b="1" i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b="1" i="0" u="none" strike="noStrike" noProof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  <a:ea typeface="Inter" panose="02000503000000020004" pitchFamily="2" charset="0"/>
                        </a:rPr>
                        <a:t>$237,500</a:t>
                      </a:r>
                      <a:endParaRPr lang="en-US" sz="2400" b="1" i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b="1" i="0" u="none" strike="noStrike" noProof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  <a:ea typeface="Inter" panose="02000503000000020004" pitchFamily="2" charset="0"/>
                        </a:rPr>
                        <a:t>$250,000</a:t>
                      </a:r>
                      <a:endParaRPr lang="en-US" sz="2400" b="1" i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50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036362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 descr="Blue 10 quarter slide background">
            <a:extLst>
              <a:ext uri="{FF2B5EF4-FFF2-40B4-BE49-F238E27FC236}">
                <a16:creationId xmlns:a16="http://schemas.microsoft.com/office/drawing/2014/main" id="{819C309D-AEDD-8801-7B66-8C92BF58AA8D}"/>
              </a:ext>
            </a:extLst>
          </p:cNvPr>
          <p:cNvSpPr/>
          <p:nvPr/>
        </p:nvSpPr>
        <p:spPr bwMode="auto">
          <a:xfrm>
            <a:off x="1586" y="1787"/>
            <a:ext cx="8763273" cy="13714214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28" tIns="91428" rIns="91428" bIns="91428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21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A842CD-571C-ED6B-3051-49A86D229D50}"/>
              </a:ext>
            </a:extLst>
          </p:cNvPr>
          <p:cNvSpPr txBox="1"/>
          <p:nvPr/>
        </p:nvSpPr>
        <p:spPr>
          <a:xfrm>
            <a:off x="542363" y="2231519"/>
            <a:ext cx="7006480" cy="548592"/>
          </a:xfrm>
          <a:prstGeom prst="rect">
            <a:avLst/>
          </a:prstGeom>
          <a:noFill/>
        </p:spPr>
        <p:txBody>
          <a:bodyPr wrap="square" lIns="182832" tIns="91416" rIns="182832" bIns="91416" anchor="t">
            <a:spAutoFit/>
          </a:bodyPr>
          <a:lstStyle/>
          <a:p>
            <a:pPr defTabSz="914080">
              <a:defRPr/>
            </a:pPr>
            <a:r>
              <a:rPr lang="en-US" sz="2400">
                <a:latin typeface="IBM Plex Sans" panose="020B0503050203000203" pitchFamily="34" charset="0"/>
                <a:ea typeface="Inter" panose="02000503000000020004" pitchFamily="2" charset="0"/>
                <a:cs typeface="Arial" panose="020B0604020202020204" pitchFamily="34" charset="0"/>
              </a:rPr>
              <a:t>3-year total benefit</a:t>
            </a:r>
          </a:p>
        </p:txBody>
      </p:sp>
      <p:sp>
        <p:nvSpPr>
          <p:cNvPr id="4" name="Freeform 15">
            <a:extLst>
              <a:ext uri="{FF2B5EF4-FFF2-40B4-BE49-F238E27FC236}">
                <a16:creationId xmlns:a16="http://schemas.microsoft.com/office/drawing/2014/main" id="{03D91D2A-70D0-B1DD-1B0C-4C75DF8B85B3}"/>
              </a:ext>
            </a:extLst>
          </p:cNvPr>
          <p:cNvSpPr/>
          <p:nvPr/>
        </p:nvSpPr>
        <p:spPr>
          <a:xfrm>
            <a:off x="660576" y="1173001"/>
            <a:ext cx="5145864" cy="1043288"/>
          </a:xfrm>
          <a:custGeom>
            <a:avLst/>
            <a:gdLst>
              <a:gd name="connsiteX0" fmla="*/ 0 w 2816352"/>
              <a:gd name="connsiteY0" fmla="*/ 0 h 731519"/>
              <a:gd name="connsiteX1" fmla="*/ 2816352 w 2816352"/>
              <a:gd name="connsiteY1" fmla="*/ 0 h 731519"/>
              <a:gd name="connsiteX2" fmla="*/ 2816352 w 2816352"/>
              <a:gd name="connsiteY2" fmla="*/ 731519 h 731519"/>
              <a:gd name="connsiteX3" fmla="*/ 0 w 2816352"/>
              <a:gd name="connsiteY3" fmla="*/ 731519 h 731519"/>
              <a:gd name="connsiteX4" fmla="*/ 0 w 2816352"/>
              <a:gd name="connsiteY4" fmla="*/ 0 h 731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6352" h="731519">
                <a:moveTo>
                  <a:pt x="0" y="0"/>
                </a:moveTo>
                <a:lnTo>
                  <a:pt x="2816352" y="0"/>
                </a:lnTo>
                <a:lnTo>
                  <a:pt x="2816352" y="731519"/>
                </a:lnTo>
                <a:lnTo>
                  <a:pt x="0" y="731519"/>
                </a:lnTo>
                <a:lnTo>
                  <a:pt x="0" y="0"/>
                </a:lnTo>
                <a:close/>
              </a:path>
            </a:pathLst>
          </a:custGeom>
          <a:noFill/>
          <a:effectLst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b" anchorCtr="0">
            <a:noAutofit/>
          </a:bodyPr>
          <a:lstStyle/>
          <a:p>
            <a:pPr fontAlgn="t"/>
            <a:r>
              <a:rPr lang="en-US" sz="9600">
                <a:solidFill>
                  <a:schemeClr val="accent1"/>
                </a:solidFill>
                <a:latin typeface="IBM Plex Sans" panose="020B0503050203000203" pitchFamily="34" charset="0"/>
                <a:ea typeface="Inter" panose="02000503000000020004" pitchFamily="2" charset="0"/>
              </a:rPr>
              <a:t>$285K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C1C5A0A-5BAC-DDB8-1EA3-911B243DD7BD}"/>
              </a:ext>
            </a:extLst>
          </p:cNvPr>
          <p:cNvSpPr txBox="1"/>
          <p:nvPr/>
        </p:nvSpPr>
        <p:spPr>
          <a:xfrm>
            <a:off x="660576" y="4446021"/>
            <a:ext cx="7548343" cy="7660216"/>
          </a:xfrm>
          <a:prstGeom prst="rect">
            <a:avLst/>
          </a:prstGeom>
        </p:spPr>
        <p:txBody>
          <a:bodyPr vert="horz" lIns="0" tIns="0" rIns="182832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Tx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752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4263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477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82880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latin typeface="IBM Plex Sans" panose="020B0503050203000203" pitchFamily="34" charset="0"/>
                <a:ea typeface="Inter" panose="02000503000000020004" pitchFamily="2" charset="0"/>
                <a:cs typeface="Arial" panose="020B0604020202020204" pitchFamily="34" charset="0"/>
              </a:rPr>
              <a:t>Combined licensing, infrastructure, and admin overhead that can be reduced via a single, unified Db2 Genius Hub console</a:t>
            </a:r>
          </a:p>
          <a:p>
            <a:pPr defTabSz="182880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latin typeface="IBM Plex Sans" panose="020B0503050203000203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defTabSz="182880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latin typeface="IBM Plex Sans" panose="020B0503050203000203" pitchFamily="34" charset="0"/>
                <a:ea typeface="Inter" panose="02000503000000020004" pitchFamily="2" charset="0"/>
                <a:cs typeface="Arial" panose="020B0604020202020204" pitchFamily="34" charset="0"/>
                <a:hlinkClick r:id="rId2"/>
              </a:rPr>
              <a:t>IBM Genius Hub Product Page</a:t>
            </a:r>
            <a:endParaRPr lang="en-US" dirty="0">
              <a:latin typeface="IBM Plex Sans" panose="020B0503050203000203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A926233-0719-552B-DEC4-1FC9B862C433}"/>
              </a:ext>
            </a:extLst>
          </p:cNvPr>
          <p:cNvSpPr txBox="1"/>
          <p:nvPr/>
        </p:nvSpPr>
        <p:spPr>
          <a:xfrm>
            <a:off x="542362" y="2761159"/>
            <a:ext cx="7887959" cy="920180"/>
          </a:xfrm>
          <a:prstGeom prst="rect">
            <a:avLst/>
          </a:prstGeom>
          <a:noFill/>
        </p:spPr>
        <p:txBody>
          <a:bodyPr vert="horz" lIns="182880" tIns="91440" rIns="182880" bIns="91440" rtlCol="0" anchor="t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000">
                <a:solidFill>
                  <a:schemeClr val="tx1"/>
                </a:solidFill>
                <a:latin typeface="IBM Plex Sans" panose="020B0503050203000203" pitchFamily="34" charset="0"/>
                <a:ea typeface="Inter" panose="02000503000000020004" pitchFamily="2" charset="0"/>
                <a:cs typeface="Arial" panose="020B0604020202020204" pitchFamily="34" charset="0"/>
              </a:rPr>
              <a:t>Tool Consolidation &amp; Operational Efficiency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0742EF7-90F7-8BB5-8426-CDA27DFBF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908372"/>
              </p:ext>
            </p:extLst>
          </p:nvPr>
        </p:nvGraphicFramePr>
        <p:xfrm>
          <a:off x="9367024" y="1391008"/>
          <a:ext cx="14316592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392">
                  <a:extLst>
                    <a:ext uri="{9D8B030D-6E8A-4147-A177-3AD203B41FA5}">
                      <a16:colId xmlns:a16="http://schemas.microsoft.com/office/drawing/2014/main" val="617011890"/>
                    </a:ext>
                  </a:extLst>
                </a:gridCol>
                <a:gridCol w="5613400">
                  <a:extLst>
                    <a:ext uri="{9D8B030D-6E8A-4147-A177-3AD203B41FA5}">
                      <a16:colId xmlns:a16="http://schemas.microsoft.com/office/drawing/2014/main" val="424662477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48714899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98382511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965270881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1" i="0" u="none" strike="noStrike" kern="1200" cap="none" spc="0" normalizeH="0" baseline="0" noProof="0">
                          <a:solidFill>
                            <a:srgbClr val="595959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A</a:t>
                      </a:r>
                      <a:endParaRPr lang="en-US" sz="2000" b="0" i="0" u="none" strike="noStrike" noProof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# of tools supporting Db2 today</a:t>
                      </a: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4</a:t>
                      </a: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kumimoji="0" lang="en-US" sz="2000" b="0" i="0" u="none" strike="noStrike" kern="1200" cap="none" spc="0" normalizeH="0" baseline="0" noProof="0">
                        <a:solidFill>
                          <a:srgbClr val="000000"/>
                        </a:solidFill>
                        <a:uLnTx/>
                        <a:uFillTx/>
                        <a:latin typeface="IBM Plex Sans" panose="020B0503050203000203" pitchFamily="34" charset="0"/>
                        <a:ea typeface="Inter" panose="02000503000000020004" pitchFamily="2" charset="0"/>
                        <a:cs typeface="Arial"/>
                        <a:sym typeface="IBM Plex Sans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kumimoji="0" lang="en-US" sz="2000" b="0" i="0" u="none" strike="noStrike" kern="1200" cap="none" spc="0" normalizeH="0" baseline="0" noProof="0">
                        <a:solidFill>
                          <a:srgbClr val="000000"/>
                        </a:solidFill>
                        <a:uLnTx/>
                        <a:uFillTx/>
                        <a:latin typeface="IBM Plex Sans" panose="020B0503050203000203" pitchFamily="34" charset="0"/>
                        <a:ea typeface="Inter" panose="02000503000000020004" pitchFamily="2" charset="0"/>
                        <a:cs typeface="Arial"/>
                        <a:sym typeface="IBM Plex Sans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256669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1" i="0" u="none" strike="noStrike" kern="1200" cap="none" spc="0" normalizeH="0" baseline="0" noProof="0">
                          <a:solidFill>
                            <a:srgbClr val="595959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B</a:t>
                      </a:r>
                      <a:endParaRPr lang="en-US" sz="2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Reducible overhead cost, per tool</a:t>
                      </a:r>
                      <a:endParaRPr lang="en-US" sz="2000" b="0" i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$25,000</a:t>
                      </a:r>
                      <a:endParaRPr lang="en-US" sz="2000" b="0" i="0" u="none" strike="noStrike" noProof="0">
                        <a:solidFill>
                          <a:srgbClr val="000000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773786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kumimoji="0" lang="en-US" sz="2000" b="0" i="0" u="none" strike="noStrike" kern="1200" cap="none" spc="0" normalizeH="0" baseline="0" noProof="0">
                        <a:solidFill>
                          <a:srgbClr val="000000"/>
                        </a:solidFill>
                        <a:uLnTx/>
                        <a:uFillTx/>
                        <a:latin typeface="IBM Plex Sans" panose="020B0503050203000203" pitchFamily="34" charset="0"/>
                        <a:ea typeface="Inter" panose="02000503000000020004" pitchFamily="2" charset="0"/>
                        <a:cs typeface="Arial"/>
                        <a:sym typeface="IBM Plex Sans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Year 1</a:t>
                      </a: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Year 2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Year 3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51823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1" i="0" u="none" strike="noStrike" kern="1200" cap="none" spc="0" normalizeH="0" baseline="0" noProof="0">
                          <a:solidFill>
                            <a:srgbClr val="595959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C</a:t>
                      </a:r>
                      <a:endParaRPr lang="en-US" sz="2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Benefit Realization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90%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95%</a:t>
                      </a:r>
                      <a:endParaRPr lang="en-US" sz="2000" b="0" i="0" u="none" strike="noStrike" noProof="0">
                        <a:solidFill>
                          <a:srgbClr val="000000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solidFill>
                            <a:srgbClr val="000000"/>
                          </a:solidFill>
                          <a:uLnTx/>
                          <a:uFillTx/>
                          <a:latin typeface="IBM Plex Sans" panose="020B0503050203000203" pitchFamily="34" charset="0"/>
                          <a:ea typeface="Inter" panose="02000503000000020004" pitchFamily="2" charset="0"/>
                          <a:cs typeface="Arial"/>
                          <a:sym typeface="IBM Plex Sans"/>
                        </a:rPr>
                        <a:t>100%</a:t>
                      </a:r>
                      <a:endParaRPr lang="en-US" sz="2400" b="0" i="0"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281878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400" b="1" i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b="1" i="0" u="none" strike="noStrike" noProof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  <a:ea typeface="Inter" panose="02000503000000020004" pitchFamily="2" charset="0"/>
                        </a:rPr>
                        <a:t>Annual Benefit</a:t>
                      </a:r>
                      <a:endParaRPr lang="en-US" sz="2400" b="1" i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b="1" i="0" u="none" strike="noStrike" noProof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  <a:ea typeface="Inter" panose="02000503000000020004" pitchFamily="2" charset="0"/>
                        </a:rPr>
                        <a:t>$90,000</a:t>
                      </a:r>
                      <a:endParaRPr lang="en-US" sz="2400" b="1" i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b="1" i="0" u="none" strike="noStrike" noProof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  <a:ea typeface="Inter" panose="02000503000000020004" pitchFamily="2" charset="0"/>
                        </a:rPr>
                        <a:t>$95,000</a:t>
                      </a:r>
                      <a:endParaRPr lang="en-US" sz="2400" b="1" i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b="1" i="0" u="none" strike="noStrike" noProof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  <a:ea typeface="Inter" panose="02000503000000020004" pitchFamily="2" charset="0"/>
                        </a:rPr>
                        <a:t>$100,000</a:t>
                      </a:r>
                      <a:endParaRPr lang="en-US" sz="2400" b="1" i="0">
                        <a:solidFill>
                          <a:schemeClr val="tx1"/>
                        </a:solidFill>
                        <a:latin typeface="IBM Plex Sans" panose="020B0503050203000203" pitchFamily="34" charset="0"/>
                        <a:ea typeface="Inter" panose="02000503000000020004" pitchFamily="2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50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036362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5F587A4-C487-F74C-2C3A-6603CA1AE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E30A3E-D7C2-FEAD-CACF-62C66A5B4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4877" y="518065"/>
            <a:ext cx="1638301" cy="6096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6C3D4-8BA6-991A-9004-F1A640BE87D7}"/>
              </a:ext>
            </a:extLst>
          </p:cNvPr>
          <p:cNvSpPr txBox="1"/>
          <p:nvPr/>
        </p:nvSpPr>
        <p:spPr>
          <a:xfrm>
            <a:off x="22798382" y="12766403"/>
            <a:ext cx="995944" cy="380732"/>
          </a:xfrm>
          <a:prstGeom prst="rect">
            <a:avLst/>
          </a:prstGeom>
        </p:spPr>
        <p:txBody>
          <a:bodyPr/>
          <a:lstStyle>
            <a:defPPr>
              <a:defRPr lang="en-CH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829014">
              <a:defRPr/>
            </a:pPr>
            <a:fld id="{86CB4B4D-7CA3-9044-876B-883B54F8677D}" type="slidenum">
              <a:rPr lang="en-US" sz="1600">
                <a:solidFill>
                  <a:srgbClr val="000000"/>
                </a:solidFill>
                <a:latin typeface="IBM Plex Sans" panose="020B0503050203000203" pitchFamily="34" charset="0"/>
                <a:sym typeface="IBM Plex Sans"/>
              </a:rPr>
              <a:pPr algn="r" defTabSz="1829014">
                <a:defRPr/>
              </a:pPr>
              <a:t>12</a:t>
            </a:fld>
            <a:endParaRPr lang="en-US" sz="1600">
              <a:solidFill>
                <a:srgbClr val="000000"/>
              </a:solidFill>
              <a:latin typeface="IBM Plex Sans" panose="020B0503050203000203" pitchFamily="34" charset="0"/>
              <a:sym typeface="IBM Plex San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576BE5-AFD6-2F40-1547-624AA63D1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079832"/>
              </p:ext>
            </p:extLst>
          </p:nvPr>
        </p:nvGraphicFramePr>
        <p:xfrm>
          <a:off x="628327" y="2663468"/>
          <a:ext cx="22993677" cy="1645920"/>
        </p:xfrm>
        <a:graphic>
          <a:graphicData uri="http://schemas.openxmlformats.org/drawingml/2006/table">
            <a:tbl>
              <a:tblPr bandRow="1"/>
              <a:tblGrid>
                <a:gridCol w="3041977">
                  <a:extLst>
                    <a:ext uri="{9D8B030D-6E8A-4147-A177-3AD203B41FA5}">
                      <a16:colId xmlns:a16="http://schemas.microsoft.com/office/drawing/2014/main" val="813647323"/>
                    </a:ext>
                  </a:extLst>
                </a:gridCol>
                <a:gridCol w="16789400">
                  <a:extLst>
                    <a:ext uri="{9D8B030D-6E8A-4147-A177-3AD203B41FA5}">
                      <a16:colId xmlns:a16="http://schemas.microsoft.com/office/drawing/2014/main" val="1787466398"/>
                    </a:ext>
                  </a:extLst>
                </a:gridCol>
                <a:gridCol w="3162300">
                  <a:extLst>
                    <a:ext uri="{9D8B030D-6E8A-4147-A177-3AD203B41FA5}">
                      <a16:colId xmlns:a16="http://schemas.microsoft.com/office/drawing/2014/main" val="3177917186"/>
                    </a:ext>
                  </a:extLst>
                </a:gridCol>
              </a:tblGrid>
              <a:tr h="624292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chemeClr val="bg1"/>
                          </a:solidFill>
                          <a:effectLst/>
                          <a:latin typeface="IBM Plex Sans" panose="020B0503050203000203" pitchFamily="34" charset="0"/>
                        </a:rPr>
                        <a:t>Benefits</a:t>
                      </a:r>
                    </a:p>
                  </a:txBody>
                  <a:tcPr marT="182880" marB="1828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bg1"/>
                          </a:solidFill>
                          <a:effectLst/>
                          <a:latin typeface="IBM Plex Sans" panose="020B0503050203000203" pitchFamily="34" charset="0"/>
                        </a:rPr>
                        <a:t>Description</a:t>
                      </a:r>
                    </a:p>
                  </a:txBody>
                  <a:tcPr marT="182880" marB="1828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IBM Plex Sans" panose="020B0503050203000203" pitchFamily="34" charset="0"/>
                        </a:rPr>
                        <a:t>Estimated Annual Benefit</a:t>
                      </a:r>
                    </a:p>
                  </a:txBody>
                  <a:tcPr marT="182880" marB="1828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459170"/>
                  </a:ext>
                </a:extLst>
              </a:tr>
              <a:tr h="908061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DBA Productivity &amp; Labor Cost Avoidance</a:t>
                      </a:r>
                    </a:p>
                  </a:txBody>
                  <a:tcPr marT="182880" marB="1828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Same staff supports more growth, higher‑value work (optimization, data initiatives), or avoids incremental hiring.</a:t>
                      </a:r>
                    </a:p>
                  </a:txBody>
                  <a:tcPr marT="182880" marB="1828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 dirty="0">
                          <a:solidFill>
                            <a:schemeClr val="accent1"/>
                          </a:solidFill>
                          <a:effectLst/>
                          <a:latin typeface="IBM Plex Sans" panose="020B0503050203000203" pitchFamily="34" charset="0"/>
                        </a:rPr>
                        <a:t>$918K</a:t>
                      </a:r>
                    </a:p>
                  </a:txBody>
                  <a:tcPr marT="182880" marB="1828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20727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1AAEF9E-92A7-2CA8-DF69-A2BC5D7BF8F3}"/>
              </a:ext>
            </a:extLst>
          </p:cNvPr>
          <p:cNvSpPr txBox="1"/>
          <p:nvPr/>
        </p:nvSpPr>
        <p:spPr>
          <a:xfrm>
            <a:off x="628327" y="2031716"/>
            <a:ext cx="21361881" cy="61555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2438400">
              <a:spcBef>
                <a:spcPts val="2900"/>
              </a:spcBef>
              <a:buSzTx/>
            </a:pPr>
            <a:r>
              <a:rPr lang="en-US" sz="4000" kern="0" dirty="0">
                <a:solidFill>
                  <a:srgbClr val="000000"/>
                </a:solidFill>
                <a:latin typeface="IBM Plex Sans" panose="020B0503050203000203" pitchFamily="34" charset="0"/>
                <a:ea typeface="+mj-ea"/>
                <a:cs typeface="+mj-cs"/>
              </a:rPr>
              <a:t>DBA Productivity &amp; Labor Cost Avoidance annual benefits are estimated at $918K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51FCF40-1F1D-0A45-C87A-AF07552A03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040188"/>
              </p:ext>
            </p:extLst>
          </p:nvPr>
        </p:nvGraphicFramePr>
        <p:xfrm>
          <a:off x="628324" y="5365840"/>
          <a:ext cx="22993677" cy="1645920"/>
        </p:xfrm>
        <a:graphic>
          <a:graphicData uri="http://schemas.openxmlformats.org/drawingml/2006/table">
            <a:tbl>
              <a:tblPr bandRow="1"/>
              <a:tblGrid>
                <a:gridCol w="3278655">
                  <a:extLst>
                    <a:ext uri="{9D8B030D-6E8A-4147-A177-3AD203B41FA5}">
                      <a16:colId xmlns:a16="http://schemas.microsoft.com/office/drawing/2014/main" val="813647323"/>
                    </a:ext>
                  </a:extLst>
                </a:gridCol>
                <a:gridCol w="16552722">
                  <a:extLst>
                    <a:ext uri="{9D8B030D-6E8A-4147-A177-3AD203B41FA5}">
                      <a16:colId xmlns:a16="http://schemas.microsoft.com/office/drawing/2014/main" val="1787466398"/>
                    </a:ext>
                  </a:extLst>
                </a:gridCol>
                <a:gridCol w="3162300">
                  <a:extLst>
                    <a:ext uri="{9D8B030D-6E8A-4147-A177-3AD203B41FA5}">
                      <a16:colId xmlns:a16="http://schemas.microsoft.com/office/drawing/2014/main" val="3177917186"/>
                    </a:ext>
                  </a:extLst>
                </a:gridCol>
              </a:tblGrid>
              <a:tr h="638372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bg1"/>
                          </a:solidFill>
                          <a:effectLst/>
                          <a:latin typeface="IBM Plex Sans" panose="020B0503050203000203" pitchFamily="34" charset="0"/>
                        </a:rPr>
                        <a:t>Benefits</a:t>
                      </a:r>
                    </a:p>
                  </a:txBody>
                  <a:tcPr marT="182880" marB="1828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chemeClr val="bg1"/>
                          </a:solidFill>
                          <a:effectLst/>
                          <a:latin typeface="IBM Plex Sans" panose="020B0503050203000203" pitchFamily="34" charset="0"/>
                        </a:rPr>
                        <a:t>Description</a:t>
                      </a:r>
                    </a:p>
                  </a:txBody>
                  <a:tcPr marT="182880" marB="1828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IBM Plex Sans" panose="020B0503050203000203" pitchFamily="34" charset="0"/>
                        </a:rPr>
                        <a:t>Estimated Annual Benefit</a:t>
                      </a:r>
                    </a:p>
                  </a:txBody>
                  <a:tcPr marT="182880" marB="1828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459170"/>
                  </a:ext>
                </a:extLst>
              </a:tr>
              <a:tr h="928541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Faster Incident Resolution (MTTR Reduction)</a:t>
                      </a:r>
                    </a:p>
                  </a:txBody>
                  <a:tcPr marT="182880" marB="1828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Reduced business disruption, fewer escalations, improved internal SLAs.</a:t>
                      </a:r>
                    </a:p>
                  </a:txBody>
                  <a:tcPr marT="182880" marB="1828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 dirty="0">
                          <a:solidFill>
                            <a:schemeClr val="accent1"/>
                          </a:solidFill>
                          <a:effectLst/>
                          <a:latin typeface="IBM Plex Sans" panose="020B0503050203000203" pitchFamily="34" charset="0"/>
                        </a:rPr>
                        <a:t>$600K</a:t>
                      </a:r>
                    </a:p>
                  </a:txBody>
                  <a:tcPr marT="182880" marB="1828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20727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66F1D85-2380-20CD-619F-6C1FABA8EABB}"/>
              </a:ext>
            </a:extLst>
          </p:cNvPr>
          <p:cNvSpPr txBox="1"/>
          <p:nvPr/>
        </p:nvSpPr>
        <p:spPr>
          <a:xfrm>
            <a:off x="628328" y="4760550"/>
            <a:ext cx="21686553" cy="61555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2438400">
              <a:spcBef>
                <a:spcPts val="2900"/>
              </a:spcBef>
              <a:buSzTx/>
            </a:pPr>
            <a:r>
              <a:rPr lang="en-US" sz="4000" kern="0" dirty="0">
                <a:solidFill>
                  <a:srgbClr val="000000"/>
                </a:solidFill>
                <a:latin typeface="IBM Plex Sans" panose="020B0503050203000203" pitchFamily="34" charset="0"/>
                <a:ea typeface="+mj-ea"/>
                <a:cs typeface="+mj-cs"/>
              </a:rPr>
              <a:t>Faster Incident Resolution (MTTR Reduction) annual benefits are estimated at $600K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2998BA6-790E-B48B-C5A6-DF45AA54E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099288"/>
              </p:ext>
            </p:extLst>
          </p:nvPr>
        </p:nvGraphicFramePr>
        <p:xfrm>
          <a:off x="628324" y="8057357"/>
          <a:ext cx="22993677" cy="1645920"/>
        </p:xfrm>
        <a:graphic>
          <a:graphicData uri="http://schemas.openxmlformats.org/drawingml/2006/table">
            <a:tbl>
              <a:tblPr bandRow="1"/>
              <a:tblGrid>
                <a:gridCol w="3250948">
                  <a:extLst>
                    <a:ext uri="{9D8B030D-6E8A-4147-A177-3AD203B41FA5}">
                      <a16:colId xmlns:a16="http://schemas.microsoft.com/office/drawing/2014/main" val="813647323"/>
                    </a:ext>
                  </a:extLst>
                </a:gridCol>
                <a:gridCol w="16580429">
                  <a:extLst>
                    <a:ext uri="{9D8B030D-6E8A-4147-A177-3AD203B41FA5}">
                      <a16:colId xmlns:a16="http://schemas.microsoft.com/office/drawing/2014/main" val="1787466398"/>
                    </a:ext>
                  </a:extLst>
                </a:gridCol>
                <a:gridCol w="3162300">
                  <a:extLst>
                    <a:ext uri="{9D8B030D-6E8A-4147-A177-3AD203B41FA5}">
                      <a16:colId xmlns:a16="http://schemas.microsoft.com/office/drawing/2014/main" val="3177917186"/>
                    </a:ext>
                  </a:extLst>
                </a:gridCol>
              </a:tblGrid>
              <a:tr h="490037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chemeClr val="bg1"/>
                          </a:solidFill>
                          <a:effectLst/>
                          <a:latin typeface="IBM Plex Sans" panose="020B0503050203000203" pitchFamily="34" charset="0"/>
                        </a:rPr>
                        <a:t>Benefits</a:t>
                      </a:r>
                    </a:p>
                  </a:txBody>
                  <a:tcPr marT="182880" marB="1828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bg1"/>
                          </a:solidFill>
                          <a:effectLst/>
                          <a:latin typeface="IBM Plex Sans" panose="020B0503050203000203" pitchFamily="34" charset="0"/>
                        </a:rPr>
                        <a:t>Description</a:t>
                      </a:r>
                    </a:p>
                  </a:txBody>
                  <a:tcPr marT="182880" marB="1828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IBM Plex Sans" panose="020B0503050203000203" pitchFamily="34" charset="0"/>
                        </a:rPr>
                        <a:t>Estimated Annual Benefit</a:t>
                      </a:r>
                    </a:p>
                  </a:txBody>
                  <a:tcPr marT="182880" marB="1828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459170"/>
                  </a:ext>
                </a:extLst>
              </a:tr>
              <a:tr h="496939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Avoided Severe Incidents &amp; Downtime Risk</a:t>
                      </a:r>
                    </a:p>
                  </a:txBody>
                  <a:tcPr marT="182880" marB="1828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Higher system resilience and reduced operational risk in regulated environments.</a:t>
                      </a:r>
                    </a:p>
                  </a:txBody>
                  <a:tcPr marT="182880" marB="1828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 dirty="0">
                          <a:solidFill>
                            <a:schemeClr val="accent1"/>
                          </a:solidFill>
                          <a:effectLst/>
                          <a:latin typeface="IBM Plex Sans" panose="020B0503050203000203" pitchFamily="34" charset="0"/>
                        </a:rPr>
                        <a:t>$250K</a:t>
                      </a:r>
                    </a:p>
                  </a:txBody>
                  <a:tcPr marT="182880" marB="1828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20727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AF3FA8A-F413-92A3-53F2-23880A7814CB}"/>
              </a:ext>
            </a:extLst>
          </p:cNvPr>
          <p:cNvSpPr txBox="1"/>
          <p:nvPr/>
        </p:nvSpPr>
        <p:spPr>
          <a:xfrm>
            <a:off x="628327" y="7441804"/>
            <a:ext cx="21361881" cy="61555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2438400">
              <a:spcBef>
                <a:spcPts val="2900"/>
              </a:spcBef>
              <a:buSzTx/>
            </a:pPr>
            <a:r>
              <a:rPr lang="en-US" sz="4000" kern="0" dirty="0">
                <a:solidFill>
                  <a:srgbClr val="000000"/>
                </a:solidFill>
                <a:latin typeface="IBM Plex Sans" panose="020B0503050203000203" pitchFamily="34" charset="0"/>
                <a:ea typeface="+mj-ea"/>
                <a:cs typeface="+mj-cs"/>
              </a:rPr>
              <a:t>Avoided Severe Incidents &amp; Downtime Risk annual benefits are estimated at $250K 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D19C73C-2A14-CDE7-18C9-820A5815E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768420"/>
              </p:ext>
            </p:extLst>
          </p:nvPr>
        </p:nvGraphicFramePr>
        <p:xfrm>
          <a:off x="628324" y="10823054"/>
          <a:ext cx="22993677" cy="1645920"/>
        </p:xfrm>
        <a:graphic>
          <a:graphicData uri="http://schemas.openxmlformats.org/drawingml/2006/table">
            <a:tbl>
              <a:tblPr bandRow="1"/>
              <a:tblGrid>
                <a:gridCol w="3041977">
                  <a:extLst>
                    <a:ext uri="{9D8B030D-6E8A-4147-A177-3AD203B41FA5}">
                      <a16:colId xmlns:a16="http://schemas.microsoft.com/office/drawing/2014/main" val="813647323"/>
                    </a:ext>
                  </a:extLst>
                </a:gridCol>
                <a:gridCol w="16789400">
                  <a:extLst>
                    <a:ext uri="{9D8B030D-6E8A-4147-A177-3AD203B41FA5}">
                      <a16:colId xmlns:a16="http://schemas.microsoft.com/office/drawing/2014/main" val="1787466398"/>
                    </a:ext>
                  </a:extLst>
                </a:gridCol>
                <a:gridCol w="3162300">
                  <a:extLst>
                    <a:ext uri="{9D8B030D-6E8A-4147-A177-3AD203B41FA5}">
                      <a16:colId xmlns:a16="http://schemas.microsoft.com/office/drawing/2014/main" val="3177917186"/>
                    </a:ext>
                  </a:extLst>
                </a:gridCol>
              </a:tblGrid>
              <a:tr h="490037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chemeClr val="bg1"/>
                          </a:solidFill>
                          <a:effectLst/>
                          <a:latin typeface="IBM Plex Sans" panose="020B0503050203000203" pitchFamily="34" charset="0"/>
                        </a:rPr>
                        <a:t>Benefits</a:t>
                      </a:r>
                    </a:p>
                  </a:txBody>
                  <a:tcPr marT="182880" marB="1828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bg1"/>
                          </a:solidFill>
                          <a:effectLst/>
                          <a:latin typeface="IBM Plex Sans" panose="020B0503050203000203" pitchFamily="34" charset="0"/>
                        </a:rPr>
                        <a:t>Description</a:t>
                      </a:r>
                    </a:p>
                  </a:txBody>
                  <a:tcPr marT="182880" marB="1828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IBM Plex Sans" panose="020B0503050203000203" pitchFamily="34" charset="0"/>
                        </a:rPr>
                        <a:t>Estimated Annual Benefit</a:t>
                      </a:r>
                    </a:p>
                  </a:txBody>
                  <a:tcPr marT="182880" marB="1828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459170"/>
                  </a:ext>
                </a:extLst>
              </a:tr>
              <a:tr h="496939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Tool Consolidation &amp; Operational Efficiency</a:t>
                      </a:r>
                    </a:p>
                  </a:txBody>
                  <a:tcPr marT="182880" marB="1828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Combined licensing, infrastructure, and admin overhead that can be reduced via a single, unified Db2 Genius Hub console</a:t>
                      </a:r>
                    </a:p>
                  </a:txBody>
                  <a:tcPr marT="182880" marB="1828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 dirty="0">
                          <a:solidFill>
                            <a:schemeClr val="accent1"/>
                          </a:solidFill>
                          <a:effectLst/>
                          <a:latin typeface="IBM Plex Sans" panose="020B0503050203000203" pitchFamily="34" charset="0"/>
                        </a:rPr>
                        <a:t>$100K</a:t>
                      </a:r>
                    </a:p>
                  </a:txBody>
                  <a:tcPr marT="182880" marB="1828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20727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6EEA242-0C39-5943-67F4-208CEB541F0F}"/>
              </a:ext>
            </a:extLst>
          </p:cNvPr>
          <p:cNvSpPr txBox="1"/>
          <p:nvPr/>
        </p:nvSpPr>
        <p:spPr>
          <a:xfrm>
            <a:off x="628327" y="10145946"/>
            <a:ext cx="21361881" cy="61555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2438400">
              <a:spcBef>
                <a:spcPts val="2900"/>
              </a:spcBef>
              <a:buSzTx/>
            </a:pPr>
            <a:r>
              <a:rPr lang="en-US" sz="4000" kern="0" dirty="0">
                <a:solidFill>
                  <a:srgbClr val="000000"/>
                </a:solidFill>
                <a:latin typeface="IBM Plex Sans" panose="020B0503050203000203" pitchFamily="34" charset="0"/>
                <a:ea typeface="+mj-ea"/>
                <a:cs typeface="+mj-cs"/>
              </a:rPr>
              <a:t>Tool Consolidation &amp; Operational Efficiency annual benefits are estimated at $100K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A8F6FF4-2DC9-E587-D77D-8C7319146A07}"/>
              </a:ext>
            </a:extLst>
          </p:cNvPr>
          <p:cNvSpPr txBox="1"/>
          <p:nvPr/>
        </p:nvSpPr>
        <p:spPr>
          <a:xfrm>
            <a:off x="711324" y="599192"/>
            <a:ext cx="18231993" cy="875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457200" bIns="0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8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>
              <a:spcBef>
                <a:spcPts val="1800"/>
              </a:spcBef>
            </a:pPr>
            <a:r>
              <a:rPr lang="en-US" sz="4400" dirty="0">
                <a:latin typeface="IBM Plex Sans" panose="020B0503050203000203" pitchFamily="34" charset="0"/>
                <a:ea typeface="Inter" panose="02000503000000020004" pitchFamily="2" charset="0"/>
              </a:rPr>
              <a:t>Annual Benefit per Value Driver </a:t>
            </a:r>
            <a:endParaRPr lang="en-US" sz="4400" dirty="0"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38792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BEB8E1A-0A30-04B8-0EF8-B6DB98E2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6F440C8-63D0-94D1-34E7-046B075534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50422"/>
            <a:ext cx="24385588" cy="11965577"/>
          </a:xfrm>
          <a:prstGeom prst="rect">
            <a:avLst/>
          </a:prstGeom>
          <a:solidFill>
            <a:srgbClr val="E5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800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F4574B2-7DAF-1FC6-49B6-BDE9916E8F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86877" y="2419049"/>
            <a:ext cx="943444" cy="94344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C3F8948-00D0-B101-B9F2-183AEB801F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3846" y="2427366"/>
            <a:ext cx="943444" cy="943444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B85CAE8E-5DB4-F323-BEB9-06929D260B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09274" y="2419051"/>
            <a:ext cx="943442" cy="943442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F64E2DD-4EEB-D8EA-2ED9-91899FA61D1F}"/>
              </a:ext>
            </a:extLst>
          </p:cNvPr>
          <p:cNvSpPr txBox="1"/>
          <p:nvPr/>
        </p:nvSpPr>
        <p:spPr>
          <a:xfrm>
            <a:off x="22798382" y="12766403"/>
            <a:ext cx="995944" cy="380732"/>
          </a:xfrm>
          <a:prstGeom prst="rect">
            <a:avLst/>
          </a:prstGeom>
        </p:spPr>
        <p:txBody>
          <a:bodyPr/>
          <a:lstStyle>
            <a:defPPr>
              <a:defRPr lang="en-CH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829014">
              <a:defRPr/>
            </a:pPr>
            <a:fld id="{86CB4B4D-7CA3-9044-876B-883B54F8677D}" type="slidenum">
              <a:rPr lang="en-US" sz="1600">
                <a:solidFill>
                  <a:srgbClr val="000000"/>
                </a:solidFill>
                <a:latin typeface="IBM Plex Sans" panose="020B0503050203000203" pitchFamily="34" charset="0"/>
                <a:sym typeface="IBM Plex Sans"/>
              </a:rPr>
              <a:pPr algn="r" defTabSz="1829014">
                <a:defRPr/>
              </a:pPr>
              <a:t>13</a:t>
            </a:fld>
            <a:endParaRPr lang="en-US" sz="1600">
              <a:solidFill>
                <a:srgbClr val="000000"/>
              </a:solidFill>
              <a:latin typeface="IBM Plex Sans" panose="020B0503050203000203" pitchFamily="34" charset="0"/>
              <a:sym typeface="IBM Plex San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4C227C6-D625-D5F6-6922-DE1EC9C54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909" y="576072"/>
            <a:ext cx="6310154" cy="851506"/>
          </a:xfrm>
        </p:spPr>
        <p:txBody>
          <a:bodyPr lIns="0" tIns="0" rIns="0" bIns="0" anchor="t"/>
          <a:lstStyle/>
          <a:p>
            <a:r>
              <a:rPr lang="en-US" sz="4800"/>
              <a:t>Case for change</a:t>
            </a:r>
          </a:p>
        </p:txBody>
      </p:sp>
      <p:sp>
        <p:nvSpPr>
          <p:cNvPr id="25" name="Google Shape;601;p79">
            <a:extLst>
              <a:ext uri="{FF2B5EF4-FFF2-40B4-BE49-F238E27FC236}">
                <a16:creationId xmlns:a16="http://schemas.microsoft.com/office/drawing/2014/main" id="{99FCC462-9F80-82EF-5E25-4B37AE85F0BB}"/>
              </a:ext>
            </a:extLst>
          </p:cNvPr>
          <p:cNvSpPr/>
          <p:nvPr/>
        </p:nvSpPr>
        <p:spPr>
          <a:xfrm>
            <a:off x="560909" y="2839379"/>
            <a:ext cx="2653500" cy="3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182875" bIns="4570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SzPts val="1100"/>
              <a:buNone/>
            </a:pPr>
            <a:r>
              <a:rPr lang="en-US" sz="2800">
                <a:solidFill>
                  <a:schemeClr val="accent1"/>
                </a:solidFill>
                <a:latin typeface="IBM Plex Sans" panose="020B0503050203000203" pitchFamily="34" charset="0"/>
                <a:ea typeface="Inter SemiBold" panose="02000503000000020004" pitchFamily="2" charset="0"/>
                <a:cs typeface="Inter"/>
                <a:sym typeface="Inter"/>
              </a:rPr>
              <a:t>Why Change?</a:t>
            </a:r>
            <a:endParaRPr sz="2800">
              <a:solidFill>
                <a:schemeClr val="accent1"/>
              </a:solidFill>
              <a:latin typeface="IBM Plex Sans" panose="020B0503050203000203" pitchFamily="34" charset="0"/>
              <a:ea typeface="Inter SemiBold" panose="02000503000000020004" pitchFamily="2" charset="0"/>
              <a:cs typeface="Inter"/>
              <a:sym typeface="Inter"/>
            </a:endParaRPr>
          </a:p>
        </p:txBody>
      </p:sp>
      <p:sp>
        <p:nvSpPr>
          <p:cNvPr id="26" name="Google Shape;604;p79">
            <a:extLst>
              <a:ext uri="{FF2B5EF4-FFF2-40B4-BE49-F238E27FC236}">
                <a16:creationId xmlns:a16="http://schemas.microsoft.com/office/drawing/2014/main" id="{7AFC4EC0-62E9-F1CE-350F-D94DD3FB74A0}"/>
              </a:ext>
            </a:extLst>
          </p:cNvPr>
          <p:cNvSpPr/>
          <p:nvPr/>
        </p:nvSpPr>
        <p:spPr>
          <a:xfrm>
            <a:off x="8685243" y="2839379"/>
            <a:ext cx="2428500" cy="3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IBM Plex Sans" panose="020B0503050203000203" pitchFamily="34" charset="0"/>
                <a:ea typeface="Inter SemiBold" panose="02000503000000020004" pitchFamily="2" charset="0"/>
                <a:cs typeface="Inter"/>
                <a:sym typeface="Inter"/>
              </a:rPr>
              <a:t>Why Now?</a:t>
            </a:r>
            <a:endParaRPr sz="2800">
              <a:solidFill>
                <a:schemeClr val="accent1"/>
              </a:solidFill>
              <a:latin typeface="IBM Plex Sans" panose="020B0503050203000203" pitchFamily="34" charset="0"/>
              <a:ea typeface="Inter SemiBold" panose="02000503000000020004" pitchFamily="2" charset="0"/>
              <a:cs typeface="Inter"/>
              <a:sym typeface="Inter"/>
            </a:endParaRPr>
          </a:p>
        </p:txBody>
      </p:sp>
      <p:sp>
        <p:nvSpPr>
          <p:cNvPr id="27" name="Google Shape;615;p79">
            <a:extLst>
              <a:ext uri="{FF2B5EF4-FFF2-40B4-BE49-F238E27FC236}">
                <a16:creationId xmlns:a16="http://schemas.microsoft.com/office/drawing/2014/main" id="{79157CD9-8641-FC25-CCE2-C073B400B9B8}"/>
              </a:ext>
            </a:extLst>
          </p:cNvPr>
          <p:cNvSpPr/>
          <p:nvPr/>
        </p:nvSpPr>
        <p:spPr>
          <a:xfrm>
            <a:off x="16710774" y="2839379"/>
            <a:ext cx="2994361" cy="3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SzPts val="1100"/>
              <a:buNone/>
            </a:pPr>
            <a:r>
              <a:rPr lang="en-US" sz="2800">
                <a:solidFill>
                  <a:schemeClr val="accent1"/>
                </a:solidFill>
                <a:latin typeface="IBM Plex Sans" panose="020B0503050203000203" pitchFamily="34" charset="0"/>
                <a:ea typeface="Inter SemiBold" panose="02000503000000020004" pitchFamily="2" charset="0"/>
                <a:cs typeface="Inter"/>
                <a:sym typeface="Inter"/>
              </a:rPr>
              <a:t>Why IBM?</a:t>
            </a:r>
            <a:endParaRPr sz="2800">
              <a:solidFill>
                <a:schemeClr val="accent1"/>
              </a:solidFill>
              <a:latin typeface="IBM Plex Sans" panose="020B0503050203000203" pitchFamily="34" charset="0"/>
              <a:ea typeface="Inter SemiBold" panose="02000503000000020004" pitchFamily="2" charset="0"/>
              <a:cs typeface="Inter"/>
              <a:sym typeface="Inter"/>
            </a:endParaRPr>
          </a:p>
        </p:txBody>
      </p:sp>
      <p:cxnSp>
        <p:nvCxnSpPr>
          <p:cNvPr id="28" name="Straight Connector 27" descr="Vertical column divider">
            <a:extLst>
              <a:ext uri="{FF2B5EF4-FFF2-40B4-BE49-F238E27FC236}">
                <a16:creationId xmlns:a16="http://schemas.microsoft.com/office/drawing/2014/main" id="{EE9AF8AB-BD97-FAEB-B038-F36AC4C67D10}"/>
              </a:ext>
            </a:extLst>
          </p:cNvPr>
          <p:cNvCxnSpPr/>
          <p:nvPr/>
        </p:nvCxnSpPr>
        <p:spPr bwMode="auto">
          <a:xfrm flipH="1">
            <a:off x="8128529" y="2427366"/>
            <a:ext cx="0" cy="107125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 descr="Vertical column divider">
            <a:extLst>
              <a:ext uri="{FF2B5EF4-FFF2-40B4-BE49-F238E27FC236}">
                <a16:creationId xmlns:a16="http://schemas.microsoft.com/office/drawing/2014/main" id="{4976F915-F2E1-23F6-41DB-B4057FBD1FB4}"/>
              </a:ext>
            </a:extLst>
          </p:cNvPr>
          <p:cNvCxnSpPr/>
          <p:nvPr/>
        </p:nvCxnSpPr>
        <p:spPr bwMode="auto">
          <a:xfrm flipH="1">
            <a:off x="16257057" y="2427366"/>
            <a:ext cx="0" cy="107125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Google Shape;482;p74">
            <a:extLst>
              <a:ext uri="{FF2B5EF4-FFF2-40B4-BE49-F238E27FC236}">
                <a16:creationId xmlns:a16="http://schemas.microsoft.com/office/drawing/2014/main" id="{3D599576-F45E-8213-6B28-D57B01B368F0}"/>
              </a:ext>
            </a:extLst>
          </p:cNvPr>
          <p:cNvSpPr/>
          <p:nvPr/>
        </p:nvSpPr>
        <p:spPr>
          <a:xfrm>
            <a:off x="718224" y="3362492"/>
            <a:ext cx="6757603" cy="90234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500"/>
              </a:spcBef>
              <a:buSzTx/>
            </a:pPr>
            <a:r>
              <a:rPr lang="en-US" sz="2200" b="1">
                <a:latin typeface="IBM Plex Sans SmBld" panose="020B0503050203000203" pitchFamily="34" charset="0"/>
                <a:ea typeface="Inter"/>
                <a:sym typeface="Inter"/>
              </a:rPr>
              <a:t>Organizations need to continuously optimize operations to reduce costs and improve performance.</a:t>
            </a:r>
          </a:p>
          <a:p>
            <a:pPr>
              <a:lnSpc>
                <a:spcPct val="115000"/>
              </a:lnSpc>
              <a:spcBef>
                <a:spcPts val="1500"/>
              </a:spcBef>
              <a:buSzTx/>
            </a:pPr>
            <a:endParaRPr lang="en-US" sz="2000">
              <a:latin typeface="IBM Plex Sans" panose="020B0503050203000203" pitchFamily="34" charset="0"/>
              <a:ea typeface="Inter"/>
              <a:sym typeface="Inter"/>
            </a:endParaRPr>
          </a:p>
          <a:p>
            <a:pPr>
              <a:lnSpc>
                <a:spcPct val="115000"/>
              </a:lnSpc>
              <a:spcBef>
                <a:spcPts val="1500"/>
              </a:spcBef>
              <a:buSzTx/>
            </a:pPr>
            <a:r>
              <a:rPr lang="en-US" sz="2200" b="1">
                <a:latin typeface="IBM Plex Sans SmBld" panose="020B0503050203000203" pitchFamily="34" charset="0"/>
                <a:ea typeface="Inter"/>
                <a:sym typeface="Inter"/>
              </a:rPr>
              <a:t>Modern business demands seamless, data-driven processes that enhance employee and customer experiences.</a:t>
            </a:r>
          </a:p>
          <a:p>
            <a:pPr>
              <a:lnSpc>
                <a:spcPct val="115000"/>
              </a:lnSpc>
              <a:spcBef>
                <a:spcPts val="1500"/>
              </a:spcBef>
              <a:buSzTx/>
            </a:pPr>
            <a:endParaRPr lang="en-US" sz="2000">
              <a:latin typeface="IBM Plex Sans" panose="020B0503050203000203" pitchFamily="34" charset="0"/>
              <a:ea typeface="Inter"/>
              <a:sym typeface="Inter"/>
            </a:endParaRPr>
          </a:p>
          <a:p>
            <a:pPr>
              <a:lnSpc>
                <a:spcPct val="115000"/>
              </a:lnSpc>
              <a:spcBef>
                <a:spcPts val="1500"/>
              </a:spcBef>
              <a:buSzTx/>
            </a:pPr>
            <a:r>
              <a:rPr lang="en-US" sz="2200" b="1">
                <a:latin typeface="IBM Plex Sans SmBld" panose="020B0503050203000203" pitchFamily="34" charset="0"/>
                <a:ea typeface="Inter"/>
                <a:sym typeface="Inter"/>
              </a:rPr>
              <a:t>Innovation requires tools that eliminate inefficiencies and enable people to focus on higher-value work.</a:t>
            </a:r>
          </a:p>
          <a:p>
            <a:pPr>
              <a:lnSpc>
                <a:spcPct val="115000"/>
              </a:lnSpc>
              <a:spcBef>
                <a:spcPts val="1500"/>
              </a:spcBef>
              <a:buSzTx/>
            </a:pPr>
            <a:endParaRPr lang="en-US" sz="2000">
              <a:latin typeface="IBM Plex Sans" panose="020B0503050203000203" pitchFamily="34" charset="0"/>
              <a:ea typeface="Inter"/>
              <a:sym typeface="Inter"/>
            </a:endParaRPr>
          </a:p>
          <a:p>
            <a:pPr>
              <a:lnSpc>
                <a:spcPct val="115000"/>
              </a:lnSpc>
              <a:spcBef>
                <a:spcPts val="1500"/>
              </a:spcBef>
              <a:buSzTx/>
            </a:pPr>
            <a:endParaRPr lang="en-US" sz="2200" b="1">
              <a:latin typeface="IBM Plex Sans SmBld" panose="020B0503050203000203" pitchFamily="34" charset="0"/>
              <a:ea typeface="Inter"/>
              <a:sym typeface="Inter"/>
            </a:endParaRPr>
          </a:p>
          <a:p>
            <a:pPr>
              <a:lnSpc>
                <a:spcPct val="115000"/>
              </a:lnSpc>
              <a:spcBef>
                <a:spcPts val="1500"/>
              </a:spcBef>
              <a:buSzTx/>
            </a:pPr>
            <a:endParaRPr lang="en-US" sz="2000">
              <a:latin typeface="IBM Plex Sans" panose="020B0503050203000203" pitchFamily="34" charset="0"/>
              <a:ea typeface="Inter"/>
              <a:sym typeface="Inter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3986D65-3695-AB66-593E-6EA5D02FAA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14877" y="518065"/>
            <a:ext cx="1638301" cy="609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DE94FD-00CD-8FF5-E8F4-BE99E44F76D5}"/>
              </a:ext>
            </a:extLst>
          </p:cNvPr>
          <p:cNvSpPr txBox="1"/>
          <p:nvPr/>
        </p:nvSpPr>
        <p:spPr>
          <a:xfrm flipH="1">
            <a:off x="24819429" y="12383589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Tx/>
              <a:buFontTx/>
              <a:buChar char="–"/>
            </a:pPr>
            <a:endParaRPr lang="en-US" kern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8" name="Google Shape;482;p74">
            <a:extLst>
              <a:ext uri="{FF2B5EF4-FFF2-40B4-BE49-F238E27FC236}">
                <a16:creationId xmlns:a16="http://schemas.microsoft.com/office/drawing/2014/main" id="{6EDCC8C6-7498-C2F4-7F1C-BAB3D68637CC}"/>
              </a:ext>
            </a:extLst>
          </p:cNvPr>
          <p:cNvSpPr/>
          <p:nvPr/>
        </p:nvSpPr>
        <p:spPr>
          <a:xfrm>
            <a:off x="8683878" y="3362492"/>
            <a:ext cx="7046443" cy="90234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500"/>
              </a:spcBef>
              <a:buSzTx/>
            </a:pPr>
            <a:r>
              <a:rPr lang="en-US" sz="2200" b="1">
                <a:latin typeface="IBM Plex Sans SmBld" panose="020B0503050203000203" pitchFamily="34" charset="0"/>
                <a:ea typeface="Inter"/>
                <a:sym typeface="Inter"/>
              </a:rPr>
              <a:t>Rising costs and resource pressures make operational improvements more urgent than ever.</a:t>
            </a:r>
          </a:p>
          <a:p>
            <a:pPr>
              <a:lnSpc>
                <a:spcPct val="115000"/>
              </a:lnSpc>
              <a:spcBef>
                <a:spcPts val="1500"/>
              </a:spcBef>
              <a:buSzTx/>
            </a:pPr>
            <a:endParaRPr lang="en-US" sz="2000">
              <a:latin typeface="IBM Plex Sans" panose="020B0503050203000203" pitchFamily="34" charset="0"/>
              <a:ea typeface="Inter"/>
              <a:sym typeface="Inter"/>
            </a:endParaRPr>
          </a:p>
          <a:p>
            <a:pPr>
              <a:lnSpc>
                <a:spcPct val="115000"/>
              </a:lnSpc>
              <a:spcBef>
                <a:spcPts val="1500"/>
              </a:spcBef>
              <a:buSzTx/>
            </a:pPr>
            <a:r>
              <a:rPr lang="en-US" sz="2200" b="1">
                <a:latin typeface="IBM Plex Sans SmBld" panose="020B0503050203000203" pitchFamily="34" charset="0"/>
                <a:ea typeface="Inter"/>
                <a:sym typeface="Inter"/>
              </a:rPr>
              <a:t>Digital transformation is accelerating, and waiting risks falling behind competitors already modernizing.</a:t>
            </a:r>
          </a:p>
          <a:p>
            <a:pPr>
              <a:lnSpc>
                <a:spcPct val="115000"/>
              </a:lnSpc>
              <a:spcBef>
                <a:spcPts val="1500"/>
              </a:spcBef>
              <a:buSzTx/>
            </a:pPr>
            <a:endParaRPr lang="en-US" sz="2000">
              <a:latin typeface="IBM Plex Sans" panose="020B0503050203000203" pitchFamily="34" charset="0"/>
              <a:ea typeface="Inter"/>
              <a:sym typeface="Inter"/>
            </a:endParaRPr>
          </a:p>
          <a:p>
            <a:pPr>
              <a:lnSpc>
                <a:spcPct val="115000"/>
              </a:lnSpc>
              <a:spcBef>
                <a:spcPts val="1500"/>
              </a:spcBef>
              <a:buSzTx/>
            </a:pPr>
            <a:r>
              <a:rPr lang="en-US" sz="2200" b="1">
                <a:latin typeface="IBM Plex Sans SmBld" panose="020B0503050203000203" pitchFamily="34" charset="0"/>
                <a:ea typeface="Inter"/>
                <a:sym typeface="Inter"/>
              </a:rPr>
              <a:t>The rapid maturity of AI and automation technologies enables tangible ROI today, not years from now.</a:t>
            </a:r>
          </a:p>
          <a:p>
            <a:pPr>
              <a:lnSpc>
                <a:spcPct val="115000"/>
              </a:lnSpc>
              <a:spcBef>
                <a:spcPts val="1500"/>
              </a:spcBef>
              <a:buSzTx/>
            </a:pPr>
            <a:endParaRPr lang="en-US" sz="2000">
              <a:latin typeface="IBM Plex Sans" panose="020B0503050203000203" pitchFamily="34" charset="0"/>
              <a:ea typeface="Inter"/>
              <a:sym typeface="Inter"/>
            </a:endParaRPr>
          </a:p>
          <a:p>
            <a:pPr>
              <a:lnSpc>
                <a:spcPct val="115000"/>
              </a:lnSpc>
              <a:spcBef>
                <a:spcPts val="1500"/>
              </a:spcBef>
              <a:buSzTx/>
            </a:pPr>
            <a:endParaRPr lang="en-US" sz="2200" b="1">
              <a:latin typeface="IBM Plex Sans SmBld" panose="020B0503050203000203" pitchFamily="34" charset="0"/>
              <a:ea typeface="Inter"/>
              <a:sym typeface="Inter"/>
            </a:endParaRPr>
          </a:p>
          <a:p>
            <a:pPr>
              <a:lnSpc>
                <a:spcPct val="115000"/>
              </a:lnSpc>
              <a:spcBef>
                <a:spcPts val="1500"/>
              </a:spcBef>
              <a:buSzTx/>
            </a:pPr>
            <a:endParaRPr lang="en-US" sz="2000">
              <a:latin typeface="IBM Plex Sans" panose="020B0503050203000203" pitchFamily="34" charset="0"/>
              <a:ea typeface="Inter"/>
              <a:sym typeface="Inter"/>
            </a:endParaRPr>
          </a:p>
        </p:txBody>
      </p:sp>
      <p:sp>
        <p:nvSpPr>
          <p:cNvPr id="9" name="Google Shape;482;p74">
            <a:extLst>
              <a:ext uri="{FF2B5EF4-FFF2-40B4-BE49-F238E27FC236}">
                <a16:creationId xmlns:a16="http://schemas.microsoft.com/office/drawing/2014/main" id="{6E7D7E65-5842-61D5-D795-363ABDAA4241}"/>
              </a:ext>
            </a:extLst>
          </p:cNvPr>
          <p:cNvSpPr/>
          <p:nvPr/>
        </p:nvSpPr>
        <p:spPr>
          <a:xfrm>
            <a:off x="16710774" y="3362492"/>
            <a:ext cx="7046443" cy="90234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500"/>
              </a:spcBef>
              <a:buSzTx/>
            </a:pPr>
            <a:r>
              <a:rPr lang="en-US" sz="2200" b="1">
                <a:latin typeface="IBM Plex Sans SmBld" panose="020B0503050203000203" pitchFamily="34" charset="0"/>
                <a:ea typeface="Inter"/>
                <a:sym typeface="Inter"/>
              </a:rPr>
              <a:t>IBM proves its solutions to validate impact before delivering them to clients.</a:t>
            </a:r>
          </a:p>
          <a:p>
            <a:pPr>
              <a:lnSpc>
                <a:spcPct val="115000"/>
              </a:lnSpc>
              <a:spcBef>
                <a:spcPts val="1500"/>
              </a:spcBef>
              <a:buSzTx/>
            </a:pPr>
            <a:endParaRPr lang="en-US" sz="2000">
              <a:latin typeface="IBM Plex Sans" panose="020B0503050203000203" pitchFamily="34" charset="0"/>
              <a:ea typeface="Inter"/>
              <a:sym typeface="Inter"/>
            </a:endParaRPr>
          </a:p>
          <a:p>
            <a:pPr>
              <a:lnSpc>
                <a:spcPct val="115000"/>
              </a:lnSpc>
              <a:spcBef>
                <a:spcPts val="1500"/>
              </a:spcBef>
              <a:buSzTx/>
            </a:pPr>
            <a:r>
              <a:rPr lang="en-US" sz="2200" b="1">
                <a:latin typeface="IBM Plex Sans SmBld" panose="020B0503050203000203" pitchFamily="34" charset="0"/>
                <a:ea typeface="Inter"/>
                <a:sym typeface="Inter"/>
              </a:rPr>
              <a:t>The approach provides tested, real-world insights and best practices that reduce adoption risk.</a:t>
            </a:r>
          </a:p>
          <a:p>
            <a:pPr>
              <a:lnSpc>
                <a:spcPct val="115000"/>
              </a:lnSpc>
              <a:spcBef>
                <a:spcPts val="1500"/>
              </a:spcBef>
              <a:buSzTx/>
            </a:pPr>
            <a:endParaRPr lang="en-US" sz="2000">
              <a:latin typeface="IBM Plex Sans" panose="020B0503050203000203" pitchFamily="34" charset="0"/>
              <a:ea typeface="Inter"/>
              <a:sym typeface="Inter"/>
            </a:endParaRPr>
          </a:p>
          <a:p>
            <a:pPr>
              <a:lnSpc>
                <a:spcPct val="115000"/>
              </a:lnSpc>
              <a:spcBef>
                <a:spcPts val="1500"/>
              </a:spcBef>
              <a:buSzTx/>
            </a:pPr>
            <a:r>
              <a:rPr lang="en-US" sz="2200" b="1">
                <a:latin typeface="IBM Plex Sans SmBld" panose="020B0503050203000203" pitchFamily="34" charset="0"/>
                <a:ea typeface="Inter"/>
                <a:sym typeface="Inter"/>
              </a:rPr>
              <a:t>IBM delivers innovation backed by scale, security, and proven enterprise-grade outcomes.</a:t>
            </a:r>
          </a:p>
          <a:p>
            <a:pPr>
              <a:lnSpc>
                <a:spcPct val="115000"/>
              </a:lnSpc>
              <a:spcBef>
                <a:spcPts val="1500"/>
              </a:spcBef>
              <a:buSzTx/>
            </a:pPr>
            <a:endParaRPr lang="en-US" sz="2000">
              <a:latin typeface="IBM Plex Sans" panose="020B0503050203000203" pitchFamily="34" charset="0"/>
              <a:ea typeface="Inter"/>
              <a:sym typeface="Inter"/>
            </a:endParaRPr>
          </a:p>
          <a:p>
            <a:pPr>
              <a:lnSpc>
                <a:spcPct val="115000"/>
              </a:lnSpc>
              <a:spcBef>
                <a:spcPts val="1500"/>
              </a:spcBef>
              <a:buSzTx/>
            </a:pPr>
            <a:endParaRPr lang="en-US" sz="2200" b="1">
              <a:latin typeface="IBM Plex Sans SmBld" panose="020B0503050203000203" pitchFamily="34" charset="0"/>
              <a:ea typeface="Inter"/>
              <a:sym typeface="Inter"/>
            </a:endParaRPr>
          </a:p>
          <a:p>
            <a:pPr>
              <a:lnSpc>
                <a:spcPct val="115000"/>
              </a:lnSpc>
              <a:spcBef>
                <a:spcPts val="1500"/>
              </a:spcBef>
              <a:buSzTx/>
            </a:pPr>
            <a:endParaRPr lang="en-US" sz="2000">
              <a:latin typeface="IBM Plex Sans" panose="020B0503050203000203" pitchFamily="34" charset="0"/>
              <a:ea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97728946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1305059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3.10 unknown"/>
  <p:tag name="AS_RELEASE_DATE" val="2025.12.31"/>
  <p:tag name="AS_TITLE" val="Aspose.Slides for Java"/>
  <p:tag name="AS_VERSION" val="25.12"/>
</p:tagLst>
</file>

<file path=ppt/theme/theme1.xml><?xml version="1.0" encoding="utf-8"?>
<a:theme xmlns:a="http://schemas.openxmlformats.org/drawingml/2006/main" name="2_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IBM Plex Sans Light"/>
        <a:cs typeface="Arial"/>
      </a:majorFont>
      <a:minorFont>
        <a:latin typeface="IBM Plex Sans Light"/>
        <a:ea typeface="IBM Plex Sans Light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68918050" id="{31DF0289-1028-6943-A020-36845773A867}" vid="{420903E5-FF27-9C4D-AB14-78ABBED49DF3}"/>
    </a:ext>
  </a:extLst>
</a:theme>
</file>

<file path=ppt/theme/theme2.xml><?xml version="1.0" encoding="utf-8"?>
<a:theme xmlns:a="http://schemas.openxmlformats.org/drawingml/2006/main" name="1_Detailed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IBM Plex Sans Light"/>
        <a:cs typeface="Arial"/>
      </a:majorFont>
      <a:minorFont>
        <a:latin typeface="IBM Plex Sans Light"/>
        <a:ea typeface="IBM Plex Sans Light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30 px Grid - Think 2025 (16-9)" id="{1DDC79C5-524B-204B-862C-25AB029215C7}" vid="{220AED4D-9AA4-D442-81A4-4101750AC6E5}"/>
    </a:ext>
  </a:extLst>
</a:theme>
</file>

<file path=ppt/theme/theme3.xml><?xml version="1.0" encoding="utf-8"?>
<a:theme xmlns:a="http://schemas.openxmlformats.org/drawingml/2006/main" name="2_Detailed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IBM Plex Sans Light"/>
        <a:cs typeface="Arial"/>
      </a:majorFont>
      <a:minorFont>
        <a:latin typeface="IBM Plex Sans Light"/>
        <a:ea typeface="IBM Plex Sans Light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30 px Grid - Think 2025 (16-9)" id="{1DDC79C5-524B-204B-862C-25AB029215C7}" vid="{220AED4D-9AA4-D442-81A4-4101750AC6E5}"/>
    </a:ext>
  </a:extLst>
</a:theme>
</file>

<file path=ppt/theme/theme4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IBM Plex Sans Light"/>
        <a:cs typeface="Arial"/>
      </a:majorFont>
      <a:minorFont>
        <a:latin typeface="IBM Plex Sans Light"/>
        <a:ea typeface="IBM Plex Sans Light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5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IBM Plex Sans Light"/>
        <a:cs typeface="Arial"/>
      </a:majorFont>
      <a:minorFont>
        <a:latin typeface="IBM Plex Sans Light"/>
        <a:ea typeface="IBM Plex Sans Light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FB48E7781CB14ABDFC5701083D6948" ma:contentTypeVersion="16" ma:contentTypeDescription="Create a new document." ma:contentTypeScope="" ma:versionID="0a5a94812048736ab22efafce18a0d73">
  <xsd:schema xmlns:xsd="http://www.w3.org/2001/XMLSchema" xmlns:xs="http://www.w3.org/2001/XMLSchema" xmlns:p="http://schemas.microsoft.com/office/2006/metadata/properties" xmlns:ns3="3688a6bb-efbb-4e3c-888b-d441044b8468" xmlns:ns4="f8ac5e7d-7b7d-46e0-8d8a-f4f02b48db66" targetNamespace="http://schemas.microsoft.com/office/2006/metadata/properties" ma:root="true" ma:fieldsID="9c0dc526af00578c14da784622014688" ns3:_="" ns4:_="">
    <xsd:import namespace="3688a6bb-efbb-4e3c-888b-d441044b8468"/>
    <xsd:import namespace="f8ac5e7d-7b7d-46e0-8d8a-f4f02b48db6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ObjectDetectorVersions" minOccurs="0"/>
                <xsd:element ref="ns4:MediaServiceSearchProperties" minOccurs="0"/>
                <xsd:element ref="ns4:MediaServiceDateTaken" minOccurs="0"/>
                <xsd:element ref="ns4:MediaServiceSystemTags" minOccurs="0"/>
                <xsd:element ref="ns4:MediaLengthInSeconds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8a6bb-efbb-4e3c-888b-d441044b846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ac5e7d-7b7d-46e0-8d8a-f4f02b48d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ac5e7d-7b7d-46e0-8d8a-f4f02b48db6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D879AF-F09F-4DCB-8CED-F6F7737F4A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88a6bb-efbb-4e3c-888b-d441044b8468"/>
    <ds:schemaRef ds:uri="f8ac5e7d-7b7d-46e0-8d8a-f4f02b48db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5C5E696-44D8-48C9-B8AF-7C29963551D3}">
  <ds:schemaRefs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dcmitype/"/>
    <ds:schemaRef ds:uri="f8ac5e7d-7b7d-46e0-8d8a-f4f02b48db66"/>
    <ds:schemaRef ds:uri="http://schemas.openxmlformats.org/package/2006/metadata/core-properties"/>
    <ds:schemaRef ds:uri="3688a6bb-efbb-4e3c-888b-d441044b8468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E4D610B-E1C6-4515-896F-B99FF01C45D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IBM_presentation_template_v_1_5_Plex</Template>
  <TotalTime>56379</TotalTime>
  <Words>1326</Words>
  <Application>Microsoft Macintosh PowerPoint</Application>
  <PresentationFormat>Custom</PresentationFormat>
  <Paragraphs>340</Paragraphs>
  <Slides>14</Slides>
  <Notes>8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Aptos</vt:lpstr>
      <vt:lpstr>Arial</vt:lpstr>
      <vt:lpstr>IBM Plex Sans</vt:lpstr>
      <vt:lpstr>IBM Plex Sans Light</vt:lpstr>
      <vt:lpstr>IBM Plex Sans Medm</vt:lpstr>
      <vt:lpstr>IBM Plex Sans SmBld</vt:lpstr>
      <vt:lpstr>Inter</vt:lpstr>
      <vt:lpstr>2_IBM presentation template</vt:lpstr>
      <vt:lpstr>1_Detailed</vt:lpstr>
      <vt:lpstr>2_Detailed</vt:lpstr>
      <vt:lpstr>Customer Business Value Assessment  Db2 AI Editions Genius Hub  April 2026</vt:lpstr>
      <vt:lpstr>PowerPoint Presentation</vt:lpstr>
      <vt:lpstr>PowerPoint Presentation</vt:lpstr>
      <vt:lpstr>PowerPoint Presentation</vt:lpstr>
      <vt:lpstr>PowerPoint Presentation</vt:lpstr>
      <vt:lpstr>Executive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Case for change</vt:lpstr>
      <vt:lpstr>PowerPoint Presentation</vt:lpstr>
    </vt:vector>
  </TitlesOfParts>
  <Company>IBM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&lt;Digital Labor Narrative Title&gt;</dc:title>
  <dc:creator>David Grossman</dc:creator>
  <cp:lastModifiedBy>Aniruddha Joshi</cp:lastModifiedBy>
  <cp:revision>2762</cp:revision>
  <cp:lastPrinted>2019-04-25T15:14:05Z</cp:lastPrinted>
  <dcterms:created xsi:type="dcterms:W3CDTF">2023-06-06T18:41:46Z</dcterms:created>
  <dcterms:modified xsi:type="dcterms:W3CDTF">2026-04-20T21:04:44Z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0x010100C0FB48E7781CB14ABDFC5701083D6948</vt:lpwstr>
  </property>
</Properties>
</file>