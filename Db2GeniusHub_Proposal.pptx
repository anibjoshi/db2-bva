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1pPr>
    <a:lvl2pPr marL="0" marR="0" indent="914687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2pPr>
    <a:lvl3pPr marL="0" marR="0" indent="1829379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3pPr>
    <a:lvl4pPr marL="0" marR="0" indent="2744067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4pPr>
    <a:lvl5pPr marL="0" marR="0" indent="3658758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5pPr>
    <a:lvl6pPr marL="0" marR="0" indent="4573446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6pPr>
    <a:lvl7pPr marL="0" marR="0" indent="5488137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7pPr>
    <a:lvl8pPr marL="0" marR="0" indent="6402827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8pPr>
    <a:lvl9pPr marL="0" marR="0" indent="7317517" algn="l" defTabSz="182937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IBM Plex Sans Light"/>
        <a:ea typeface="IBM Plex Sans Light"/>
        <a:cs typeface="IBM Plex Sans Light"/>
        <a:sym typeface="IBM Plex Sans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D1FF"/>
          </a:solidFill>
        </a:fill>
      </a:tcStyle>
    </a:wholeTbl>
    <a:band2H>
      <a:tcTxStyle/>
      <a:tcStyle>
        <a:tcBdr/>
        <a:fill>
          <a:solidFill>
            <a:srgbClr val="E6EAFF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9525" cap="flat">
              <a:solidFill>
                <a:srgbClr val="095EFE"/>
              </a:solidFill>
              <a:prstDash val="solid"/>
              <a:round/>
            </a:ln>
          </a:left>
          <a:right>
            <a:ln w="9525" cap="flat">
              <a:solidFill>
                <a:srgbClr val="095EFE"/>
              </a:solidFill>
              <a:prstDash val="solid"/>
              <a:round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9525" cap="flat">
              <a:solidFill>
                <a:srgbClr val="095E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095EFE"/>
              </a:solidFill>
              <a:prstDash val="solid"/>
              <a:round/>
            </a:ln>
          </a:top>
          <a:bottom>
            <a:ln w="9525" cap="flat">
              <a:solidFill>
                <a:srgbClr val="095E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DD3"/>
          </a:solidFill>
        </a:fill>
      </a:tcStyle>
    </a:wholeTbl>
    <a:band2H>
      <a:tcTxStyle/>
      <a:tcStyle>
        <a:tcBdr/>
        <a:fill>
          <a:solidFill>
            <a:srgbClr val="E6E7EA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DCFD0"/>
          </a:solidFill>
        </a:fill>
      </a:tcStyle>
    </a:wholeTbl>
    <a:band2H>
      <a:tcTxStyle/>
      <a:tcStyle>
        <a:tcBdr/>
        <a:fill>
          <a:solidFill>
            <a:srgbClr val="FEE8E9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IBM Plex Sans Light"/>
          <a:ea typeface="IBM Plex Sans Light"/>
          <a:cs typeface="IBM Plex Sans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IBM Plex Sans Light"/>
          <a:ea typeface="IBM Plex Sans Light"/>
          <a:cs typeface="IBM Plex Sans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/>
    <p:restoredTop sz="94676"/>
  </p:normalViewPr>
  <p:slideViewPr>
    <p:cSldViewPr snapToGrid="0">
      <p:cViewPr varScale="1">
        <p:scale>
          <a:sx n="57" d="100"/>
          <a:sy n="57" d="100"/>
        </p:scale>
        <p:origin x="10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36757000000000001"/>
          <c:y val="0.100136"/>
          <c:w val="0.62743000000000004"/>
          <c:h val="0.84656799999999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[&gt;999999]&quot; &quot;&quot;$&quot;#,,&quot;M&quot;;[&gt;999]&quot; &quot;&quot;$&quot;#,&quot;K&quot;;&quot;  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404040"/>
                    </a:solidFill>
                    <a:latin typeface="IBM Plex Sans Tex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DBA Productivity &amp; Labor Cost Avoidance</c:v>
                </c:pt>
                <c:pt idx="1">
                  <c:v>Faster Incident Resolution (MTTR Reduction)</c:v>
                </c:pt>
                <c:pt idx="2">
                  <c:v>Avoided Severe Incidents &amp; Downtime Risk</c:v>
                </c:pt>
                <c:pt idx="3">
                  <c:v>Tool Consolidation &amp; Operational Efficiency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1308150</c:v>
                </c:pt>
                <c:pt idx="1">
                  <c:v>213750</c:v>
                </c:pt>
                <c:pt idx="2">
                  <c:v>712500</c:v>
                </c:pt>
                <c:pt idx="3">
                  <c:v>285000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F-6740-93E4-7B00D8C43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595959"/>
                </a:solidFill>
                <a:latin typeface="IBM Plex Sans Text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[&gt;999999]&quot;$&quot;0.0,,&quot;M&quot;;[&gt;999]&quot;$&quot;0.0,&quot;K&quot;;&quot;$&quot;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000000"/>
                </a:solidFill>
                <a:latin typeface="IBM Plex Sans Text"/>
              </a:defRPr>
            </a:pPr>
            <a:endParaRPr lang="en-US"/>
          </a:p>
        </c:txPr>
        <c:crossAx val="2094734552"/>
        <c:crosses val="autoZero"/>
        <c:crossBetween val="between"/>
        <c:majorUnit val="350000"/>
        <c:minorUnit val="17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9FDA-DC4E-A9F4-CC82874D90BA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DA-DC4E-A9F4-CC82874D90BA}"/>
              </c:ext>
            </c:extLst>
          </c:dPt>
          <c:dPt>
            <c:idx val="2"/>
            <c:bubble3D val="0"/>
            <c:spPr>
              <a:solidFill>
                <a:srgbClr val="BAE6FF"/>
              </a:solidFill>
              <a:ln w="19050" cap="flat">
                <a:solidFill>
                  <a:srgbClr val="1192E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FDA-DC4E-A9F4-CC82874D90BA}"/>
              </c:ext>
            </c:extLst>
          </c:dPt>
          <c:dPt>
            <c:idx val="3"/>
            <c:bubble3D val="0"/>
            <c:spPr>
              <a:solidFill>
                <a:srgbClr val="9EF0F0"/>
              </a:solidFill>
              <a:ln w="19050" cap="flat">
                <a:solidFill>
                  <a:schemeClr val="accent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FDA-DC4E-A9F4-CC82874D90BA}"/>
              </c:ext>
            </c:extLst>
          </c:dPt>
          <c:dPt>
            <c:idx val="4"/>
            <c:bubble3D val="0"/>
            <c:spPr>
              <a:solidFill>
                <a:srgbClr val="FFD6E8"/>
              </a:solidFill>
              <a:ln w="19050" cap="flat">
                <a:solidFill>
                  <a:srgbClr val="EE539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9FDA-DC4E-A9F4-CC82874D90BA}"/>
              </c:ext>
            </c:extLst>
          </c:dPt>
          <c:dPt>
            <c:idx val="5"/>
            <c:bubble3D val="0"/>
            <c:spPr>
              <a:solidFill>
                <a:srgbClr val="FFD7D9"/>
              </a:solidFill>
              <a:ln w="19050" cap="flat">
                <a:solidFill>
                  <a:schemeClr val="accent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9FDA-DC4E-A9F4-CC82874D90BA}"/>
              </c:ext>
            </c:extLst>
          </c:dPt>
          <c:cat>
            <c:strRef>
              <c:f>Sheet1!$B$1:$C$1</c:f>
              <c:strCache>
                <c:ptCount val="2"/>
                <c:pt idx="0">
                  <c:v>Label 1</c:v>
                </c:pt>
                <c:pt idx="1">
                  <c:v>Label 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0.37</c:v>
                </c:pt>
                <c:pt idx="1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FDA-DC4E-A9F4-CC82874D9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198D-5F4F-87A9-7678F30F8A1D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98D-5F4F-87A9-7678F30F8A1D}"/>
              </c:ext>
            </c:extLst>
          </c:dPt>
          <c:dPt>
            <c:idx val="2"/>
            <c:bubble3D val="0"/>
            <c:spPr>
              <a:solidFill>
                <a:srgbClr val="BAE6FF"/>
              </a:solidFill>
              <a:ln w="19050" cap="flat">
                <a:solidFill>
                  <a:srgbClr val="1192E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98D-5F4F-87A9-7678F30F8A1D}"/>
              </c:ext>
            </c:extLst>
          </c:dPt>
          <c:dPt>
            <c:idx val="3"/>
            <c:bubble3D val="0"/>
            <c:spPr>
              <a:solidFill>
                <a:srgbClr val="9EF0F0"/>
              </a:solidFill>
              <a:ln w="19050" cap="flat">
                <a:solidFill>
                  <a:schemeClr val="accent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98D-5F4F-87A9-7678F30F8A1D}"/>
              </c:ext>
            </c:extLst>
          </c:dPt>
          <c:dPt>
            <c:idx val="4"/>
            <c:bubble3D val="0"/>
            <c:spPr>
              <a:solidFill>
                <a:srgbClr val="FFD6E8"/>
              </a:solidFill>
              <a:ln w="19050" cap="flat">
                <a:solidFill>
                  <a:srgbClr val="EE539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198D-5F4F-87A9-7678F30F8A1D}"/>
              </c:ext>
            </c:extLst>
          </c:dPt>
          <c:dPt>
            <c:idx val="5"/>
            <c:bubble3D val="0"/>
            <c:spPr>
              <a:solidFill>
                <a:srgbClr val="FFD7D9"/>
              </a:solidFill>
              <a:ln w="19050" cap="flat">
                <a:solidFill>
                  <a:schemeClr val="accent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198D-5F4F-87A9-7678F30F8A1D}"/>
              </c:ext>
            </c:extLst>
          </c:dPt>
          <c:cat>
            <c:strRef>
              <c:f>Sheet1!$B$1:$C$1</c:f>
              <c:strCache>
                <c:ptCount val="2"/>
                <c:pt idx="0">
                  <c:v>Label 1</c:v>
                </c:pt>
                <c:pt idx="1">
                  <c:v>Label 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0.28999999999999998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98D-5F4F-87A9-7678F30F8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295C-1E49-B8FE-62B26605D750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5C-1E49-B8FE-62B26605D750}"/>
              </c:ext>
            </c:extLst>
          </c:dPt>
          <c:dPt>
            <c:idx val="2"/>
            <c:bubble3D val="0"/>
            <c:spPr>
              <a:solidFill>
                <a:srgbClr val="BAE6FF"/>
              </a:solidFill>
              <a:ln w="19050" cap="flat">
                <a:solidFill>
                  <a:srgbClr val="1192E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95C-1E49-B8FE-62B26605D750}"/>
              </c:ext>
            </c:extLst>
          </c:dPt>
          <c:dPt>
            <c:idx val="3"/>
            <c:bubble3D val="0"/>
            <c:spPr>
              <a:solidFill>
                <a:srgbClr val="9EF0F0"/>
              </a:solidFill>
              <a:ln w="19050" cap="flat">
                <a:solidFill>
                  <a:schemeClr val="accent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95C-1E49-B8FE-62B26605D750}"/>
              </c:ext>
            </c:extLst>
          </c:dPt>
          <c:dPt>
            <c:idx val="4"/>
            <c:bubble3D val="0"/>
            <c:spPr>
              <a:solidFill>
                <a:srgbClr val="FFD6E8"/>
              </a:solidFill>
              <a:ln w="19050" cap="flat">
                <a:solidFill>
                  <a:srgbClr val="EE539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95C-1E49-B8FE-62B26605D750}"/>
              </c:ext>
            </c:extLst>
          </c:dPt>
          <c:dPt>
            <c:idx val="5"/>
            <c:bubble3D val="0"/>
            <c:spPr>
              <a:solidFill>
                <a:srgbClr val="FFD7D9"/>
              </a:solidFill>
              <a:ln w="19050" cap="flat">
                <a:solidFill>
                  <a:schemeClr val="accent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295C-1E49-B8FE-62B26605D750}"/>
              </c:ext>
            </c:extLst>
          </c:dPt>
          <c:cat>
            <c:strRef>
              <c:f>Sheet1!$B$1:$C$1</c:f>
              <c:strCache>
                <c:ptCount val="2"/>
                <c:pt idx="0">
                  <c:v>Label 1</c:v>
                </c:pt>
                <c:pt idx="1">
                  <c:v>Label 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0.28000000000000003</c:v>
                </c:pt>
                <c:pt idx="1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95C-1E49-B8FE-62B26605D7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7D61-6A40-A856-0B0A416B8FE8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61-6A40-A856-0B0A416B8FE8}"/>
              </c:ext>
            </c:extLst>
          </c:dPt>
          <c:dPt>
            <c:idx val="2"/>
            <c:bubble3D val="0"/>
            <c:spPr>
              <a:solidFill>
                <a:srgbClr val="BAE6FF"/>
              </a:solidFill>
              <a:ln w="19050" cap="flat">
                <a:solidFill>
                  <a:srgbClr val="1192E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61-6A40-A856-0B0A416B8FE8}"/>
              </c:ext>
            </c:extLst>
          </c:dPt>
          <c:dPt>
            <c:idx val="3"/>
            <c:bubble3D val="0"/>
            <c:spPr>
              <a:solidFill>
                <a:srgbClr val="9EF0F0"/>
              </a:solidFill>
              <a:ln w="19050" cap="flat">
                <a:solidFill>
                  <a:schemeClr val="accent4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61-6A40-A856-0B0A416B8FE8}"/>
              </c:ext>
            </c:extLst>
          </c:dPt>
          <c:dPt>
            <c:idx val="4"/>
            <c:bubble3D val="0"/>
            <c:spPr>
              <a:solidFill>
                <a:srgbClr val="FFD6E8"/>
              </a:solidFill>
              <a:ln w="19050" cap="flat">
                <a:solidFill>
                  <a:srgbClr val="EE539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7D61-6A40-A856-0B0A416B8FE8}"/>
              </c:ext>
            </c:extLst>
          </c:dPt>
          <c:dPt>
            <c:idx val="5"/>
            <c:bubble3D val="0"/>
            <c:spPr>
              <a:solidFill>
                <a:srgbClr val="FFD7D9"/>
              </a:solidFill>
              <a:ln w="19050" cap="flat">
                <a:solidFill>
                  <a:schemeClr val="accent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7D61-6A40-A856-0B0A416B8FE8}"/>
              </c:ext>
            </c:extLst>
          </c:dPt>
          <c:cat>
            <c:strRef>
              <c:f>Sheet1!$B$1:$C$1</c:f>
              <c:strCache>
                <c:ptCount val="2"/>
                <c:pt idx="0">
                  <c:v>Label 1</c:v>
                </c:pt>
                <c:pt idx="1">
                  <c:v>Label 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0.26</c:v>
                </c:pt>
                <c:pt idx="1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D61-6A40-A856-0B0A416B8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" name="Shape 2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1pPr>
    <a:lvl2pPr indent="2286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2pPr>
    <a:lvl3pPr indent="4572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3pPr>
    <a:lvl4pPr indent="6858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4pPr>
    <a:lvl5pPr indent="9144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5pPr>
    <a:lvl6pPr indent="11430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6pPr>
    <a:lvl7pPr indent="13716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7pPr>
    <a:lvl8pPr indent="16002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8pPr>
    <a:lvl9pPr indent="1828800" defTabSz="2438522" latinLnBrk="0">
      <a:lnSpc>
        <a:spcPct val="110000"/>
      </a:lnSpc>
      <a:defRPr sz="1200">
        <a:latin typeface="+mn-lt"/>
        <a:ea typeface="+mn-ea"/>
        <a:cs typeface="+mn-cs"/>
        <a:sym typeface="IBM Plex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, imagery, half, 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6000" y="576072"/>
            <a:ext cx="10099676" cy="5715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  <a:lvl2pPr marL="256031" indent="-256031">
              <a:defRPr sz="2800"/>
            </a:lvl2pPr>
            <a:lvl3pPr marL="585216" indent="-256032">
              <a:defRPr sz="2800"/>
            </a:lvl3pPr>
            <a:lvl4pPr marL="914400" indent="-256031">
              <a:defRPr sz="2800"/>
            </a:lvl4pPr>
            <a:lvl5pPr marL="1041400" indent="-355600"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576000" y="1511999"/>
            <a:ext cx="10099676" cy="91471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400"/>
            </a:lvl1pPr>
          </a:lstStyle>
          <a:p>
            <a:r>
              <a:t>Title Text</a:t>
            </a:r>
          </a:p>
        </p:txBody>
      </p:sp>
      <p:pic>
        <p:nvPicPr>
          <p:cNvPr id="1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86" y="601272"/>
            <a:ext cx="1538326" cy="5724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6"/>
          <p:cNvSpPr>
            <a:spLocks noGrp="1"/>
          </p:cNvSpPr>
          <p:nvPr>
            <p:ph type="pic" idx="21"/>
          </p:nvPr>
        </p:nvSpPr>
        <p:spPr>
          <a:xfrm>
            <a:off x="12763499" y="569912"/>
            <a:ext cx="11043133" cy="1258025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1976100"/>
            <a:ext cx="56896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xes, 4 horizontal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xfrm>
            <a:off x="576000" y="384047"/>
            <a:ext cx="11036994" cy="42101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6800"/>
            </a:lvl1pPr>
          </a:lstStyle>
          <a:p>
            <a:r>
              <a:t>Title Text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5960" y="12947648"/>
            <a:ext cx="256541" cy="25400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6072" y="6675881"/>
            <a:ext cx="4949826" cy="55192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  <a:lvl2pPr marL="256031" indent="-256031">
              <a:defRPr sz="2800"/>
            </a:lvl2pPr>
            <a:lvl3pPr marL="512063" indent="-256031">
              <a:defRPr sz="2800"/>
            </a:lvl3pPr>
            <a:lvl4pPr marL="768095" indent="-256031">
              <a:defRPr sz="2800"/>
            </a:lvl4pPr>
            <a:lvl5pPr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663241" y="6673850"/>
            <a:ext cx="4949826" cy="552132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/>
            </a:pPr>
            <a:endParaRPr/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22"/>
          </p:nvPr>
        </p:nvSpPr>
        <p:spPr>
          <a:xfrm>
            <a:off x="12767760" y="6673850"/>
            <a:ext cx="4949826" cy="552132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/>
            </a:pPr>
            <a:endParaRPr/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18859500" y="6673850"/>
            <a:ext cx="4949825" cy="55213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6" cy="246875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3048397" y="2244725"/>
            <a:ext cx="18290382" cy="47752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12000"/>
            </a:lvl1pPr>
          </a:lstStyle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397" y="7204075"/>
            <a:ext cx="18290382" cy="33115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800"/>
            </a:lvl1pPr>
            <a:lvl2pPr marL="0" indent="914400" algn="ctr">
              <a:buSzTx/>
              <a:buNone/>
              <a:defRPr sz="4800"/>
            </a:lvl2pPr>
            <a:lvl3pPr marL="0" indent="1828800" algn="ctr">
              <a:buSzTx/>
              <a:buNone/>
              <a:defRPr sz="4800"/>
            </a:lvl3pPr>
            <a:lvl4pPr marL="0" indent="2743200" algn="ctr">
              <a:buSzTx/>
              <a:buNone/>
              <a:defRPr sz="4800"/>
            </a:lvl4pPr>
            <a:lvl5pPr marL="0" indent="3657600" algn="ctr">
              <a:buSzTx/>
              <a:buNone/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" descr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221" y="6167694"/>
            <a:ext cx="3460735" cy="1380617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1976100"/>
            <a:ext cx="56896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74" y="12769784"/>
            <a:ext cx="5525220" cy="4254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6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99812" indent="-205904">
              <a:defRPr sz="16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657008" indent="-205904">
              <a:defRPr sz="16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418996" indent="-205904">
              <a:defRPr sz="16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1884658" indent="-205901">
              <a:buChar char="»"/>
              <a:defRPr sz="16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28/36/42pt headline, 5 lines maximum, sentence case"/>
          <p:cNvSpPr txBox="1">
            <a:spLocks noGrp="1"/>
          </p:cNvSpPr>
          <p:nvPr>
            <p:ph type="body" sz="quarter" idx="21"/>
          </p:nvPr>
        </p:nvSpPr>
        <p:spPr>
          <a:xfrm>
            <a:off x="571140" y="571802"/>
            <a:ext cx="4956213" cy="247714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400">
                <a:latin typeface="IBM Plex Sans Light"/>
                <a:ea typeface="IBM Plex Sans Light"/>
                <a:cs typeface="IBM Plex Sans Light"/>
                <a:sym typeface="IBM Plex Sans Light"/>
              </a:defRPr>
            </a:pPr>
            <a:endParaRPr/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9065" y="12947650"/>
            <a:ext cx="256541" cy="254001"/>
          </a:xfrm>
          <a:prstGeom prst="rect">
            <a:avLst/>
          </a:prstGeom>
        </p:spPr>
        <p:txBody>
          <a:bodyPr anchor="ctr"/>
          <a:lstStyle>
            <a:lvl1pPr defTabSz="1829378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2"/>
          <p:cNvGrpSpPr/>
          <p:nvPr/>
        </p:nvGrpSpPr>
        <p:grpSpPr>
          <a:xfrm>
            <a:off x="-292654" y="-292949"/>
            <a:ext cx="24974517" cy="14305292"/>
            <a:chOff x="0" y="0"/>
            <a:chExt cx="24974516" cy="14305291"/>
          </a:xfrm>
        </p:grpSpPr>
        <p:grpSp>
          <p:nvGrpSpPr>
            <p:cNvPr id="87" name="Group 59"/>
            <p:cNvGrpSpPr/>
            <p:nvPr/>
          </p:nvGrpSpPr>
          <p:grpSpPr>
            <a:xfrm>
              <a:off x="904022" y="0"/>
              <a:ext cx="23167646" cy="243846"/>
              <a:chOff x="-3" y="0"/>
              <a:chExt cx="23167645" cy="243844"/>
            </a:xfrm>
          </p:grpSpPr>
          <p:sp>
            <p:nvSpPr>
              <p:cNvPr id="76" name="Straight Connector 92"/>
              <p:cNvSpPr/>
              <p:nvPr/>
            </p:nvSpPr>
            <p:spPr>
              <a:xfrm flipV="1">
                <a:off x="-4" y="0"/>
                <a:ext cx="6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77" name="Straight Connector 93"/>
              <p:cNvSpPr/>
              <p:nvPr/>
            </p:nvSpPr>
            <p:spPr>
              <a:xfrm flipV="1">
                <a:off x="487743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78" name="Straight Connector 94"/>
              <p:cNvSpPr/>
              <p:nvPr/>
            </p:nvSpPr>
            <p:spPr>
              <a:xfrm flipV="1">
                <a:off x="548711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79" name="Straight Connector 95"/>
              <p:cNvSpPr/>
              <p:nvPr/>
            </p:nvSpPr>
            <p:spPr>
              <a:xfrm flipV="1">
                <a:off x="6096794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0" name="Straight Connector 96"/>
              <p:cNvSpPr/>
              <p:nvPr/>
            </p:nvSpPr>
            <p:spPr>
              <a:xfrm flipV="1">
                <a:off x="10974228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1" name="Straight Connector 97"/>
              <p:cNvSpPr/>
              <p:nvPr/>
            </p:nvSpPr>
            <p:spPr>
              <a:xfrm flipV="1">
                <a:off x="11583908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2" name="Straight Connector 98"/>
              <p:cNvSpPr/>
              <p:nvPr/>
            </p:nvSpPr>
            <p:spPr>
              <a:xfrm flipV="1">
                <a:off x="12193587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3" name="Straight Connector 99"/>
              <p:cNvSpPr/>
              <p:nvPr/>
            </p:nvSpPr>
            <p:spPr>
              <a:xfrm flipV="1">
                <a:off x="17071023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4" name="Straight Connector 100"/>
              <p:cNvSpPr/>
              <p:nvPr/>
            </p:nvSpPr>
            <p:spPr>
              <a:xfrm flipV="1">
                <a:off x="17680706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5" name="Straight Connector 101"/>
              <p:cNvSpPr/>
              <p:nvPr/>
            </p:nvSpPr>
            <p:spPr>
              <a:xfrm flipV="1">
                <a:off x="1829038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6" name="Straight Connector 102"/>
              <p:cNvSpPr/>
              <p:nvPr/>
            </p:nvSpPr>
            <p:spPr>
              <a:xfrm flipV="1">
                <a:off x="23167640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99" name="Group 60"/>
            <p:cNvGrpSpPr/>
            <p:nvPr/>
          </p:nvGrpSpPr>
          <p:grpSpPr>
            <a:xfrm>
              <a:off x="904022" y="14061446"/>
              <a:ext cx="23167646" cy="243846"/>
              <a:chOff x="-3" y="0"/>
              <a:chExt cx="23167645" cy="243844"/>
            </a:xfrm>
          </p:grpSpPr>
          <p:sp>
            <p:nvSpPr>
              <p:cNvPr id="88" name="Straight Connector 81"/>
              <p:cNvSpPr/>
              <p:nvPr/>
            </p:nvSpPr>
            <p:spPr>
              <a:xfrm flipV="1">
                <a:off x="-4" y="0"/>
                <a:ext cx="6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89" name="Straight Connector 82"/>
              <p:cNvSpPr/>
              <p:nvPr/>
            </p:nvSpPr>
            <p:spPr>
              <a:xfrm flipV="1">
                <a:off x="487743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0" name="Straight Connector 83"/>
              <p:cNvSpPr/>
              <p:nvPr/>
            </p:nvSpPr>
            <p:spPr>
              <a:xfrm flipV="1">
                <a:off x="548711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1" name="Straight Connector 84"/>
              <p:cNvSpPr/>
              <p:nvPr/>
            </p:nvSpPr>
            <p:spPr>
              <a:xfrm flipV="1">
                <a:off x="6096794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2" name="Straight Connector 85"/>
              <p:cNvSpPr/>
              <p:nvPr/>
            </p:nvSpPr>
            <p:spPr>
              <a:xfrm flipV="1">
                <a:off x="10974228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3" name="Straight Connector 86"/>
              <p:cNvSpPr/>
              <p:nvPr/>
            </p:nvSpPr>
            <p:spPr>
              <a:xfrm flipV="1">
                <a:off x="11583908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4" name="Straight Connector 87"/>
              <p:cNvSpPr/>
              <p:nvPr/>
            </p:nvSpPr>
            <p:spPr>
              <a:xfrm flipV="1">
                <a:off x="12193587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5" name="Straight Connector 88"/>
              <p:cNvSpPr/>
              <p:nvPr/>
            </p:nvSpPr>
            <p:spPr>
              <a:xfrm flipV="1">
                <a:off x="17071023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6" name="Straight Connector 89"/>
              <p:cNvSpPr/>
              <p:nvPr/>
            </p:nvSpPr>
            <p:spPr>
              <a:xfrm flipV="1">
                <a:off x="17680706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7" name="Straight Connector 90"/>
              <p:cNvSpPr/>
              <p:nvPr/>
            </p:nvSpPr>
            <p:spPr>
              <a:xfrm flipV="1">
                <a:off x="18290385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98" name="Straight Connector 91"/>
              <p:cNvSpPr/>
              <p:nvPr/>
            </p:nvSpPr>
            <p:spPr>
              <a:xfrm flipV="1">
                <a:off x="23167640" y="0"/>
                <a:ext cx="3" cy="243846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109" name="Group 61"/>
            <p:cNvGrpSpPr/>
            <p:nvPr/>
          </p:nvGrpSpPr>
          <p:grpSpPr>
            <a:xfrm>
              <a:off x="0" y="901528"/>
              <a:ext cx="243878" cy="12497825"/>
              <a:chOff x="0" y="-2"/>
              <a:chExt cx="243876" cy="12497823"/>
            </a:xfrm>
          </p:grpSpPr>
          <p:sp>
            <p:nvSpPr>
              <p:cNvPr id="100" name="Straight Connector 72"/>
              <p:cNvSpPr/>
              <p:nvPr/>
            </p:nvSpPr>
            <p:spPr>
              <a:xfrm flipH="1">
                <a:off x="0" y="1134869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1" name="Straight Connector 73"/>
              <p:cNvSpPr/>
              <p:nvPr/>
            </p:nvSpPr>
            <p:spPr>
              <a:xfrm flipH="1">
                <a:off x="0" y="2829558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2" name="Straight Connector 74"/>
              <p:cNvSpPr/>
              <p:nvPr/>
            </p:nvSpPr>
            <p:spPr>
              <a:xfrm flipH="1">
                <a:off x="0" y="4536439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3" name="Straight Connector 75"/>
              <p:cNvSpPr/>
              <p:nvPr/>
            </p:nvSpPr>
            <p:spPr>
              <a:xfrm flipH="1">
                <a:off x="0" y="6247389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4" name="Straight Connector 76"/>
              <p:cNvSpPr/>
              <p:nvPr/>
            </p:nvSpPr>
            <p:spPr>
              <a:xfrm flipH="1">
                <a:off x="0" y="7950203"/>
                <a:ext cx="243878" cy="1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5" name="Straight Connector 77"/>
              <p:cNvSpPr/>
              <p:nvPr/>
            </p:nvSpPr>
            <p:spPr>
              <a:xfrm flipH="1">
                <a:off x="0" y="9657081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6" name="Straight Connector 78"/>
              <p:cNvSpPr/>
              <p:nvPr/>
            </p:nvSpPr>
            <p:spPr>
              <a:xfrm flipH="1">
                <a:off x="0" y="11384623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7" name="Straight Connector 79"/>
              <p:cNvSpPr/>
              <p:nvPr/>
            </p:nvSpPr>
            <p:spPr>
              <a:xfrm flipH="1" flipV="1">
                <a:off x="0" y="-3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08" name="Straight Connector 80"/>
              <p:cNvSpPr/>
              <p:nvPr/>
            </p:nvSpPr>
            <p:spPr>
              <a:xfrm flipH="1">
                <a:off x="0" y="12497818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119" name="Group 62"/>
            <p:cNvGrpSpPr/>
            <p:nvPr/>
          </p:nvGrpSpPr>
          <p:grpSpPr>
            <a:xfrm>
              <a:off x="24730639" y="901529"/>
              <a:ext cx="243878" cy="12495119"/>
              <a:chOff x="0" y="0"/>
              <a:chExt cx="243876" cy="12495118"/>
            </a:xfrm>
          </p:grpSpPr>
          <p:sp>
            <p:nvSpPr>
              <p:cNvPr id="110" name="Straight Connector 63"/>
              <p:cNvSpPr/>
              <p:nvPr/>
            </p:nvSpPr>
            <p:spPr>
              <a:xfrm flipH="1">
                <a:off x="0" y="1134873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1" name="Straight Connector 64"/>
              <p:cNvSpPr/>
              <p:nvPr/>
            </p:nvSpPr>
            <p:spPr>
              <a:xfrm flipH="1">
                <a:off x="0" y="2829562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2" name="Straight Connector 65"/>
              <p:cNvSpPr/>
              <p:nvPr/>
            </p:nvSpPr>
            <p:spPr>
              <a:xfrm flipH="1">
                <a:off x="0" y="4536444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3" name="Straight Connector 66"/>
              <p:cNvSpPr/>
              <p:nvPr/>
            </p:nvSpPr>
            <p:spPr>
              <a:xfrm flipH="1">
                <a:off x="0" y="6243325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4" name="Straight Connector 67"/>
              <p:cNvSpPr/>
              <p:nvPr/>
            </p:nvSpPr>
            <p:spPr>
              <a:xfrm flipH="1">
                <a:off x="0" y="7950207"/>
                <a:ext cx="243878" cy="1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5" name="Straight Connector 68"/>
              <p:cNvSpPr/>
              <p:nvPr/>
            </p:nvSpPr>
            <p:spPr>
              <a:xfrm flipH="1">
                <a:off x="0" y="9657085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6" name="Straight Connector 69"/>
              <p:cNvSpPr/>
              <p:nvPr/>
            </p:nvSpPr>
            <p:spPr>
              <a:xfrm flipH="1">
                <a:off x="0" y="11384628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7" name="Straight Connector 70"/>
              <p:cNvSpPr/>
              <p:nvPr/>
            </p:nvSpPr>
            <p:spPr>
              <a:xfrm flipH="1" flipV="1">
                <a:off x="0" y="0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18" name="Straight Connector 71"/>
              <p:cNvSpPr/>
              <p:nvPr/>
            </p:nvSpPr>
            <p:spPr>
              <a:xfrm flipH="1">
                <a:off x="0" y="12495117"/>
                <a:ext cx="243878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xfrm>
            <a:off x="560905" y="536451"/>
            <a:ext cx="11047398" cy="213360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85294" y="3316225"/>
            <a:ext cx="10998621" cy="86725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 marL="0" indent="0">
              <a:buSzTx/>
              <a:buNone/>
              <a:defRPr>
                <a:solidFill>
                  <a:schemeClr val="accent2"/>
                </a:solidFill>
              </a:defRPr>
            </a:lvl2pPr>
            <a:lvl3pPr marL="0" indent="0">
              <a:buSzTx/>
              <a:buNone/>
              <a:defRPr>
                <a:solidFill>
                  <a:schemeClr val="accent2"/>
                </a:solidFill>
              </a:defRPr>
            </a:lvl3pPr>
            <a:lvl4pPr marL="0" indent="0">
              <a:buSzTx/>
              <a:buNone/>
              <a:defRPr>
                <a:solidFill>
                  <a:schemeClr val="accent2"/>
                </a:solidFill>
              </a:defRPr>
            </a:lvl4pPr>
            <a:lvl5pPr marL="0" indent="0">
              <a:buSzTx/>
              <a:buNone/>
              <a:defRPr>
                <a:solidFill>
                  <a:schemeClr val="accent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Text Placeholder 2"/>
          <p:cNvSpPr>
            <a:spLocks noGrp="1"/>
          </p:cNvSpPr>
          <p:nvPr>
            <p:ph type="body" sz="half" idx="21"/>
          </p:nvPr>
        </p:nvSpPr>
        <p:spPr>
          <a:xfrm>
            <a:off x="12778879" y="3316225"/>
            <a:ext cx="10998621" cy="867258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0 p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1976100"/>
            <a:ext cx="56896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0 p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1976100"/>
            <a:ext cx="56896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5959" y="12947648"/>
            <a:ext cx="256541" cy="25400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6" name="Footer"/>
          <p:cNvSpPr txBox="1">
            <a:spLocks noGrp="1"/>
          </p:cNvSpPr>
          <p:nvPr>
            <p:ph type="body" sz="quarter" idx="21"/>
          </p:nvPr>
        </p:nvSpPr>
        <p:spPr>
          <a:xfrm>
            <a:off x="571500" y="12769787"/>
            <a:ext cx="5524500" cy="425451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r>
              <a:t>Footer</a:t>
            </a:r>
          </a:p>
        </p:txBody>
      </p:sp>
      <p:sp>
        <p:nvSpPr>
          <p:cNvPr id="147" name="168pt Go  simple and big  if possible"/>
          <p:cNvSpPr txBox="1">
            <a:spLocks noGrp="1"/>
          </p:cNvSpPr>
          <p:nvPr>
            <p:ph type="body" idx="22"/>
          </p:nvPr>
        </p:nvSpPr>
        <p:spPr>
          <a:xfrm>
            <a:off x="571068" y="-120650"/>
            <a:ext cx="17136337" cy="92546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16800"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168pt Go </a:t>
            </a:r>
            <a:br/>
            <a:r>
              <a:t>simple and big </a:t>
            </a:r>
            <a:br/>
            <a:r>
              <a:t>if possible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2"/>
          <p:cNvGrpSpPr/>
          <p:nvPr/>
        </p:nvGrpSpPr>
        <p:grpSpPr>
          <a:xfrm>
            <a:off x="-292617" y="-292950"/>
            <a:ext cx="24971265" cy="14305287"/>
            <a:chOff x="0" y="-1"/>
            <a:chExt cx="24971263" cy="14305286"/>
          </a:xfrm>
        </p:grpSpPr>
        <p:grpSp>
          <p:nvGrpSpPr>
            <p:cNvPr id="165" name="Group 59"/>
            <p:cNvGrpSpPr/>
            <p:nvPr/>
          </p:nvGrpSpPr>
          <p:grpSpPr>
            <a:xfrm>
              <a:off x="903904" y="-2"/>
              <a:ext cx="23164632" cy="243847"/>
              <a:chOff x="-2" y="-1"/>
              <a:chExt cx="23164631" cy="243846"/>
            </a:xfrm>
          </p:grpSpPr>
          <p:sp>
            <p:nvSpPr>
              <p:cNvPr id="154" name="Straight Connector 92"/>
              <p:cNvSpPr/>
              <p:nvPr/>
            </p:nvSpPr>
            <p:spPr>
              <a:xfrm flipV="1">
                <a:off x="-3" y="0"/>
                <a:ext cx="5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5" name="Straight Connector 93"/>
              <p:cNvSpPr/>
              <p:nvPr/>
            </p:nvSpPr>
            <p:spPr>
              <a:xfrm flipV="1">
                <a:off x="4876801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6" name="Straight Connector 94"/>
              <p:cNvSpPr/>
              <p:nvPr/>
            </p:nvSpPr>
            <p:spPr>
              <a:xfrm flipV="1">
                <a:off x="5486401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7" name="Straight Connector 95"/>
              <p:cNvSpPr/>
              <p:nvPr/>
            </p:nvSpPr>
            <p:spPr>
              <a:xfrm flipV="1">
                <a:off x="6096002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8" name="Straight Connector 96"/>
              <p:cNvSpPr/>
              <p:nvPr/>
            </p:nvSpPr>
            <p:spPr>
              <a:xfrm flipV="1">
                <a:off x="10972803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59" name="Straight Connector 97"/>
              <p:cNvSpPr/>
              <p:nvPr/>
            </p:nvSpPr>
            <p:spPr>
              <a:xfrm flipV="1">
                <a:off x="11582403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0" name="Straight Connector 98"/>
              <p:cNvSpPr/>
              <p:nvPr/>
            </p:nvSpPr>
            <p:spPr>
              <a:xfrm flipV="1">
                <a:off x="12192004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1" name="Straight Connector 99"/>
              <p:cNvSpPr/>
              <p:nvPr/>
            </p:nvSpPr>
            <p:spPr>
              <a:xfrm flipV="1">
                <a:off x="170688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2" name="Straight Connector 100"/>
              <p:cNvSpPr/>
              <p:nvPr/>
            </p:nvSpPr>
            <p:spPr>
              <a:xfrm flipV="1">
                <a:off x="176784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3" name="Straight Connector 101"/>
              <p:cNvSpPr/>
              <p:nvPr/>
            </p:nvSpPr>
            <p:spPr>
              <a:xfrm flipV="1">
                <a:off x="182880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4" name="Straight Connector 102"/>
              <p:cNvSpPr/>
              <p:nvPr/>
            </p:nvSpPr>
            <p:spPr>
              <a:xfrm flipV="1">
                <a:off x="23164627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177" name="Group 60"/>
            <p:cNvGrpSpPr/>
            <p:nvPr/>
          </p:nvGrpSpPr>
          <p:grpSpPr>
            <a:xfrm>
              <a:off x="903904" y="14061438"/>
              <a:ext cx="23164632" cy="243847"/>
              <a:chOff x="-2" y="-1"/>
              <a:chExt cx="23164631" cy="243846"/>
            </a:xfrm>
          </p:grpSpPr>
          <p:sp>
            <p:nvSpPr>
              <p:cNvPr id="166" name="Straight Connector 81"/>
              <p:cNvSpPr/>
              <p:nvPr/>
            </p:nvSpPr>
            <p:spPr>
              <a:xfrm flipV="1">
                <a:off x="-3" y="0"/>
                <a:ext cx="5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7" name="Straight Connector 82"/>
              <p:cNvSpPr/>
              <p:nvPr/>
            </p:nvSpPr>
            <p:spPr>
              <a:xfrm flipV="1">
                <a:off x="4876801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8" name="Straight Connector 83"/>
              <p:cNvSpPr/>
              <p:nvPr/>
            </p:nvSpPr>
            <p:spPr>
              <a:xfrm flipV="1">
                <a:off x="5486401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69" name="Straight Connector 84"/>
              <p:cNvSpPr/>
              <p:nvPr/>
            </p:nvSpPr>
            <p:spPr>
              <a:xfrm flipV="1">
                <a:off x="6096002" y="0"/>
                <a:ext cx="3" cy="243845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0" name="Straight Connector 85"/>
              <p:cNvSpPr/>
              <p:nvPr/>
            </p:nvSpPr>
            <p:spPr>
              <a:xfrm flipV="1">
                <a:off x="10972803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1" name="Straight Connector 86"/>
              <p:cNvSpPr/>
              <p:nvPr/>
            </p:nvSpPr>
            <p:spPr>
              <a:xfrm flipV="1">
                <a:off x="11582403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2" name="Straight Connector 87"/>
              <p:cNvSpPr/>
              <p:nvPr/>
            </p:nvSpPr>
            <p:spPr>
              <a:xfrm flipV="1">
                <a:off x="12192004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3" name="Straight Connector 88"/>
              <p:cNvSpPr/>
              <p:nvPr/>
            </p:nvSpPr>
            <p:spPr>
              <a:xfrm flipV="1">
                <a:off x="170688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4" name="Straight Connector 89"/>
              <p:cNvSpPr/>
              <p:nvPr/>
            </p:nvSpPr>
            <p:spPr>
              <a:xfrm flipV="1">
                <a:off x="176784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5" name="Straight Connector 90"/>
              <p:cNvSpPr/>
              <p:nvPr/>
            </p:nvSpPr>
            <p:spPr>
              <a:xfrm flipV="1">
                <a:off x="18288006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6" name="Straight Connector 91"/>
              <p:cNvSpPr/>
              <p:nvPr/>
            </p:nvSpPr>
            <p:spPr>
              <a:xfrm flipV="1">
                <a:off x="23164627" y="-2"/>
                <a:ext cx="3" cy="243847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187" name="Group 61"/>
            <p:cNvGrpSpPr/>
            <p:nvPr/>
          </p:nvGrpSpPr>
          <p:grpSpPr>
            <a:xfrm>
              <a:off x="-1" y="901528"/>
              <a:ext cx="243845" cy="12497825"/>
              <a:chOff x="0" y="-2"/>
              <a:chExt cx="243844" cy="12497824"/>
            </a:xfrm>
          </p:grpSpPr>
          <p:sp>
            <p:nvSpPr>
              <p:cNvPr id="178" name="Straight Connector 72"/>
              <p:cNvSpPr/>
              <p:nvPr/>
            </p:nvSpPr>
            <p:spPr>
              <a:xfrm flipH="1">
                <a:off x="0" y="1134870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79" name="Straight Connector 73"/>
              <p:cNvSpPr/>
              <p:nvPr/>
            </p:nvSpPr>
            <p:spPr>
              <a:xfrm flipH="1">
                <a:off x="0" y="2829558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0" name="Straight Connector 74"/>
              <p:cNvSpPr/>
              <p:nvPr/>
            </p:nvSpPr>
            <p:spPr>
              <a:xfrm flipH="1">
                <a:off x="0" y="453644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1" name="Straight Connector 75"/>
              <p:cNvSpPr/>
              <p:nvPr/>
            </p:nvSpPr>
            <p:spPr>
              <a:xfrm flipH="1">
                <a:off x="0" y="6247389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2" name="Straight Connector 76"/>
              <p:cNvSpPr/>
              <p:nvPr/>
            </p:nvSpPr>
            <p:spPr>
              <a:xfrm flipH="1">
                <a:off x="0" y="7950202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3" name="Straight Connector 77"/>
              <p:cNvSpPr/>
              <p:nvPr/>
            </p:nvSpPr>
            <p:spPr>
              <a:xfrm flipH="1">
                <a:off x="0" y="9657082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4" name="Straight Connector 78"/>
              <p:cNvSpPr/>
              <p:nvPr/>
            </p:nvSpPr>
            <p:spPr>
              <a:xfrm flipH="1">
                <a:off x="0" y="1138462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5" name="Straight Connector 79"/>
              <p:cNvSpPr/>
              <p:nvPr/>
            </p:nvSpPr>
            <p:spPr>
              <a:xfrm flipH="1" flipV="1">
                <a:off x="0" y="-3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6" name="Straight Connector 80"/>
              <p:cNvSpPr/>
              <p:nvPr/>
            </p:nvSpPr>
            <p:spPr>
              <a:xfrm flipH="1">
                <a:off x="0" y="12497819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197" name="Group 62"/>
            <p:cNvGrpSpPr/>
            <p:nvPr/>
          </p:nvGrpSpPr>
          <p:grpSpPr>
            <a:xfrm>
              <a:off x="24727419" y="901530"/>
              <a:ext cx="243845" cy="12495112"/>
              <a:chOff x="0" y="0"/>
              <a:chExt cx="243844" cy="12495111"/>
            </a:xfrm>
          </p:grpSpPr>
          <p:sp>
            <p:nvSpPr>
              <p:cNvPr id="188" name="Straight Connector 63"/>
              <p:cNvSpPr/>
              <p:nvPr/>
            </p:nvSpPr>
            <p:spPr>
              <a:xfrm flipH="1">
                <a:off x="0" y="1134872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89" name="Straight Connector 64"/>
              <p:cNvSpPr/>
              <p:nvPr/>
            </p:nvSpPr>
            <p:spPr>
              <a:xfrm flipH="1">
                <a:off x="0" y="2829560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0" name="Straight Connector 65"/>
              <p:cNvSpPr/>
              <p:nvPr/>
            </p:nvSpPr>
            <p:spPr>
              <a:xfrm flipH="1">
                <a:off x="0" y="453644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1" name="Straight Connector 66"/>
              <p:cNvSpPr/>
              <p:nvPr/>
            </p:nvSpPr>
            <p:spPr>
              <a:xfrm flipH="1">
                <a:off x="0" y="624332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2" name="Straight Connector 67"/>
              <p:cNvSpPr/>
              <p:nvPr/>
            </p:nvSpPr>
            <p:spPr>
              <a:xfrm flipH="1">
                <a:off x="0" y="7950202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3" name="Straight Connector 68"/>
              <p:cNvSpPr/>
              <p:nvPr/>
            </p:nvSpPr>
            <p:spPr>
              <a:xfrm flipH="1">
                <a:off x="0" y="9657082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4" name="Straight Connector 69"/>
              <p:cNvSpPr/>
              <p:nvPr/>
            </p:nvSpPr>
            <p:spPr>
              <a:xfrm flipH="1">
                <a:off x="0" y="1138462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5" name="Straight Connector 70"/>
              <p:cNvSpPr/>
              <p:nvPr/>
            </p:nvSpPr>
            <p:spPr>
              <a:xfrm flipH="1" flipV="1">
                <a:off x="0" y="-1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96" name="Straight Connector 71"/>
              <p:cNvSpPr/>
              <p:nvPr/>
            </p:nvSpPr>
            <p:spPr>
              <a:xfrm flipH="1">
                <a:off x="0" y="12495109"/>
                <a:ext cx="243845" cy="3"/>
              </a:xfrm>
              <a:prstGeom prst="line">
                <a:avLst/>
              </a:prstGeom>
              <a:noFill/>
              <a:ln w="3175" cap="flat">
                <a:solidFill>
                  <a:srgbClr val="6F6F6F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defTabSz="1828800">
                  <a:defRPr>
                    <a:solidFill>
                      <a:srgbClr val="6D7777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  <p:sp>
        <p:nvSpPr>
          <p:cNvPr id="199" name="Footer Placeholder"/>
          <p:cNvSpPr txBox="1"/>
          <p:nvPr/>
        </p:nvSpPr>
        <p:spPr>
          <a:xfrm>
            <a:off x="560834" y="12830302"/>
            <a:ext cx="1060106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829310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IBM Db2  / © 2026 IBM Corporation</a:t>
            </a:r>
          </a:p>
        </p:txBody>
      </p:sp>
      <p:sp>
        <p:nvSpPr>
          <p:cNvPr id="200" name="Title Text"/>
          <p:cNvSpPr txBox="1">
            <a:spLocks noGrp="1"/>
          </p:cNvSpPr>
          <p:nvPr>
            <p:ph type="title"/>
          </p:nvPr>
        </p:nvSpPr>
        <p:spPr>
          <a:xfrm>
            <a:off x="560830" y="536445"/>
            <a:ext cx="11045957" cy="21336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85213" y="3316222"/>
            <a:ext cx="10997189" cy="86725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0" indent="0">
              <a:lnSpc>
                <a:spcPct val="100000"/>
              </a:lnSpc>
              <a:buSzTx/>
              <a:buNone/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0" indent="0">
              <a:lnSpc>
                <a:spcPct val="100000"/>
              </a:lnSpc>
              <a:buSzTx/>
              <a:buNone/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0" indent="0">
              <a:lnSpc>
                <a:spcPct val="100000"/>
              </a:lnSpc>
              <a:buSzTx/>
              <a:buNone/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0" indent="0">
              <a:lnSpc>
                <a:spcPct val="100000"/>
              </a:lnSpc>
              <a:buSzTx/>
              <a:buNone/>
              <a:defRPr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Text Placeholder 2"/>
          <p:cNvSpPr>
            <a:spLocks noGrp="1"/>
          </p:cNvSpPr>
          <p:nvPr>
            <p:ph type="body" sz="half" idx="21"/>
          </p:nvPr>
        </p:nvSpPr>
        <p:spPr>
          <a:xfrm>
            <a:off x="12777213" y="3316222"/>
            <a:ext cx="10997190" cy="8672577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1214546">
              <a:lnSpc>
                <a:spcPct val="100000"/>
              </a:lnSpc>
              <a:spcBef>
                <a:spcPts val="1600"/>
              </a:spcBef>
              <a:defRPr>
                <a:solidFill>
                  <a:srgbClr val="6D7777"/>
                </a:solidFill>
              </a:defRPr>
            </a:pPr>
            <a:endParaRPr/>
          </a:p>
        </p:txBody>
      </p:sp>
      <p:sp>
        <p:nvSpPr>
          <p:cNvPr id="2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17681" y="12896848"/>
            <a:ext cx="256541" cy="254001"/>
          </a:xfrm>
          <a:prstGeom prst="rect">
            <a:avLst/>
          </a:prstGeom>
        </p:spPr>
        <p:txBody>
          <a:bodyPr anchor="ctr"/>
          <a:lstStyle>
            <a:lvl1pPr defTabSz="1829286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5959" y="12947648"/>
            <a:ext cx="256541" cy="25400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11" name="Footer"/>
          <p:cNvSpPr txBox="1">
            <a:spLocks noGrp="1"/>
          </p:cNvSpPr>
          <p:nvPr>
            <p:ph type="body" sz="quarter" idx="21"/>
          </p:nvPr>
        </p:nvSpPr>
        <p:spPr>
          <a:xfrm>
            <a:off x="571500" y="12769787"/>
            <a:ext cx="5524500" cy="425451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r>
              <a:t>Footer</a:t>
            </a:r>
          </a:p>
        </p:txBody>
      </p:sp>
      <p:sp>
        <p:nvSpPr>
          <p:cNvPr id="212" name="28/36/42pt headline, 5 lines maximum, sentence case"/>
          <p:cNvSpPr txBox="1">
            <a:spLocks noGrp="1"/>
          </p:cNvSpPr>
          <p:nvPr>
            <p:ph type="body" sz="quarter" idx="22"/>
          </p:nvPr>
        </p:nvSpPr>
        <p:spPr>
          <a:xfrm>
            <a:off x="571068" y="571803"/>
            <a:ext cx="4955562" cy="247714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</a:lstStyle>
          <a:p>
            <a:r>
              <a:t>28/36/42pt headline, 5 lines maximum, sentence case 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7"/>
          <p:cNvSpPr txBox="1"/>
          <p:nvPr/>
        </p:nvSpPr>
        <p:spPr>
          <a:xfrm>
            <a:off x="621719" y="12815999"/>
            <a:ext cx="486473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5960" y="12943935"/>
            <a:ext cx="256541" cy="254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219200" y="549275"/>
            <a:ext cx="21945600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9pPr>
    </p:titleStyle>
    <p:bodyStyle>
      <a:lvl1pPr marL="0" marR="0" indent="0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1pPr>
      <a:lvl2pPr marL="329184" marR="0" indent="-329184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2pPr>
      <a:lvl3pPr marL="658368" marR="0" indent="-329184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3pPr>
      <a:lvl4pPr marL="987552" marR="0" indent="-329183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4pPr>
      <a:lvl5pPr marL="1143000" marR="0" indent="-457200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5pPr>
      <a:lvl6pPr marL="1843059" marR="0" indent="-389009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6pPr>
      <a:lvl7pPr marL="2205631" marR="0" indent="-389009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7pPr>
      <a:lvl8pPr marL="2568200" marR="0" indent="-389009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8pPr>
      <a:lvl9pPr marL="2930768" marR="0" indent="-389009" algn="l" defTabSz="2438400" rtl="0" latinLnBrk="0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IBM Plex Sans"/>
        </a:defRPr>
      </a:lvl9pPr>
    </p:bodyStyle>
    <p:otherStyle>
      <a:lvl1pPr marL="0" marR="0" indent="0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914687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1829379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2744067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3658758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4573446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5488137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6402827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7317517" algn="r" defTabSz="18293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products/db2-genius-hub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products/db2-genius-hub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products/db2-genius-hub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products/db2-genius-hub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28/36/42pt headline, 5 lines maximum, sentence cas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28/36/42pt headline, 5 lines maximum, sentence case </a:t>
            </a:r>
          </a:p>
        </p:txBody>
      </p:sp>
      <p:grpSp>
        <p:nvGrpSpPr>
          <p:cNvPr id="224" name="Group"/>
          <p:cNvGrpSpPr/>
          <p:nvPr/>
        </p:nvGrpSpPr>
        <p:grpSpPr>
          <a:xfrm>
            <a:off x="0" y="0"/>
            <a:ext cx="24384000" cy="13716000"/>
            <a:chOff x="0" y="0"/>
            <a:chExt cx="24384000" cy="13716000"/>
          </a:xfrm>
        </p:grpSpPr>
        <p:pic>
          <p:nvPicPr>
            <p:cNvPr id="222" name="image3.png" descr="image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3" name="Image" descr="Image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2274784" y="12538075"/>
              <a:ext cx="1633773" cy="609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5" name="IBM Db2 AI Edition…"/>
          <p:cNvSpPr txBox="1">
            <a:spLocks noGrp="1"/>
          </p:cNvSpPr>
          <p:nvPr>
            <p:ph type="title" idx="4294967295"/>
          </p:nvPr>
        </p:nvSpPr>
        <p:spPr>
          <a:xfrm>
            <a:off x="571068" y="705556"/>
            <a:ext cx="10109201" cy="7391400"/>
          </a:xfrm>
          <a:prstGeom prst="rect">
            <a:avLst/>
          </a:prstGeom>
        </p:spPr>
        <p:txBody>
          <a:bodyPr/>
          <a:lstStyle/>
          <a:p>
            <a:pPr>
              <a:defRPr sz="8400"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rPr dirty="0"/>
              <a:t>IBM Db2 AI Edition</a:t>
            </a:r>
          </a:p>
          <a:p>
            <a:pPr>
              <a:defRPr sz="8400">
                <a:latin typeface="IBM Plex Sans Light"/>
                <a:ea typeface="IBM Plex Sans Light"/>
                <a:cs typeface="IBM Plex Sans Light"/>
                <a:sym typeface="IBM Plex Sans Light"/>
              </a:defRPr>
            </a:pPr>
            <a:r>
              <a:rPr dirty="0"/>
              <a:t>Proposal for Cigna</a:t>
            </a:r>
          </a:p>
        </p:txBody>
      </p:sp>
      <p:sp>
        <p:nvSpPr>
          <p:cNvPr id="226" name="Month XX, 20XX"/>
          <p:cNvSpPr txBox="1"/>
          <p:nvPr/>
        </p:nvSpPr>
        <p:spPr>
          <a:xfrm>
            <a:off x="572962" y="12248108"/>
            <a:ext cx="254777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2438400">
              <a:defRPr sz="2800">
                <a:solidFill>
                  <a:srgbClr val="000000"/>
                </a:solidFill>
              </a:defRPr>
            </a:lvl1pPr>
          </a:lstStyle>
          <a:p>
            <a:pPr>
              <a:defRPr sz="8600"/>
            </a:pPr>
            <a:r>
              <a:rPr sz="2800"/>
              <a:t>Month XX, 20XX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"/>
          <p:cNvSpPr/>
          <p:nvPr/>
        </p:nvSpPr>
        <p:spPr>
          <a:xfrm>
            <a:off x="9697288" y="6761560"/>
            <a:ext cx="14684674" cy="6959604"/>
          </a:xfrm>
          <a:prstGeom prst="rect">
            <a:avLst/>
          </a:prstGeom>
          <a:solidFill>
            <a:srgbClr val="F2F8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>
                <a:solidFill>
                  <a:srgbClr val="6D7777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41187" y="12896848"/>
            <a:ext cx="134621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829286"/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30" name="Introducing the Db2…"/>
          <p:cNvSpPr txBox="1"/>
          <p:nvPr/>
        </p:nvSpPr>
        <p:spPr>
          <a:xfrm>
            <a:off x="899170" y="3281679"/>
            <a:ext cx="7774414" cy="8209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876800">
              <a:lnSpc>
                <a:spcPct val="90000"/>
              </a:lnSpc>
              <a:defRPr sz="78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Introducing the </a:t>
            </a:r>
            <a:r>
              <a:rPr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rPr>
              <a:t>Db2 </a:t>
            </a:r>
            <a:endParaRPr sz="3900"/>
          </a:p>
          <a:p>
            <a:pPr defTabSz="4876800">
              <a:lnSpc>
                <a:spcPct val="90000"/>
              </a:lnSpc>
              <a:defRPr sz="78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autonomous database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, powered by the all new </a:t>
            </a:r>
            <a:b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Db2 Genius Hub</a:t>
            </a:r>
          </a:p>
        </p:txBody>
      </p:sp>
      <p:pic>
        <p:nvPicPr>
          <p:cNvPr id="231" name="generate--ai.svg" descr="generate--ai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71" y="1340495"/>
            <a:ext cx="1219207" cy="1219207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ectangle"/>
          <p:cNvSpPr/>
          <p:nvPr/>
        </p:nvSpPr>
        <p:spPr>
          <a:xfrm>
            <a:off x="9697288" y="-2100"/>
            <a:ext cx="14684674" cy="6959604"/>
          </a:xfrm>
          <a:prstGeom prst="rect">
            <a:avLst/>
          </a:prstGeom>
          <a:solidFill>
            <a:srgbClr val="F3F8FE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>
                <a:solidFill>
                  <a:srgbClr val="6D7777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33" name="Autonomous database that proactively monitors, detects, and reacts to issues, acting autonomously when appropriate, and engages human judgement only when necessary"/>
          <p:cNvSpPr txBox="1"/>
          <p:nvPr/>
        </p:nvSpPr>
        <p:spPr>
          <a:xfrm>
            <a:off x="10741835" y="3421605"/>
            <a:ext cx="11075065" cy="2443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876800">
              <a:lnSpc>
                <a:spcPct val="90000"/>
              </a:lnSpc>
              <a:defRPr sz="40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Autonomous database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that proactively monitors, detects, and reacts to issues, acting autonomously when appropriate, and engages human judgement only when necessary</a:t>
            </a:r>
          </a:p>
        </p:txBody>
      </p:sp>
      <p:sp>
        <p:nvSpPr>
          <p:cNvPr id="234" name="Client Value…"/>
          <p:cNvSpPr txBox="1"/>
          <p:nvPr/>
        </p:nvSpPr>
        <p:spPr>
          <a:xfrm>
            <a:off x="10829327" y="6627086"/>
            <a:ext cx="3850076" cy="4826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1925308">
              <a:spcBef>
                <a:spcPts val="2200"/>
              </a:spcBef>
              <a:defRPr sz="47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10x</a:t>
            </a:r>
            <a: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  <a:t> </a:t>
            </a:r>
            <a:b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latin typeface="IBM Plex Sans ExtLt"/>
                <a:ea typeface="IBM Plex Sans ExtLt"/>
                <a:cs typeface="IBM Plex Sans ExtLt"/>
                <a:sym typeface="IBM Plex Sans ExtLt"/>
              </a:rPr>
              <a:t>→ </a:t>
            </a:r>
            <a:r>
              <a:rPr sz="3300">
                <a:solidFill>
                  <a:srgbClr val="000000"/>
                </a:solidFill>
              </a:rPr>
              <a:t>Reduction in database management costs </a:t>
            </a: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with agentic maintenance</a:t>
            </a:r>
          </a:p>
        </p:txBody>
      </p:sp>
      <p:sp>
        <p:nvSpPr>
          <p:cNvPr id="235" name="Client Value…"/>
          <p:cNvSpPr txBox="1"/>
          <p:nvPr/>
        </p:nvSpPr>
        <p:spPr>
          <a:xfrm>
            <a:off x="15190787" y="6627086"/>
            <a:ext cx="3850076" cy="4826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1925308">
              <a:spcBef>
                <a:spcPts val="2200"/>
              </a:spcBef>
              <a:defRPr sz="47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10x</a:t>
            </a:r>
            <a: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  <a:t> </a:t>
            </a:r>
            <a:b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latin typeface="IBM Plex Sans ExtLt"/>
                <a:ea typeface="IBM Plex Sans ExtLt"/>
                <a:cs typeface="IBM Plex Sans ExtLt"/>
                <a:sym typeface="IBM Plex Sans ExtLt"/>
              </a:rPr>
              <a:t>→ </a:t>
            </a:r>
            <a:r>
              <a:rPr sz="3300">
                <a:solidFill>
                  <a:srgbClr val="000000"/>
                </a:solidFill>
              </a:rPr>
              <a:t>Reduction in manual intervention</a:t>
            </a: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</a:t>
            </a:r>
            <a:b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with agentic </a:t>
            </a:r>
            <a:b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healing </a:t>
            </a:r>
          </a:p>
        </p:txBody>
      </p:sp>
      <p:sp>
        <p:nvSpPr>
          <p:cNvPr id="236" name="Client Value…"/>
          <p:cNvSpPr txBox="1"/>
          <p:nvPr/>
        </p:nvSpPr>
        <p:spPr>
          <a:xfrm>
            <a:off x="19552246" y="6627086"/>
            <a:ext cx="3850076" cy="4826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1925308">
              <a:spcBef>
                <a:spcPts val="2200"/>
              </a:spcBef>
              <a:defRPr sz="47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10x</a:t>
            </a:r>
            <a: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  <a:t> </a:t>
            </a:r>
            <a:br>
              <a:rPr sz="12000"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latin typeface="IBM Plex Sans ExtLt"/>
                <a:ea typeface="IBM Plex Sans ExtLt"/>
                <a:cs typeface="IBM Plex Sans ExtLt"/>
                <a:sym typeface="IBM Plex Sans ExtLt"/>
              </a:rPr>
              <a:t>→ </a:t>
            </a:r>
            <a:r>
              <a:rPr sz="3300">
                <a:solidFill>
                  <a:srgbClr val="000000"/>
                </a:solidFill>
              </a:rPr>
              <a:t>Reduction in time to problem resolution</a:t>
            </a: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</a:t>
            </a:r>
            <a:b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</a:br>
            <a:r>
              <a:rPr sz="33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with agentic response</a:t>
            </a:r>
          </a:p>
        </p:txBody>
      </p:sp>
      <p:grpSp>
        <p:nvGrpSpPr>
          <p:cNvPr id="241" name="Group"/>
          <p:cNvGrpSpPr/>
          <p:nvPr/>
        </p:nvGrpSpPr>
        <p:grpSpPr>
          <a:xfrm>
            <a:off x="10741835" y="1340493"/>
            <a:ext cx="1205135" cy="1205135"/>
            <a:chOff x="0" y="0"/>
            <a:chExt cx="1205133" cy="1205133"/>
          </a:xfrm>
        </p:grpSpPr>
        <p:pic>
          <p:nvPicPr>
            <p:cNvPr id="237" name="data--science--02.svg" descr="data--science--02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05134" cy="12051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40" name="Group"/>
            <p:cNvGrpSpPr/>
            <p:nvPr/>
          </p:nvGrpSpPr>
          <p:grpSpPr>
            <a:xfrm>
              <a:off x="639583" y="660892"/>
              <a:ext cx="538350" cy="538350"/>
              <a:chOff x="0" y="0"/>
              <a:chExt cx="538349" cy="538349"/>
            </a:xfrm>
          </p:grpSpPr>
          <p:sp>
            <p:nvSpPr>
              <p:cNvPr id="238" name="Square"/>
              <p:cNvSpPr/>
              <p:nvPr/>
            </p:nvSpPr>
            <p:spPr>
              <a:xfrm>
                <a:off x="0" y="0"/>
                <a:ext cx="538350" cy="538350"/>
              </a:xfrm>
              <a:prstGeom prst="rect">
                <a:avLst/>
              </a:prstGeom>
              <a:solidFill>
                <a:srgbClr val="F2F8FF"/>
              </a:solidFill>
              <a:ln w="26669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algn="ctr" defTabSz="1828800">
                  <a:defRPr sz="1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IBM Plex Sans"/>
                  </a:defRPr>
                </a:pPr>
                <a:endParaRPr/>
              </a:p>
            </p:txBody>
          </p:sp>
          <p:sp>
            <p:nvSpPr>
              <p:cNvPr id="239" name="AI"/>
              <p:cNvSpPr txBox="1"/>
              <p:nvPr/>
            </p:nvSpPr>
            <p:spPr>
              <a:xfrm>
                <a:off x="9525" y="6288"/>
                <a:ext cx="519300" cy="52577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6" tIns="91436" rIns="91436" bIns="91436" numCol="1" anchor="ctr">
                <a:spAutoFit/>
              </a:bodyPr>
              <a:lstStyle>
                <a:lvl1pPr algn="ctr" defTabSz="1828800">
                  <a:defRPr sz="20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IBM Plex Sans"/>
                  </a:defRPr>
                </a:lvl1pPr>
              </a:lstStyle>
              <a:p>
                <a:r>
                  <a:t>AI</a:t>
                </a:r>
              </a:p>
            </p:txBody>
          </p:sp>
        </p:grpSp>
      </p:grpSp>
      <p:sp>
        <p:nvSpPr>
          <p:cNvPr id="242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"/>
          <p:cNvSpPr/>
          <p:nvPr/>
        </p:nvSpPr>
        <p:spPr>
          <a:xfrm>
            <a:off x="1587" y="0"/>
            <a:ext cx="24384001" cy="3359207"/>
          </a:xfrm>
          <a:prstGeom prst="rect">
            <a:avLst/>
          </a:prstGeom>
          <a:solidFill>
            <a:srgbClr val="F2F8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>
                <a:solidFill>
                  <a:srgbClr val="6D7777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1567522" y="17238133"/>
            <a:ext cx="134621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829240"/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46" name="Genius runs on top of a network of AI agents that seamlessly work together to perform activities that power an autonomous experience for Db2 databases"/>
          <p:cNvSpPr txBox="1"/>
          <p:nvPr/>
        </p:nvSpPr>
        <p:spPr>
          <a:xfrm>
            <a:off x="919326" y="1014805"/>
            <a:ext cx="22606004" cy="1496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876800">
              <a:lnSpc>
                <a:spcPct val="90000"/>
              </a:lnSpc>
              <a:defRPr sz="48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Genius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runs on top of a network of AI agents that seamlessly </a:t>
            </a:r>
            <a:r>
              <a:t>work together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to perform </a:t>
            </a:r>
            <a:r>
              <a:t>activities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that power an </a:t>
            </a:r>
            <a:r>
              <a:t>autonomous experience</a:t>
            </a:r>
            <a:r>
              <a: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rPr>
              <a:t> for Db2 databases</a:t>
            </a:r>
          </a:p>
        </p:txBody>
      </p:sp>
      <p:grpSp>
        <p:nvGrpSpPr>
          <p:cNvPr id="249" name="Vision…"/>
          <p:cNvGrpSpPr/>
          <p:nvPr/>
        </p:nvGrpSpPr>
        <p:grpSpPr>
          <a:xfrm>
            <a:off x="8983826" y="6529988"/>
            <a:ext cx="6477003" cy="6464703"/>
            <a:chOff x="0" y="0"/>
            <a:chExt cx="6477001" cy="6464701"/>
          </a:xfrm>
        </p:grpSpPr>
        <p:sp>
          <p:nvSpPr>
            <p:cNvPr id="247" name="Rectangle"/>
            <p:cNvSpPr/>
            <p:nvPr/>
          </p:nvSpPr>
          <p:spPr>
            <a:xfrm>
              <a:off x="0" y="0"/>
              <a:ext cx="6477002" cy="64647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spcBef>
                  <a:spcPts val="2000"/>
                </a:spcBef>
                <a:defRPr sz="9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endParaRPr/>
            </a:p>
          </p:txBody>
        </p:sp>
        <p:sp>
          <p:nvSpPr>
            <p:cNvPr id="248" name="Continuously monitor usage patterns, detecting anomalies early. This reduces the likelihood of SEV-1 incidents and ensures planned work takes priority over firefighting.  Activities…"/>
            <p:cNvSpPr txBox="1"/>
            <p:nvPr/>
          </p:nvSpPr>
          <p:spPr>
            <a:xfrm>
              <a:off x="0" y="0"/>
              <a:ext cx="6477002" cy="6464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 defTabSz="914400">
                <a:spcBef>
                  <a:spcPts val="3200"/>
                </a:spcBef>
                <a:defRPr sz="1800" i="1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Continuously monitor usage patterns, detecting anomalies early. This reduces the likelihood of SEV-1 incidents and ensures planned work takes priority over firefighting.</a:t>
              </a:r>
              <a:br/>
              <a:br/>
              <a:r>
                <a:rPr>
                  <a:latin typeface="+mn-lt"/>
                  <a:ea typeface="+mn-ea"/>
                  <a:cs typeface="+mn-cs"/>
                  <a:sym typeface="IBM Plex Sans"/>
                </a:rPr>
                <a:t>Activities</a:t>
              </a:r>
              <a:endParaRPr sz="900">
                <a:latin typeface="+mn-lt"/>
                <a:ea typeface="+mn-ea"/>
                <a:cs typeface="+mn-cs"/>
                <a:sym typeface="IBM Plex Sans"/>
              </a:endParaRPr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Anomaly Detection &amp; Resolution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Identify unusual spikes in CPU, memory, storage, or queries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Locking Issue Resolution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Detect blocking chains, deadlocks, and timeouts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Query Spilling Resolution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Highlight when memory overflows to disk, explain impact, and recommend fixes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Workload Queueing Resolution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Detect queue buildup, surface contributing workloads, and propose rebalancing actions</a:t>
              </a:r>
            </a:p>
          </p:txBody>
        </p:sp>
      </p:grpSp>
      <p:grpSp>
        <p:nvGrpSpPr>
          <p:cNvPr id="252" name="Group 3"/>
          <p:cNvGrpSpPr/>
          <p:nvPr/>
        </p:nvGrpSpPr>
        <p:grpSpPr>
          <a:xfrm>
            <a:off x="8983826" y="4029178"/>
            <a:ext cx="3078427" cy="1300473"/>
            <a:chOff x="0" y="0"/>
            <a:chExt cx="3078425" cy="1300471"/>
          </a:xfrm>
        </p:grpSpPr>
        <p:sp>
          <p:nvSpPr>
            <p:cNvPr id="250" name="Agentic  Healing"/>
            <p:cNvSpPr txBox="1"/>
            <p:nvPr/>
          </p:nvSpPr>
          <p:spPr>
            <a:xfrm>
              <a:off x="1366803" y="0"/>
              <a:ext cx="1711623" cy="1300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/>
            <a:p>
              <a:pPr defTabSz="914400">
                <a:spcBef>
                  <a:spcPts val="3200"/>
                </a:spcBef>
                <a:defRPr sz="3400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Agentic</a:t>
              </a:r>
              <a:r>
                <a:rPr>
                  <a:latin typeface="IBM Plex Sans Light"/>
                  <a:ea typeface="IBM Plex Sans Light"/>
                  <a:cs typeface="IBM Plex Sans Light"/>
                  <a:sym typeface="IBM Plex Sans Light"/>
                </a:rPr>
                <a:t> </a:t>
              </a:r>
              <a:br>
                <a:rPr>
                  <a:latin typeface="IBM Plex Sans Light"/>
                  <a:ea typeface="IBM Plex Sans Light"/>
                  <a:cs typeface="IBM Plex Sans Light"/>
                  <a:sym typeface="IBM Plex Sans Light"/>
                </a:rPr>
              </a:br>
              <a:r>
                <a:rPr>
                  <a:latin typeface="IBM Plex Sans Text"/>
                  <a:ea typeface="IBM Plex Sans Text"/>
                  <a:cs typeface="IBM Plex Sans Text"/>
                  <a:sym typeface="IBM Plex Sans Text"/>
                </a:rPr>
                <a:t>Healing</a:t>
              </a:r>
            </a:p>
          </p:txBody>
        </p:sp>
        <p:pic>
          <p:nvPicPr>
            <p:cNvPr id="251" name="cloud--managed--services (1).svg" descr="cloud--managed--services (1).sv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3338"/>
              <a:ext cx="1193800" cy="1193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3" name="Line"/>
          <p:cNvSpPr/>
          <p:nvPr/>
        </p:nvSpPr>
        <p:spPr>
          <a:xfrm>
            <a:off x="8983826" y="5930236"/>
            <a:ext cx="6477006" cy="4"/>
          </a:xfrm>
          <a:prstGeom prst="line">
            <a:avLst/>
          </a:prstGeom>
          <a:ln w="25400">
            <a:solidFill>
              <a:srgbClr val="FFD479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56" name="Group 5"/>
          <p:cNvGrpSpPr/>
          <p:nvPr/>
        </p:nvGrpSpPr>
        <p:grpSpPr>
          <a:xfrm>
            <a:off x="17083292" y="4029178"/>
            <a:ext cx="3451852" cy="1300473"/>
            <a:chOff x="0" y="0"/>
            <a:chExt cx="3451850" cy="1300471"/>
          </a:xfrm>
        </p:grpSpPr>
        <p:sp>
          <p:nvSpPr>
            <p:cNvPr id="254" name="Agentic Response"/>
            <p:cNvSpPr txBox="1"/>
            <p:nvPr/>
          </p:nvSpPr>
          <p:spPr>
            <a:xfrm>
              <a:off x="1340813" y="0"/>
              <a:ext cx="2111038" cy="1300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/>
            <a:p>
              <a:pPr defTabSz="914400">
                <a:spcBef>
                  <a:spcPts val="3200"/>
                </a:spcBef>
                <a:defRPr sz="3400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Agentic</a:t>
              </a:r>
              <a:br/>
              <a:r>
                <a:rPr>
                  <a:latin typeface="IBM Plex Sans Text"/>
                  <a:ea typeface="IBM Plex Sans Text"/>
                  <a:cs typeface="IBM Plex Sans Text"/>
                  <a:sym typeface="IBM Plex Sans Text"/>
                </a:rPr>
                <a:t>Response</a:t>
              </a:r>
            </a:p>
          </p:txBody>
        </p:sp>
        <p:pic>
          <p:nvPicPr>
            <p:cNvPr id="255" name="fully-managed.svg" descr="fully-managed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3338"/>
              <a:ext cx="1193800" cy="1193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59" name="Vision…"/>
          <p:cNvGrpSpPr/>
          <p:nvPr/>
        </p:nvGrpSpPr>
        <p:grpSpPr>
          <a:xfrm>
            <a:off x="17083292" y="6529988"/>
            <a:ext cx="6477005" cy="6464703"/>
            <a:chOff x="0" y="0"/>
            <a:chExt cx="6477004" cy="6464701"/>
          </a:xfrm>
        </p:grpSpPr>
        <p:sp>
          <p:nvSpPr>
            <p:cNvPr id="257" name="Rectangle"/>
            <p:cNvSpPr/>
            <p:nvPr/>
          </p:nvSpPr>
          <p:spPr>
            <a:xfrm>
              <a:off x="-1" y="0"/>
              <a:ext cx="6477006" cy="64647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spcBef>
                  <a:spcPts val="2000"/>
                </a:spcBef>
                <a:defRPr sz="9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endParaRPr/>
            </a:p>
          </p:txBody>
        </p:sp>
        <p:sp>
          <p:nvSpPr>
            <p:cNvPr id="258" name="When issues arise, explain what changed, why it matters, and how to address it — saving hours of root-cause analysis. Every recommendation is auditable, helping build trust.  Activities…"/>
            <p:cNvSpPr txBox="1"/>
            <p:nvPr/>
          </p:nvSpPr>
          <p:spPr>
            <a:xfrm>
              <a:off x="-1" y="0"/>
              <a:ext cx="6477006" cy="6464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 defTabSz="896111">
                <a:spcBef>
                  <a:spcPts val="3100"/>
                </a:spcBef>
                <a:defRPr sz="1764" i="1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When issues arise, explain what changed, why it matters, and how to address it — saving hours of root-cause analysis. Every recommendation is auditable, helping build trust.</a:t>
              </a:r>
              <a:br/>
              <a:br/>
              <a:r>
                <a:rPr>
                  <a:latin typeface="+mn-lt"/>
                  <a:ea typeface="+mn-ea"/>
                  <a:cs typeface="+mn-cs"/>
                  <a:sym typeface="IBM Plex Sans"/>
                </a:rPr>
                <a:t>Activities</a:t>
              </a:r>
              <a:endParaRPr sz="882">
                <a:latin typeface="+mn-lt"/>
                <a:ea typeface="+mn-ea"/>
                <a:cs typeface="+mn-cs"/>
                <a:sym typeface="IBM Plex Sans"/>
              </a:endParaRPr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Performance Problem Determination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Analyze performance issues across multiple diagnostic paths</a:t>
              </a:r>
              <a:endParaRPr sz="882"/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What’s Changed Analysis for Incident Management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Identify schema, index, or config changes tied to incidents</a:t>
              </a:r>
              <a:endParaRPr sz="882"/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Conversational Telemetry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Natural language access to monitoring data and trends</a:t>
              </a:r>
              <a:endParaRPr sz="882"/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Deep Research with Multi-Step Reasoning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Answers from documentation, support run books &amp; more</a:t>
              </a:r>
              <a:endParaRPr sz="882"/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Incident Summary Report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Generate root-cause reports and draft support tickets</a:t>
              </a:r>
              <a:endParaRPr sz="882"/>
            </a:p>
            <a:p>
              <a:pPr marL="248920" indent="-248920" defTabSz="896111">
                <a:spcBef>
                  <a:spcPts val="1900"/>
                </a:spcBef>
                <a:buSzPct val="100000"/>
                <a:buFont typeface="Times Roman"/>
                <a:buChar char="–"/>
                <a:defRPr sz="1764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Log Analysis for Advanced Problem Determination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Track Db2 logs to quickly identify errors and issues</a:t>
              </a:r>
            </a:p>
          </p:txBody>
        </p:sp>
      </p:grpSp>
      <p:sp>
        <p:nvSpPr>
          <p:cNvPr id="260" name="Line"/>
          <p:cNvSpPr/>
          <p:nvPr/>
        </p:nvSpPr>
        <p:spPr>
          <a:xfrm>
            <a:off x="17070849" y="5930236"/>
            <a:ext cx="6477005" cy="4"/>
          </a:xfrm>
          <a:prstGeom prst="line">
            <a:avLst/>
          </a:prstGeom>
          <a:ln w="25400">
            <a:solidFill>
              <a:srgbClr val="008F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63" name="Group 1"/>
          <p:cNvGrpSpPr/>
          <p:nvPr/>
        </p:nvGrpSpPr>
        <p:grpSpPr>
          <a:xfrm>
            <a:off x="890586" y="4029178"/>
            <a:ext cx="4080768" cy="1300473"/>
            <a:chOff x="0" y="0"/>
            <a:chExt cx="4080766" cy="1300471"/>
          </a:xfrm>
        </p:grpSpPr>
        <p:sp>
          <p:nvSpPr>
            <p:cNvPr id="261" name="Agentic  Maintenance"/>
            <p:cNvSpPr txBox="1"/>
            <p:nvPr/>
          </p:nvSpPr>
          <p:spPr>
            <a:xfrm>
              <a:off x="1369528" y="0"/>
              <a:ext cx="2711239" cy="1300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/>
            <a:p>
              <a:pPr defTabSz="914400">
                <a:spcBef>
                  <a:spcPts val="3200"/>
                </a:spcBef>
                <a:defRPr sz="3400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Agentic</a:t>
              </a:r>
              <a:r>
                <a:rPr b="1">
                  <a:latin typeface="+mn-lt"/>
                  <a:ea typeface="+mn-ea"/>
                  <a:cs typeface="+mn-cs"/>
                  <a:sym typeface="IBM Plex Sans"/>
                </a:rPr>
                <a:t> </a:t>
              </a:r>
              <a:br>
                <a:rPr b="1">
                  <a:latin typeface="+mn-lt"/>
                  <a:ea typeface="+mn-ea"/>
                  <a:cs typeface="+mn-cs"/>
                  <a:sym typeface="IBM Plex Sans"/>
                </a:rPr>
              </a:br>
              <a:r>
                <a:rPr>
                  <a:latin typeface="IBM Plex Sans Text"/>
                  <a:ea typeface="IBM Plex Sans Text"/>
                  <a:cs typeface="IBM Plex Sans Text"/>
                  <a:sym typeface="IBM Plex Sans Text"/>
                </a:rPr>
                <a:t>Maintenance</a:t>
              </a:r>
            </a:p>
          </p:txBody>
        </p:sp>
        <p:pic>
          <p:nvPicPr>
            <p:cNvPr id="262" name="build-and-deploy-pipeline.svg" descr="build-and-deploy-pipeline.sv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3338"/>
              <a:ext cx="1193803" cy="11938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66" name="Vision…"/>
          <p:cNvGrpSpPr/>
          <p:nvPr/>
        </p:nvGrpSpPr>
        <p:grpSpPr>
          <a:xfrm>
            <a:off x="890588" y="6529988"/>
            <a:ext cx="6477002" cy="6464703"/>
            <a:chOff x="0" y="0"/>
            <a:chExt cx="6477001" cy="6464701"/>
          </a:xfrm>
        </p:grpSpPr>
        <p:sp>
          <p:nvSpPr>
            <p:cNvPr id="264" name="Rectangle"/>
            <p:cNvSpPr/>
            <p:nvPr/>
          </p:nvSpPr>
          <p:spPr>
            <a:xfrm>
              <a:off x="0" y="0"/>
              <a:ext cx="6477002" cy="64647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spcBef>
                  <a:spcPts val="2000"/>
                </a:spcBef>
                <a:defRPr sz="9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endParaRPr/>
            </a:p>
          </p:txBody>
        </p:sp>
        <p:sp>
          <p:nvSpPr>
            <p:cNvPr id="265" name="Automate critical tasks, such as tuning &amp; patching. Each action is observable and reversible, ensuring operational autonomy without sacrificing control.  Activities…"/>
            <p:cNvSpPr txBox="1"/>
            <p:nvPr/>
          </p:nvSpPr>
          <p:spPr>
            <a:xfrm>
              <a:off x="0" y="0"/>
              <a:ext cx="6477002" cy="6464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 defTabSz="914400">
                <a:spcBef>
                  <a:spcPts val="3200"/>
                </a:spcBef>
                <a:defRPr sz="1800" i="1">
                  <a:solidFill>
                    <a:srgbClr val="000000"/>
                  </a:solidFill>
                  <a:latin typeface="IBM Plex Sans ExtLt"/>
                  <a:ea typeface="IBM Plex Sans ExtLt"/>
                  <a:cs typeface="IBM Plex Sans ExtLt"/>
                  <a:sym typeface="IBM Plex Sans ExtLt"/>
                </a:defRPr>
              </a:pPr>
              <a:r>
                <a:t>Automate critical tasks, such as tuning &amp; patching. Each action is observable and reversible, ensuring operational autonomy without sacrificing control.</a:t>
              </a:r>
              <a:br/>
              <a:br/>
              <a:r>
                <a:rPr>
                  <a:latin typeface="+mn-lt"/>
                  <a:ea typeface="+mn-ea"/>
                  <a:cs typeface="+mn-cs"/>
                  <a:sym typeface="IBM Plex Sans"/>
                </a:rPr>
                <a:t>Activities</a:t>
              </a:r>
              <a:endParaRPr sz="900">
                <a:latin typeface="+mn-lt"/>
                <a:ea typeface="+mn-ea"/>
                <a:cs typeface="+mn-cs"/>
                <a:sym typeface="IBM Plex Sans"/>
              </a:endParaRPr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Engine Installation &amp; Updates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Deploy new or upgrade existing instances of Db2</a:t>
              </a:r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Database Performance Optimization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Stats refresh &amp; reorgs to keep indexes and tables optimized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Health Check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Proactive scans for common issues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Backups &amp; Recovery Preparation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Automated, verified backups with audit trails</a:t>
              </a:r>
              <a:endParaRPr sz="900"/>
            </a:p>
            <a:p>
              <a:pPr marL="254000" indent="-254000" defTabSz="914400">
                <a:spcBef>
                  <a:spcPts val="2000"/>
                </a:spcBef>
                <a:buSzPct val="100000"/>
                <a:buFont typeface="Times Roman"/>
                <a:buChar char="–"/>
                <a:defRPr sz="18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IBM Plex Sans"/>
                </a:defRPr>
              </a:pPr>
              <a:r>
                <a:t>Integrity Checks &amp; Cleanup</a:t>
              </a:r>
              <a:br/>
              <a:r>
                <a:rPr>
                  <a:latin typeface="IBM Plex Sans ExtLt"/>
                  <a:ea typeface="IBM Plex Sans ExtLt"/>
                  <a:cs typeface="IBM Plex Sans ExtLt"/>
                  <a:sym typeface="IBM Plex Sans ExtLt"/>
                </a:rPr>
                <a:t>Validate constraints and maintain hygiene</a:t>
              </a:r>
            </a:p>
          </p:txBody>
        </p:sp>
      </p:grpSp>
      <p:sp>
        <p:nvSpPr>
          <p:cNvPr id="267" name="Line"/>
          <p:cNvSpPr/>
          <p:nvPr/>
        </p:nvSpPr>
        <p:spPr>
          <a:xfrm>
            <a:off x="890587" y="5930236"/>
            <a:ext cx="6477006" cy="4"/>
          </a:xfrm>
          <a:prstGeom prst="line">
            <a:avLst/>
          </a:prstGeom>
          <a:ln w="25400">
            <a:solidFill>
              <a:srgbClr val="0096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68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3"/>
          <p:cNvSpPr/>
          <p:nvPr/>
        </p:nvSpPr>
        <p:spPr>
          <a:xfrm>
            <a:off x="1" y="0"/>
            <a:ext cx="24387174" cy="13716000"/>
          </a:xfrm>
          <a:prstGeom prst="rect">
            <a:avLst/>
          </a:prstGeom>
          <a:solidFill>
            <a:srgbClr val="E5F6FF"/>
          </a:solidFill>
          <a:ln w="12700">
            <a:miter lim="400000"/>
          </a:ln>
        </p:spPr>
        <p:txBody>
          <a:bodyPr tIns="91439" bIns="91439"/>
          <a:lstStyle/>
          <a:p>
            <a:pPr defTabSz="914400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7880" y="12947648"/>
            <a:ext cx="134621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72" name="Proposal"/>
          <p:cNvSpPr txBox="1">
            <a:spLocks noGrp="1"/>
          </p:cNvSpPr>
          <p:nvPr>
            <p:ph type="body" idx="22"/>
          </p:nvPr>
        </p:nvSpPr>
        <p:spPr>
          <a:xfrm>
            <a:off x="621719" y="554560"/>
            <a:ext cx="17136337" cy="925462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168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lvl1pPr>
          </a:lstStyle>
          <a:p>
            <a:r>
              <a:rPr dirty="0"/>
              <a:t>Proposal</a:t>
            </a:r>
          </a:p>
        </p:txBody>
      </p:sp>
      <p:sp>
        <p:nvSpPr>
          <p:cNvPr id="273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  <p:sp>
        <p:nvSpPr>
          <p:cNvPr id="277" name="Title 1"/>
          <p:cNvSpPr txBox="1"/>
          <p:nvPr/>
        </p:nvSpPr>
        <p:spPr>
          <a:xfrm>
            <a:off x="673380" y="504103"/>
            <a:ext cx="11241231" cy="85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2438400">
              <a:lnSpc>
                <a:spcPct val="90000"/>
              </a:lnSpc>
              <a:defRPr sz="48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rPr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rPr>
              <a:t>Cigna</a:t>
            </a:r>
            <a:r>
              <a:t> Trade-up Pricing</a:t>
            </a:r>
          </a:p>
        </p:txBody>
      </p:sp>
      <p:graphicFrame>
        <p:nvGraphicFramePr>
          <p:cNvPr id="278" name="Table 13"/>
          <p:cNvGraphicFramePr/>
          <p:nvPr>
            <p:extLst>
              <p:ext uri="{D42A27DB-BD31-4B8C-83A1-F6EECF244321}">
                <p14:modId xmlns:p14="http://schemas.microsoft.com/office/powerpoint/2010/main" val="2098332407"/>
              </p:ext>
            </p:extLst>
          </p:nvPr>
        </p:nvGraphicFramePr>
        <p:xfrm>
          <a:off x="621719" y="1957426"/>
          <a:ext cx="18268447" cy="202917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541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3739">
                  <a:extLst>
                    <a:ext uri="{9D8B030D-6E8A-4147-A177-3AD203B41FA5}">
                      <a16:colId xmlns:a16="http://schemas.microsoft.com/office/drawing/2014/main" val="2498926838"/>
                    </a:ext>
                  </a:extLst>
                </a:gridCol>
              </a:tblGrid>
              <a:tr h="627090"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lang="en-US"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Current </a:t>
                      </a:r>
                      <a:r>
                        <a:rPr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S&amp;S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Support Due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lang="en-US"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Notes</a:t>
                      </a:r>
                      <a:endParaRPr sz="2100" dirty="0">
                        <a:latin typeface="IBM Plex Sans SmBld"/>
                        <a:ea typeface="IBM Plex Sans SmBld"/>
                        <a:cs typeface="IBM Plex Sans SmBld"/>
                        <a:sym typeface="IBM Plex Sans SmBld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957"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rPr>
                        <a:t>$XXXX</a:t>
                      </a:r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1F497D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2400">
                          <a:solidFill>
                            <a:srgbClr val="000000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May 2025</a:t>
                      </a:r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1F497D"/>
                      </a:solidFill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3331" indent="-240631" algn="l" defTabSz="914400">
                        <a:buSzPct val="100000"/>
                        <a:buChar char="•"/>
                        <a:defRPr sz="2400">
                          <a:solidFill>
                            <a:srgbClr val="000000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lang="en-US" dirty="0"/>
                        <a:t>Value note</a:t>
                      </a:r>
                    </a:p>
                    <a:p>
                      <a:pPr marL="253331" indent="-240631" algn="l" defTabSz="914400">
                        <a:buSzPct val="100000"/>
                        <a:buChar char="•"/>
                        <a:defRPr sz="2400">
                          <a:solidFill>
                            <a:srgbClr val="000000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lang="en-US" dirty="0"/>
                        <a:t>Value note</a:t>
                      </a:r>
                    </a:p>
                    <a:p>
                      <a:pPr marL="253331" indent="-240631" algn="l" defTabSz="914400">
                        <a:buSzPct val="100000"/>
                        <a:buChar char="•"/>
                        <a:defRPr sz="2400">
                          <a:solidFill>
                            <a:srgbClr val="000000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lang="en-US" dirty="0"/>
                        <a:t>Value note</a:t>
                      </a:r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1F497D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9" name="Table 13"/>
          <p:cNvGraphicFramePr/>
          <p:nvPr>
            <p:extLst>
              <p:ext uri="{D42A27DB-BD31-4B8C-83A1-F6EECF244321}">
                <p14:modId xmlns:p14="http://schemas.microsoft.com/office/powerpoint/2010/main" val="1589046260"/>
              </p:ext>
            </p:extLst>
          </p:nvPr>
        </p:nvGraphicFramePr>
        <p:xfrm>
          <a:off x="673380" y="4517262"/>
          <a:ext cx="22766484" cy="520823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235114">
                  <a:extLst>
                    <a:ext uri="{9D8B030D-6E8A-4147-A177-3AD203B41FA5}">
                      <a16:colId xmlns:a16="http://schemas.microsoft.com/office/drawing/2014/main" val="2833520386"/>
                    </a:ext>
                  </a:extLst>
                </a:gridCol>
                <a:gridCol w="7869023">
                  <a:extLst>
                    <a:ext uri="{9D8B030D-6E8A-4147-A177-3AD203B41FA5}">
                      <a16:colId xmlns:a16="http://schemas.microsoft.com/office/drawing/2014/main" val="1372845526"/>
                    </a:ext>
                  </a:extLst>
                </a:gridCol>
                <a:gridCol w="455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5139">
                  <a:extLst>
                    <a:ext uri="{9D8B030D-6E8A-4147-A177-3AD203B41FA5}">
                      <a16:colId xmlns:a16="http://schemas.microsoft.com/office/drawing/2014/main" val="1055711511"/>
                    </a:ext>
                  </a:extLst>
                </a:gridCol>
                <a:gridCol w="455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90"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lang="en-US"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Sr.</a:t>
                      </a:r>
                      <a:endParaRPr sz="2100" dirty="0">
                        <a:latin typeface="IBM Plex Sans SmBld"/>
                        <a:ea typeface="IBM Plex Sans SmBld"/>
                        <a:cs typeface="IBM Plex Sans SmBld"/>
                        <a:sym typeface="IBM Plex Sans SmBld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Existing entitlements</a:t>
                      </a:r>
                    </a:p>
                  </a:txBody>
                  <a:tcPr marL="45720" marR="4572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AI Edition</a:t>
                      </a:r>
                    </a:p>
                  </a:txBody>
                  <a:tcPr marL="45720" marR="4572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lang="en-US"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Qty</a:t>
                      </a:r>
                      <a:endParaRPr sz="2100" dirty="0">
                        <a:latin typeface="IBM Plex Sans SmBld"/>
                        <a:ea typeface="IBM Plex Sans SmBld"/>
                        <a:cs typeface="IBM Plex Sans SmBld"/>
                        <a:sym typeface="IBM Plex Sans SmBld"/>
                      </a:endParaRP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algn="l" defTabSz="914400">
                        <a:defRPr sz="1800" b="0"/>
                      </a:pPr>
                      <a:r>
                        <a:rPr sz="2100" dirty="0"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Price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  <a:solidFill>
                      <a:srgbClr val="E5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7048"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Db2 Advanced Enterprise Server Edition (PVU)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E0HPVLL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>
                      <a:solidFill>
                        <a:srgbClr val="1F497D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IBM Db2 AI Edition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XXXXXXX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>
                      <a:solidFill>
                        <a:srgbClr val="1F497D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latin typeface="IBM Plex Sans Text"/>
                        <a:ea typeface="IBM Plex Sans Text"/>
                        <a:cs typeface="IBM Plex Sans Text"/>
                        <a:sym typeface="IBM Plex Sans Text"/>
                      </a:endParaRPr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1F497D"/>
                      </a:solidFill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rPr>
                        <a:t>$XXXX</a:t>
                      </a:r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1F497D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7048"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Db2 Advanced Enterprise Server Edition (PVU)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E0HPVLL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IBM Db2 AI Edition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XXXXXXX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latin typeface="IBM Plex Sans Text"/>
                        <a:ea typeface="IBM Plex Sans Text"/>
                        <a:cs typeface="IBM Plex Sans Text"/>
                        <a:sym typeface="IBM Plex Sans Text"/>
                      </a:endParaRP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rPr>
                        <a:t>$XXXX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85401"/>
                  </a:ext>
                </a:extLst>
              </a:tr>
              <a:tr h="1527048"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152400" marR="152400" marT="152400" marB="152400" anchor="ctr" horzOverflow="overflow">
                    <a:lnL w="25400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Db2 Advanced Enterprise Server Edition (PVU)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E0HPVLL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2438339">
                        <a:lnSpc>
                          <a:spcPct val="114000"/>
                        </a:lnSpc>
                        <a:defRPr sz="2400">
                          <a:solidFill>
                            <a:srgbClr val="191919"/>
                          </a:solidFill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defRPr>
                      </a:pPr>
                      <a:r>
                        <a:rPr dirty="0"/>
                        <a:t>IBM Db2 AI Edition</a:t>
                      </a:r>
                    </a:p>
                    <a:p>
                      <a:pPr indent="12700" algn="l" defTabSz="2438339">
                        <a:lnSpc>
                          <a:spcPct val="114000"/>
                        </a:lnSpc>
                        <a:defRPr sz="2400" i="1">
                          <a:solidFill>
                            <a:srgbClr val="191919"/>
                          </a:solidFill>
                          <a:sym typeface="IBM Plex Sans Light"/>
                        </a:defRPr>
                      </a:pPr>
                      <a:r>
                        <a:rPr dirty="0"/>
                        <a:t>XXXXXXX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latin typeface="IBM Plex Sans Text"/>
                        <a:ea typeface="IBM Plex Sans Text"/>
                        <a:cs typeface="IBM Plex Sans Text"/>
                        <a:sym typeface="IBM Plex Sans Text"/>
                      </a:endParaRP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"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IBM Plex Sans Text"/>
                          <a:ea typeface="IBM Plex Sans Text"/>
                          <a:cs typeface="IBM Plex Sans Text"/>
                          <a:sym typeface="IBM Plex Sans Text"/>
                        </a:rPr>
                        <a:t>$XXXX</a:t>
                      </a:r>
                    </a:p>
                  </a:txBody>
                  <a:tcPr marL="152400" marR="152400" marT="152400" marB="152400" anchor="ctr" horzOverflow="overflow">
                    <a:lnL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1F497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2655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3"/>
          <p:cNvSpPr/>
          <p:nvPr/>
        </p:nvSpPr>
        <p:spPr>
          <a:xfrm>
            <a:off x="1" y="0"/>
            <a:ext cx="24387174" cy="13716000"/>
          </a:xfrm>
          <a:prstGeom prst="rect">
            <a:avLst/>
          </a:prstGeom>
          <a:solidFill>
            <a:srgbClr val="E5F6FF"/>
          </a:solidFill>
          <a:ln w="12700">
            <a:miter lim="400000"/>
          </a:ln>
        </p:spPr>
        <p:txBody>
          <a:bodyPr tIns="91439" bIns="91439"/>
          <a:lstStyle/>
          <a:p>
            <a:pPr defTabSz="914400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2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7880" y="12947648"/>
            <a:ext cx="134621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84" name="Business Value Assessment"/>
          <p:cNvSpPr txBox="1">
            <a:spLocks noGrp="1"/>
          </p:cNvSpPr>
          <p:nvPr>
            <p:ph type="body" idx="22"/>
          </p:nvPr>
        </p:nvSpPr>
        <p:spPr>
          <a:xfrm>
            <a:off x="621719" y="554560"/>
            <a:ext cx="17136337" cy="925462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168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lvl1pPr>
          </a:lstStyle>
          <a:p>
            <a:r>
              <a:rPr dirty="0"/>
              <a:t>Business Value Assessment</a:t>
            </a:r>
          </a:p>
        </p:txBody>
      </p:sp>
      <p:sp>
        <p:nvSpPr>
          <p:cNvPr id="285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483;p74"/>
          <p:cNvSpPr txBox="1"/>
          <p:nvPr/>
        </p:nvSpPr>
        <p:spPr>
          <a:xfrm>
            <a:off x="16472977" y="2402288"/>
            <a:ext cx="7002982" cy="891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3200">
                <a:solidFill>
                  <a:schemeClr val="accent1"/>
                </a:solidFill>
                <a:latin typeface="IBM Plex Sans Text"/>
                <a:ea typeface="IBM Plex Sans Text"/>
                <a:cs typeface="IBM Plex Sans Text"/>
                <a:sym typeface="IBM Plex Sans Text"/>
              </a:defRPr>
            </a:pPr>
            <a:r>
              <a:t>Value Proposition </a:t>
            </a:r>
          </a:p>
          <a:p>
            <a:pPr>
              <a:spcBef>
                <a:spcPts val="2500"/>
              </a:spcBef>
              <a:defRPr sz="2400">
                <a:solidFill>
                  <a:srgbClr val="000000"/>
                </a:solidFill>
              </a:defRPr>
            </a:pPr>
            <a:r>
              <a:t>From our collaborative assessment, Cigna can realize the following value:</a:t>
            </a: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spcBef>
                <a:spcPts val="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spcBef>
                <a:spcPts val="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lnSpc>
                <a:spcPct val="90000"/>
              </a:lnSpc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spcBef>
                <a:spcPts val="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>
              <a:latin typeface="+mn-lt"/>
              <a:ea typeface="+mn-ea"/>
              <a:cs typeface="+mn-cs"/>
              <a:sym typeface="IBM Plex Sans"/>
            </a:endParaRPr>
          </a:p>
          <a:p>
            <a:pPr>
              <a:spcBef>
                <a:spcPts val="200"/>
              </a:spcBef>
              <a:defRPr sz="2400">
                <a:solidFill>
                  <a:srgbClr val="000000"/>
                </a:solidFill>
              </a:defRPr>
            </a:pPr>
            <a:r>
              <a:t>Beyond these quantified benefits, there are many qualitative benefits associated with the investment. </a:t>
            </a:r>
          </a:p>
        </p:txBody>
      </p:sp>
      <p:sp>
        <p:nvSpPr>
          <p:cNvPr id="288" name="Google Shape;484;p74"/>
          <p:cNvSpPr txBox="1"/>
          <p:nvPr/>
        </p:nvSpPr>
        <p:spPr>
          <a:xfrm>
            <a:off x="673382" y="2298993"/>
            <a:ext cx="68208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200">
                <a:solidFill>
                  <a:schemeClr val="accent1"/>
                </a:solidFill>
                <a:latin typeface="IBM Plex Sans Text"/>
                <a:ea typeface="IBM Plex Sans Text"/>
                <a:cs typeface="IBM Plex Sans Text"/>
                <a:sym typeface="IBM Plex Sans Text"/>
              </a:defRPr>
            </a:lvl1pPr>
          </a:lstStyle>
          <a:p>
            <a:r>
              <a:t>Business Objectives</a:t>
            </a:r>
          </a:p>
        </p:txBody>
      </p:sp>
      <p:sp>
        <p:nvSpPr>
          <p:cNvPr id="289" name="Google Shape;490;p74"/>
          <p:cNvSpPr txBox="1"/>
          <p:nvPr/>
        </p:nvSpPr>
        <p:spPr>
          <a:xfrm>
            <a:off x="8517578" y="3570762"/>
            <a:ext cx="6736242" cy="2795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defRPr sz="138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$2.52M</a:t>
            </a:r>
            <a:endParaRPr sz="6000">
              <a:latin typeface="+mn-lt"/>
              <a:ea typeface="+mn-ea"/>
              <a:cs typeface="+mn-cs"/>
              <a:sym typeface="IBM Plex Sans"/>
            </a:endParaRPr>
          </a:p>
          <a:p>
            <a:pPr algn="ctr">
              <a:lnSpc>
                <a:spcPct val="90000"/>
              </a:lnSpc>
              <a:spcBef>
                <a:spcPts val="1200"/>
              </a:spcBef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3-Year Benefits</a:t>
            </a:r>
          </a:p>
        </p:txBody>
      </p:sp>
      <p:sp>
        <p:nvSpPr>
          <p:cNvPr id="290" name="Google Shape;491;p74"/>
          <p:cNvSpPr txBox="1"/>
          <p:nvPr/>
        </p:nvSpPr>
        <p:spPr>
          <a:xfrm>
            <a:off x="16472980" y="4778206"/>
            <a:ext cx="8507659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defRPr sz="64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Immediate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Payback Period</a:t>
            </a:r>
          </a:p>
        </p:txBody>
      </p:sp>
      <p:sp>
        <p:nvSpPr>
          <p:cNvPr id="291" name="Google Shape;492;p74"/>
          <p:cNvSpPr txBox="1"/>
          <p:nvPr/>
        </p:nvSpPr>
        <p:spPr>
          <a:xfrm>
            <a:off x="16472977" y="6494919"/>
            <a:ext cx="6641845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defRPr sz="64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$1.92M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Net Present Value</a:t>
            </a:r>
          </a:p>
        </p:txBody>
      </p:sp>
      <p:sp>
        <p:nvSpPr>
          <p:cNvPr id="292" name="Straight Connector 4"/>
          <p:cNvSpPr/>
          <p:nvPr/>
        </p:nvSpPr>
        <p:spPr>
          <a:xfrm flipH="1">
            <a:off x="7793631" y="2456937"/>
            <a:ext cx="1" cy="537511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3" name="Straight Connector 8"/>
          <p:cNvSpPr/>
          <p:nvPr/>
        </p:nvSpPr>
        <p:spPr>
          <a:xfrm flipH="1">
            <a:off x="15977766" y="2456936"/>
            <a:ext cx="1" cy="989746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4" name="Title 1"/>
          <p:cNvSpPr txBox="1">
            <a:spLocks noGrp="1"/>
          </p:cNvSpPr>
          <p:nvPr>
            <p:ph type="title"/>
          </p:nvPr>
        </p:nvSpPr>
        <p:spPr>
          <a:xfrm>
            <a:off x="673380" y="508000"/>
            <a:ext cx="11241231" cy="851506"/>
          </a:xfrm>
          <a:prstGeom prst="rect">
            <a:avLst/>
          </a:prstGeom>
        </p:spPr>
        <p:txBody>
          <a:bodyPr/>
          <a:lstStyle/>
          <a:p>
            <a:pPr>
              <a:defRPr sz="4800"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Executive summary prepared for </a:t>
            </a:r>
            <a:r>
              <a:rPr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rPr>
              <a:t>Cigna</a:t>
            </a:r>
          </a:p>
        </p:txBody>
      </p:sp>
      <p:sp>
        <p:nvSpPr>
          <p:cNvPr id="295" name="Google Shape;492;p74"/>
          <p:cNvSpPr txBox="1"/>
          <p:nvPr/>
        </p:nvSpPr>
        <p:spPr>
          <a:xfrm>
            <a:off x="16472975" y="8211632"/>
            <a:ext cx="6641846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defRPr sz="64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1299.7%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Return on Investment</a:t>
            </a:r>
          </a:p>
        </p:txBody>
      </p:sp>
      <p:sp>
        <p:nvSpPr>
          <p:cNvPr id="29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23568265" y="12766402"/>
            <a:ext cx="226061" cy="345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/>
          <a:lstStyle>
            <a:lvl1pPr defTabSz="1829013"/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297" name="Google Shape;482;p74"/>
          <p:cNvSpPr txBox="1"/>
          <p:nvPr/>
        </p:nvSpPr>
        <p:spPr>
          <a:xfrm>
            <a:off x="673379" y="3262250"/>
            <a:ext cx="6736245" cy="427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Same staff supports more growth, higher‑value work (optimization, data initiatives), or avoids incremental hiring.</a:t>
            </a:r>
          </a:p>
          <a:p>
            <a:pPr marL="34290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Reduced business disruption, fewer escalations, improved internal SLAs.</a:t>
            </a:r>
          </a:p>
          <a:p>
            <a:pPr marL="34290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  <a:sym typeface="IBM Plex Sans"/>
              </a:rPr>
              <a:t>Higher system resilience and reduced operational risk in regulated environments.</a:t>
            </a:r>
          </a:p>
          <a:p>
            <a:pPr marL="34290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Combined licensing, infrastructure, and admin overhead that can be reduced via a single, unified Db2 Genius Hub console</a:t>
            </a:r>
          </a:p>
        </p:txBody>
      </p:sp>
      <p:sp>
        <p:nvSpPr>
          <p:cNvPr id="298" name="Google Shape;482;p74"/>
          <p:cNvSpPr txBox="1"/>
          <p:nvPr/>
        </p:nvSpPr>
        <p:spPr>
          <a:xfrm>
            <a:off x="868727" y="8307476"/>
            <a:ext cx="688115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32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rPr dirty="0"/>
              <a:t>Key Benefits and Estimated Impact</a:t>
            </a:r>
          </a:p>
        </p:txBody>
      </p:sp>
      <p:sp>
        <p:nvSpPr>
          <p:cNvPr id="299" name="Straight Connector 7"/>
          <p:cNvSpPr/>
          <p:nvPr/>
        </p:nvSpPr>
        <p:spPr>
          <a:xfrm flipH="1" flipV="1">
            <a:off x="868727" y="7827818"/>
            <a:ext cx="15107769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02" name="Group 24"/>
          <p:cNvGrpSpPr/>
          <p:nvPr/>
        </p:nvGrpSpPr>
        <p:grpSpPr>
          <a:xfrm>
            <a:off x="928488" y="8965452"/>
            <a:ext cx="14805635" cy="3493621"/>
            <a:chOff x="-5409184" y="-147968"/>
            <a:chExt cx="14805634" cy="3493619"/>
          </a:xfrm>
        </p:grpSpPr>
        <p:graphicFrame>
          <p:nvGraphicFramePr>
            <p:cNvPr id="300" name="top_benefits_chart_std"/>
            <p:cNvGraphicFramePr/>
            <p:nvPr/>
          </p:nvGraphicFramePr>
          <p:xfrm>
            <a:off x="-5409185" y="-147969"/>
            <a:ext cx="14716053" cy="34243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1" name="Rectangle 15"/>
            <p:cNvSpPr/>
            <p:nvPr/>
          </p:nvSpPr>
          <p:spPr>
            <a:xfrm>
              <a:off x="9277757" y="0"/>
              <a:ext cx="118693" cy="334565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defRPr sz="1400"/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itle 1"/>
          <p:cNvSpPr txBox="1"/>
          <p:nvPr/>
        </p:nvSpPr>
        <p:spPr>
          <a:xfrm>
            <a:off x="673193" y="508000"/>
            <a:ext cx="17774794" cy="78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2438400">
              <a:spcBef>
                <a:spcPts val="1800"/>
              </a:spcBef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sz="4800">
                <a:latin typeface="IBM Plex Sans ExtLt"/>
                <a:ea typeface="IBM Plex Sans ExtLt"/>
                <a:cs typeface="IBM Plex Sans ExtLt"/>
                <a:sym typeface="IBM Plex Sans ExtLt"/>
              </a:rPr>
              <a:t>Genius Hub empowers Cigna to save </a:t>
            </a:r>
            <a:r>
              <a:rPr sz="4800">
                <a:solidFill>
                  <a:schemeClr val="accent1"/>
                </a:solidFill>
              </a:rPr>
              <a:t>$2.52M</a:t>
            </a:r>
            <a:r>
              <a:rPr sz="4800">
                <a:latin typeface="IBM Plex Sans ExtLt"/>
                <a:ea typeface="IBM Plex Sans ExtLt"/>
                <a:cs typeface="IBM Plex Sans ExtLt"/>
                <a:sym typeface="IBM Plex Sans ExtLt"/>
              </a:rPr>
              <a:t> over three years</a:t>
            </a:r>
          </a:p>
        </p:txBody>
      </p:sp>
      <p:graphicFrame>
        <p:nvGraphicFramePr>
          <p:cNvPr id="305" name="Table 1"/>
          <p:cNvGraphicFramePr/>
          <p:nvPr/>
        </p:nvGraphicFramePr>
        <p:xfrm>
          <a:off x="727059" y="7428344"/>
          <a:ext cx="22933055" cy="5162549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43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2012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Benefits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IBM Plex Sans Medm"/>
                          <a:ea typeface="IBM Plex Sans Medm"/>
                          <a:cs typeface="IBM Plex Sans Medm"/>
                          <a:sym typeface="IBM Plex Sans Medm"/>
                        </a:rPr>
                        <a:t>Year 1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IBM Plex Sans Medm"/>
                          <a:ea typeface="IBM Plex Sans Medm"/>
                          <a:cs typeface="IBM Plex Sans Medm"/>
                          <a:sym typeface="IBM Plex Sans Medm"/>
                        </a:rPr>
                        <a:t>Year 2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IBM Plex Sans Medm"/>
                          <a:ea typeface="IBM Plex Sans Medm"/>
                          <a:cs typeface="IBM Plex Sans Medm"/>
                          <a:sym typeface="IBM Plex Sans Medm"/>
                        </a:rPr>
                        <a:t>Year 3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IBM Plex Sans Medm"/>
                          <a:ea typeface="IBM Plex Sans Medm"/>
                          <a:cs typeface="IBM Plex Sans Medm"/>
                          <a:sym typeface="IBM Plex Sans Medm"/>
                        </a:rPr>
                        <a:t>3-Year Total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Avoided Severe Incidents &amp; Downtime Risk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$225,000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$237,500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$250,000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$712,500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DBA Efficiency &amp; Labor Savings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$413,100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$436,050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$459,000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$1,308,150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Faster Incident Resolution (MTTR Reduction)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$67,500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$71,250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$75,000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$213,750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837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Tool Consolidation &amp; Operational Efficiency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$90,000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$95,000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$100,000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IBM Plex Sans Light"/>
                        </a:rPr>
                        <a:t>$285,000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Benefit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$795,600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$839,800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$884,000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IBM Plex Sans SmBld"/>
                          <a:ea typeface="IBM Plex Sans SmBld"/>
                          <a:cs typeface="IBM Plex Sans SmBld"/>
                          <a:sym typeface="IBM Plex Sans SmBld"/>
                        </a:rPr>
                        <a:t>$2,519,400</a:t>
                      </a:r>
                    </a:p>
                  </a:txBody>
                  <a:tcPr marL="254000" marR="254000" marT="254000" marB="2540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23568264" y="12766402"/>
            <a:ext cx="226061" cy="345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/>
          <a:lstStyle>
            <a:lvl1pPr defTabSz="1829013"/>
          </a:lstStyle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307" name="Straight Connector 17"/>
          <p:cNvSpPr/>
          <p:nvPr/>
        </p:nvSpPr>
        <p:spPr>
          <a:xfrm flipH="1">
            <a:off x="6753692" y="2516118"/>
            <a:ext cx="1" cy="438634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08" name="Straight Connector 19"/>
          <p:cNvSpPr/>
          <p:nvPr/>
        </p:nvSpPr>
        <p:spPr>
          <a:xfrm flipH="1">
            <a:off x="12223546" y="2516118"/>
            <a:ext cx="1" cy="440142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09" name="Straight Connector 20"/>
          <p:cNvSpPr/>
          <p:nvPr/>
        </p:nvSpPr>
        <p:spPr>
          <a:xfrm>
            <a:off x="17693400" y="2516118"/>
            <a:ext cx="1" cy="4384757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grpSp>
        <p:nvGrpSpPr>
          <p:cNvPr id="314" name="Group"/>
          <p:cNvGrpSpPr/>
          <p:nvPr/>
        </p:nvGrpSpPr>
        <p:grpSpPr>
          <a:xfrm>
            <a:off x="1807284" y="2398717"/>
            <a:ext cx="4381501" cy="4570618"/>
            <a:chOff x="0" y="0"/>
            <a:chExt cx="4381500" cy="4570617"/>
          </a:xfrm>
        </p:grpSpPr>
        <p:sp>
          <p:nvSpPr>
            <p:cNvPr id="310" name="Text Placeholder 10"/>
            <p:cNvSpPr/>
            <p:nvPr/>
          </p:nvSpPr>
          <p:spPr>
            <a:xfrm>
              <a:off x="0" y="0"/>
              <a:ext cx="4381500" cy="1346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2438400">
                <a:defRPr sz="2600">
                  <a:solidFill>
                    <a:srgbClr val="000000"/>
                  </a:solidFill>
                </a:defRPr>
              </a:lvl1pPr>
            </a:lstStyle>
            <a:p>
              <a:r>
                <a:t>DBA Efficiency &amp; Labor Savings </a:t>
              </a:r>
            </a:p>
          </p:txBody>
        </p:sp>
        <p:grpSp>
          <p:nvGrpSpPr>
            <p:cNvPr id="313" name="Group 1"/>
            <p:cNvGrpSpPr/>
            <p:nvPr/>
          </p:nvGrpSpPr>
          <p:grpSpPr>
            <a:xfrm>
              <a:off x="572980" y="1335078"/>
              <a:ext cx="3235540" cy="3235540"/>
              <a:chOff x="0" y="0"/>
              <a:chExt cx="3235539" cy="3235539"/>
            </a:xfrm>
          </p:grpSpPr>
          <p:sp>
            <p:nvSpPr>
              <p:cNvPr id="311" name="Title 1"/>
              <p:cNvSpPr txBox="1"/>
              <p:nvPr/>
            </p:nvSpPr>
            <p:spPr>
              <a:xfrm>
                <a:off x="315733" y="1234025"/>
                <a:ext cx="2618291" cy="723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 defTabSz="2438400">
                  <a:lnSpc>
                    <a:spcPct val="110000"/>
                  </a:lnSpc>
                  <a:defRPr sz="4400">
                    <a:solidFill>
                      <a:schemeClr val="accent1"/>
                    </a:solidFill>
                  </a:defRPr>
                </a:lvl1pPr>
              </a:lstStyle>
              <a:p>
                <a:r>
                  <a:t>37%</a:t>
                </a:r>
              </a:p>
            </p:txBody>
          </p:sp>
          <p:graphicFrame>
            <p:nvGraphicFramePr>
              <p:cNvPr id="312" name="Chart 10"/>
              <p:cNvGraphicFramePr/>
              <p:nvPr/>
            </p:nvGraphicFramePr>
            <p:xfrm>
              <a:off x="0" y="0"/>
              <a:ext cx="3235540" cy="32355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</p:grpSp>
      </p:grpSp>
      <p:grpSp>
        <p:nvGrpSpPr>
          <p:cNvPr id="319" name="Group"/>
          <p:cNvGrpSpPr/>
          <p:nvPr/>
        </p:nvGrpSpPr>
        <p:grpSpPr>
          <a:xfrm>
            <a:off x="7283653" y="2403782"/>
            <a:ext cx="4385055" cy="4565553"/>
            <a:chOff x="0" y="0"/>
            <a:chExt cx="4385054" cy="4565552"/>
          </a:xfrm>
        </p:grpSpPr>
        <p:sp>
          <p:nvSpPr>
            <p:cNvPr id="315" name="Text Placeholder 10"/>
            <p:cNvSpPr/>
            <p:nvPr/>
          </p:nvSpPr>
          <p:spPr>
            <a:xfrm>
              <a:off x="0" y="0"/>
              <a:ext cx="4385055" cy="13426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2438400">
                <a:defRPr sz="2600">
                  <a:solidFill>
                    <a:srgbClr val="000000"/>
                  </a:solidFill>
                </a:defRPr>
              </a:lvl1pPr>
            </a:lstStyle>
            <a:p>
              <a:r>
                <a:t>Faster Incident Resolution (MTTR Reduction)</a:t>
              </a:r>
            </a:p>
          </p:txBody>
        </p:sp>
        <p:grpSp>
          <p:nvGrpSpPr>
            <p:cNvPr id="318" name="Group 2"/>
            <p:cNvGrpSpPr/>
            <p:nvPr/>
          </p:nvGrpSpPr>
          <p:grpSpPr>
            <a:xfrm>
              <a:off x="574757" y="1330013"/>
              <a:ext cx="3235541" cy="3235540"/>
              <a:chOff x="0" y="0"/>
              <a:chExt cx="3235539" cy="3235539"/>
            </a:xfrm>
          </p:grpSpPr>
          <p:sp>
            <p:nvSpPr>
              <p:cNvPr id="316" name="Title 1"/>
              <p:cNvSpPr txBox="1"/>
              <p:nvPr/>
            </p:nvSpPr>
            <p:spPr>
              <a:xfrm>
                <a:off x="293961" y="1234025"/>
                <a:ext cx="2618291" cy="723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 defTabSz="2438400">
                  <a:lnSpc>
                    <a:spcPct val="110000"/>
                  </a:lnSpc>
                  <a:defRPr sz="4400">
                    <a:solidFill>
                      <a:schemeClr val="accent1"/>
                    </a:solidFill>
                  </a:defRPr>
                </a:lvl1pPr>
              </a:lstStyle>
              <a:p>
                <a:r>
                  <a:t>29%</a:t>
                </a:r>
              </a:p>
            </p:txBody>
          </p:sp>
          <p:graphicFrame>
            <p:nvGraphicFramePr>
              <p:cNvPr id="317" name="Chart 9"/>
              <p:cNvGraphicFramePr/>
              <p:nvPr/>
            </p:nvGraphicFramePr>
            <p:xfrm>
              <a:off x="0" y="0"/>
              <a:ext cx="3235540" cy="32355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</p:grpSp>
      </p:grpSp>
      <p:grpSp>
        <p:nvGrpSpPr>
          <p:cNvPr id="324" name="Group"/>
          <p:cNvGrpSpPr/>
          <p:nvPr/>
        </p:nvGrpSpPr>
        <p:grpSpPr>
          <a:xfrm>
            <a:off x="12763576" y="2403782"/>
            <a:ext cx="4381501" cy="4565553"/>
            <a:chOff x="0" y="0"/>
            <a:chExt cx="4381500" cy="4565552"/>
          </a:xfrm>
        </p:grpSpPr>
        <p:sp>
          <p:nvSpPr>
            <p:cNvPr id="320" name="Text Placeholder 10"/>
            <p:cNvSpPr/>
            <p:nvPr/>
          </p:nvSpPr>
          <p:spPr>
            <a:xfrm>
              <a:off x="0" y="0"/>
              <a:ext cx="4381500" cy="13410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2438400">
                <a:defRPr sz="2600">
                  <a:solidFill>
                    <a:srgbClr val="000000"/>
                  </a:solidFill>
                </a:defRPr>
              </a:lvl1pPr>
            </a:lstStyle>
            <a:p>
              <a:r>
                <a:t>Avoided Severe Incidents &amp; Downtime Risk</a:t>
              </a:r>
            </a:p>
          </p:txBody>
        </p:sp>
        <p:grpSp>
          <p:nvGrpSpPr>
            <p:cNvPr id="323" name="Group 3"/>
            <p:cNvGrpSpPr/>
            <p:nvPr/>
          </p:nvGrpSpPr>
          <p:grpSpPr>
            <a:xfrm>
              <a:off x="572980" y="1330013"/>
              <a:ext cx="3235540" cy="3235540"/>
              <a:chOff x="0" y="0"/>
              <a:chExt cx="3235539" cy="3235539"/>
            </a:xfrm>
          </p:grpSpPr>
          <p:sp>
            <p:nvSpPr>
              <p:cNvPr id="321" name="Title 1"/>
              <p:cNvSpPr txBox="1"/>
              <p:nvPr/>
            </p:nvSpPr>
            <p:spPr>
              <a:xfrm>
                <a:off x="337504" y="1234025"/>
                <a:ext cx="2618291" cy="723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 defTabSz="2438400">
                  <a:lnSpc>
                    <a:spcPct val="110000"/>
                  </a:lnSpc>
                  <a:defRPr sz="4400">
                    <a:solidFill>
                      <a:schemeClr val="accent1"/>
                    </a:solidFill>
                  </a:defRPr>
                </a:lvl1pPr>
              </a:lstStyle>
              <a:p>
                <a:r>
                  <a:t>28%</a:t>
                </a:r>
              </a:p>
            </p:txBody>
          </p:sp>
          <p:graphicFrame>
            <p:nvGraphicFramePr>
              <p:cNvPr id="322" name="Chart 6"/>
              <p:cNvGraphicFramePr/>
              <p:nvPr/>
            </p:nvGraphicFramePr>
            <p:xfrm>
              <a:off x="0" y="0"/>
              <a:ext cx="3235540" cy="32355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</p:grpSp>
      <p:grpSp>
        <p:nvGrpSpPr>
          <p:cNvPr id="329" name="Group"/>
          <p:cNvGrpSpPr/>
          <p:nvPr/>
        </p:nvGrpSpPr>
        <p:grpSpPr>
          <a:xfrm>
            <a:off x="18241723" y="2396071"/>
            <a:ext cx="4381501" cy="4573264"/>
            <a:chOff x="0" y="0"/>
            <a:chExt cx="4381500" cy="4573262"/>
          </a:xfrm>
        </p:grpSpPr>
        <p:sp>
          <p:nvSpPr>
            <p:cNvPr id="325" name="Text Placeholder 10"/>
            <p:cNvSpPr/>
            <p:nvPr/>
          </p:nvSpPr>
          <p:spPr>
            <a:xfrm>
              <a:off x="0" y="0"/>
              <a:ext cx="4381500" cy="13432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2438400">
                <a:defRPr sz="2600">
                  <a:solidFill>
                    <a:srgbClr val="000000"/>
                  </a:solidFill>
                </a:defRPr>
              </a:lvl1pPr>
            </a:lstStyle>
            <a:p>
              <a:r>
                <a:t>Tool Consolidation &amp; Operational Efficiency</a:t>
              </a:r>
            </a:p>
          </p:txBody>
        </p:sp>
        <p:grpSp>
          <p:nvGrpSpPr>
            <p:cNvPr id="328" name="Group 4"/>
            <p:cNvGrpSpPr/>
            <p:nvPr/>
          </p:nvGrpSpPr>
          <p:grpSpPr>
            <a:xfrm>
              <a:off x="572980" y="1337723"/>
              <a:ext cx="3235540" cy="3235540"/>
              <a:chOff x="0" y="0"/>
              <a:chExt cx="3235539" cy="3235539"/>
            </a:xfrm>
          </p:grpSpPr>
          <p:sp>
            <p:nvSpPr>
              <p:cNvPr id="326" name="Title 1"/>
              <p:cNvSpPr txBox="1"/>
              <p:nvPr/>
            </p:nvSpPr>
            <p:spPr>
              <a:xfrm>
                <a:off x="337504" y="1234025"/>
                <a:ext cx="2618291" cy="723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 defTabSz="2438400">
                  <a:lnSpc>
                    <a:spcPct val="110000"/>
                  </a:lnSpc>
                  <a:defRPr sz="4400">
                    <a:solidFill>
                      <a:schemeClr val="accent1"/>
                    </a:solidFill>
                  </a:defRPr>
                </a:lvl1pPr>
              </a:lstStyle>
              <a:p>
                <a:r>
                  <a:t>26%</a:t>
                </a:r>
              </a:p>
            </p:txBody>
          </p:sp>
          <p:graphicFrame>
            <p:nvGraphicFramePr>
              <p:cNvPr id="327" name="Chart 18"/>
              <p:cNvGraphicFramePr/>
              <p:nvPr/>
            </p:nvGraphicFramePr>
            <p:xfrm>
              <a:off x="0" y="0"/>
              <a:ext cx="3235540" cy="32355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</p:grp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29;p46"/>
          <p:cNvSpPr/>
          <p:nvPr/>
        </p:nvSpPr>
        <p:spPr>
          <a:xfrm>
            <a:off x="1111203" y="3362561"/>
            <a:ext cx="12066856" cy="6846890"/>
          </a:xfrm>
          <a:prstGeom prst="roundRect">
            <a:avLst>
              <a:gd name="adj" fmla="val 0"/>
            </a:avLst>
          </a:prstGeom>
          <a:solidFill>
            <a:srgbClr val="E5F6FF"/>
          </a:solidFill>
          <a:ln>
            <a:solidFill>
              <a:srgbClr val="E5F6FF"/>
            </a:solidFill>
          </a:ln>
        </p:spPr>
        <p:txBody>
          <a:bodyPr tIns="91439" bIns="91439" anchor="ctr"/>
          <a:lstStyle/>
          <a:p>
            <a:pPr>
              <a:lnSpc>
                <a:spcPct val="115000"/>
              </a:lnSpc>
              <a:defRPr sz="48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32" name="TextBox 5"/>
          <p:cNvSpPr txBox="1"/>
          <p:nvPr/>
        </p:nvSpPr>
        <p:spPr>
          <a:xfrm>
            <a:off x="2993469" y="5092184"/>
            <a:ext cx="4559783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913806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Projected cash stream from investing in IBM</a:t>
            </a:r>
          </a:p>
        </p:txBody>
      </p:sp>
      <p:sp>
        <p:nvSpPr>
          <p:cNvPr id="333" name="TextBox 6"/>
          <p:cNvSpPr txBox="1"/>
          <p:nvPr/>
        </p:nvSpPr>
        <p:spPr>
          <a:xfrm>
            <a:off x="9998385" y="6727967"/>
            <a:ext cx="2412299" cy="171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913806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Assumed cash stream resulting from doing nothing</a:t>
            </a:r>
          </a:p>
        </p:txBody>
      </p:sp>
      <p:sp>
        <p:nvSpPr>
          <p:cNvPr id="334" name="TextBox 11"/>
          <p:cNvSpPr txBox="1"/>
          <p:nvPr/>
        </p:nvSpPr>
        <p:spPr>
          <a:xfrm>
            <a:off x="1141694" y="10509330"/>
            <a:ext cx="8187254" cy="96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3806">
              <a:defRPr sz="1800">
                <a:solidFill>
                  <a:srgbClr val="A6A6A6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* Source: Harvard Business Review, “Innovation Killers”</a:t>
            </a:r>
            <a:endParaRPr>
              <a:solidFill>
                <a:srgbClr val="000000"/>
              </a:solidFill>
            </a:endParaRPr>
          </a:p>
          <a:p>
            <a:pPr defTabSz="913806">
              <a:defRPr sz="1800">
                <a:solidFill>
                  <a:srgbClr val="A6A6A6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How Financial Tools Destroy Your Capacity to Do New Things</a:t>
            </a:r>
            <a:endParaRPr>
              <a:solidFill>
                <a:srgbClr val="000000"/>
              </a:solidFill>
            </a:endParaRPr>
          </a:p>
          <a:p>
            <a:pPr defTabSz="913806">
              <a:defRPr sz="1800">
                <a:solidFill>
                  <a:srgbClr val="A6A6A6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By Clayton M. Christensen, Stephen P. Kaufman, and Willy C. Shih</a:t>
            </a:r>
          </a:p>
        </p:txBody>
      </p:sp>
      <p:sp>
        <p:nvSpPr>
          <p:cNvPr id="335" name="Straight Arrow Connector 22"/>
          <p:cNvSpPr/>
          <p:nvPr/>
        </p:nvSpPr>
        <p:spPr>
          <a:xfrm>
            <a:off x="1111204" y="7392574"/>
            <a:ext cx="8656426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6" name="Straight Arrow Connector 23"/>
          <p:cNvSpPr/>
          <p:nvPr/>
        </p:nvSpPr>
        <p:spPr>
          <a:xfrm>
            <a:off x="8597432" y="5337857"/>
            <a:ext cx="1" cy="2036441"/>
          </a:xfrm>
          <a:prstGeom prst="line">
            <a:avLst/>
          </a:prstGeom>
          <a:ln w="19050">
            <a:solidFill>
              <a:schemeClr val="accent1"/>
            </a:solidFill>
            <a:prstDash val="sysDot"/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7" name="Freeform: Shape 8"/>
          <p:cNvSpPr/>
          <p:nvPr/>
        </p:nvSpPr>
        <p:spPr>
          <a:xfrm rot="11357646">
            <a:off x="1814246" y="4121139"/>
            <a:ext cx="7289050" cy="39530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30" extrusionOk="0">
                <a:moveTo>
                  <a:pt x="0" y="20530"/>
                </a:moveTo>
                <a:cubicBezTo>
                  <a:pt x="4218" y="13109"/>
                  <a:pt x="8437" y="5688"/>
                  <a:pt x="12037" y="2309"/>
                </a:cubicBezTo>
                <a:cubicBezTo>
                  <a:pt x="15637" y="-1070"/>
                  <a:pt x="21600" y="256"/>
                  <a:pt x="21600" y="256"/>
                </a:cubicBezTo>
              </a:path>
            </a:pathLst>
          </a:custGeom>
          <a:ln w="50800">
            <a:solidFill>
              <a:schemeClr val="accent1"/>
            </a:solidFill>
            <a:headEnd type="triangle"/>
          </a:ln>
        </p:spPr>
        <p:txBody>
          <a:bodyPr tIns="91439" bIns="91439" anchor="ctr"/>
          <a:lstStyle/>
          <a:p>
            <a:pPr algn="ctr" defTabSz="913806">
              <a:defRPr sz="3500">
                <a:solidFill>
                  <a:srgbClr val="293E40"/>
                </a:solidFill>
                <a:latin typeface="Inter"/>
                <a:ea typeface="Inter"/>
                <a:cs typeface="Inter"/>
                <a:sym typeface="Inter"/>
              </a:defRPr>
            </a:pPr>
            <a:endParaRPr/>
          </a:p>
        </p:txBody>
      </p:sp>
      <p:sp>
        <p:nvSpPr>
          <p:cNvPr id="338" name="TextBox 1"/>
          <p:cNvSpPr txBox="1"/>
          <p:nvPr/>
        </p:nvSpPr>
        <p:spPr>
          <a:xfrm>
            <a:off x="13454533" y="10485810"/>
            <a:ext cx="899784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defTabSz="914400">
              <a:defRPr sz="1800">
                <a:solidFill>
                  <a:srgbClr val="A6A6A6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NOTE: The cost of doing nothing is calculated as: </a:t>
            </a:r>
            <a:endParaRPr>
              <a:solidFill>
                <a:srgbClr val="000000"/>
              </a:solidFill>
            </a:endParaRPr>
          </a:p>
          <a:p>
            <a:pPr defTabSz="914400">
              <a:defRPr sz="1800">
                <a:solidFill>
                  <a:srgbClr val="A6A6A6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t>Net Present Value (NPV) of Net Benefits/(Finance Horizon years * 4 Quarters per year)</a:t>
            </a:r>
          </a:p>
        </p:txBody>
      </p:sp>
      <p:sp>
        <p:nvSpPr>
          <p:cNvPr id="339" name="Content Placeholder 3"/>
          <p:cNvSpPr txBox="1"/>
          <p:nvPr/>
        </p:nvSpPr>
        <p:spPr>
          <a:xfrm>
            <a:off x="14099995" y="4910854"/>
            <a:ext cx="8904860" cy="477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146832">
              <a:tabLst>
                <a:tab pos="292100" algn="l"/>
              </a:tabLst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>
                <a:latin typeface="IBM Plex Sans ExtLt"/>
                <a:ea typeface="IBM Plex Sans ExtLt"/>
                <a:cs typeface="IBM Plex Sans ExtLt"/>
                <a:sym typeface="IBM Plex Sans ExtLt"/>
              </a:rPr>
              <a:t>With every quarter of inaction, </a:t>
            </a:r>
            <a:r>
              <a:rPr>
                <a:solidFill>
                  <a:schemeClr val="accent1"/>
                </a:solidFill>
              </a:rPr>
              <a:t>Cigna</a:t>
            </a:r>
            <a:r>
              <a:rPr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>
                <a:latin typeface="IBM Plex Sans ExtLt"/>
                <a:ea typeface="IBM Plex Sans ExtLt"/>
                <a:cs typeface="IBM Plex Sans ExtLt"/>
                <a:sym typeface="IBM Plex Sans ExtLt"/>
              </a:rPr>
              <a:t>forfeits </a:t>
            </a:r>
            <a:endParaRPr sz="1800" b="1">
              <a:solidFill>
                <a:schemeClr val="accent1"/>
              </a:solidFill>
              <a:latin typeface="HP Simplified"/>
              <a:ea typeface="HP Simplified"/>
              <a:cs typeface="HP Simplified"/>
              <a:sym typeface="HP Simplified"/>
            </a:endParaRPr>
          </a:p>
          <a:p>
            <a:pPr defTabSz="1146832">
              <a:tabLst>
                <a:tab pos="292100" algn="l"/>
              </a:tabLst>
              <a:defRPr sz="176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sz="18000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$160K</a:t>
            </a:r>
            <a:r>
              <a:t> </a:t>
            </a:r>
            <a:endParaRPr sz="1800" b="1">
              <a:latin typeface="HP Simplified"/>
              <a:ea typeface="HP Simplified"/>
              <a:cs typeface="HP Simplified"/>
              <a:sym typeface="HP Simplified"/>
            </a:endParaRPr>
          </a:p>
          <a:p>
            <a:pPr defTabSz="1146832">
              <a:tabLst>
                <a:tab pos="292100" algn="l"/>
              </a:tabLst>
              <a:defRPr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in business benefits based on the net present value of IBM platform.</a:t>
            </a:r>
          </a:p>
        </p:txBody>
      </p:sp>
      <p:sp>
        <p:nvSpPr>
          <p:cNvPr id="340" name="Title 2"/>
          <p:cNvSpPr txBox="1"/>
          <p:nvPr/>
        </p:nvSpPr>
        <p:spPr>
          <a:xfrm>
            <a:off x="14099995" y="3323697"/>
            <a:ext cx="6504969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48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Why Now?</a:t>
            </a:r>
          </a:p>
        </p:txBody>
      </p:sp>
      <p:sp>
        <p:nvSpPr>
          <p:cNvPr id="341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23568264" y="12766402"/>
            <a:ext cx="226061" cy="345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/>
          <a:lstStyle>
            <a:lvl1pPr defTabSz="1829013"/>
          </a:lstStyle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342" name="What can the Genius do for you?…"/>
          <p:cNvSpPr txBox="1"/>
          <p:nvPr/>
        </p:nvSpPr>
        <p:spPr>
          <a:xfrm>
            <a:off x="1116376" y="1032545"/>
            <a:ext cx="15389978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2438400">
              <a:lnSpc>
                <a:spcPct val="90000"/>
              </a:lnSpc>
              <a:defRPr sz="7200">
                <a:solidFill>
                  <a:srgbClr val="000000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pPr>
            <a:r>
              <a:t>The cost of </a:t>
            </a:r>
            <a:r>
              <a:rPr>
                <a:latin typeface="+mn-lt"/>
                <a:ea typeface="+mn-ea"/>
                <a:cs typeface="+mn-cs"/>
                <a:sym typeface="IBM Plex Sans"/>
              </a:rPr>
              <a:t>doing nothing: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28/36/42pt headline, 5 lines maximum, sentence case"/>
          <p:cNvSpPr txBox="1">
            <a:spLocks noGrp="1"/>
          </p:cNvSpPr>
          <p:nvPr>
            <p:ph type="body" sz="quarter" idx="1"/>
          </p:nvPr>
        </p:nvSpPr>
        <p:spPr>
          <a:xfrm>
            <a:off x="573087" y="12769784"/>
            <a:ext cx="5524501" cy="425455"/>
          </a:xfrm>
          <a:prstGeom prst="rect">
            <a:avLst/>
          </a:prstGeom>
        </p:spPr>
        <p:txBody>
          <a:bodyPr/>
          <a:lstStyle/>
          <a:p>
            <a:r>
              <a:t>28/36/42pt headline, 5 lines maximum, sentence case </a:t>
            </a:r>
          </a:p>
        </p:txBody>
      </p:sp>
      <p:grpSp>
        <p:nvGrpSpPr>
          <p:cNvPr id="347" name="Group"/>
          <p:cNvGrpSpPr/>
          <p:nvPr/>
        </p:nvGrpSpPr>
        <p:grpSpPr>
          <a:xfrm>
            <a:off x="1587" y="0"/>
            <a:ext cx="24384001" cy="13716000"/>
            <a:chOff x="0" y="0"/>
            <a:chExt cx="24384000" cy="13716000"/>
          </a:xfrm>
        </p:grpSpPr>
        <p:pic>
          <p:nvPicPr>
            <p:cNvPr id="345" name="One_IBM_presentation_cover_02.png" descr="One_IBM_presentation_cover_0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6" name="IBM_8bar_Blue.pdf" descr="IBM_8bar_Blu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72520" y="12531724"/>
              <a:ext cx="1638305" cy="6223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3"/>
          <p:cNvSpPr/>
          <p:nvPr/>
        </p:nvSpPr>
        <p:spPr>
          <a:xfrm>
            <a:off x="1" y="0"/>
            <a:ext cx="24387174" cy="13716000"/>
          </a:xfrm>
          <a:prstGeom prst="rect">
            <a:avLst/>
          </a:prstGeom>
          <a:solidFill>
            <a:srgbClr val="E5F6FF"/>
          </a:solidFill>
          <a:ln w="12700">
            <a:miter lim="400000"/>
          </a:ln>
        </p:spPr>
        <p:txBody>
          <a:bodyPr tIns="91439" bIns="91439"/>
          <a:lstStyle/>
          <a:p>
            <a:pPr defTabSz="914400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351" name="Appendix"/>
          <p:cNvSpPr txBox="1">
            <a:spLocks noGrp="1"/>
          </p:cNvSpPr>
          <p:nvPr>
            <p:ph type="body" idx="22"/>
          </p:nvPr>
        </p:nvSpPr>
        <p:spPr>
          <a:xfrm>
            <a:off x="621719" y="635706"/>
            <a:ext cx="17136337" cy="925462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16800">
                <a:solidFill>
                  <a:schemeClr val="accent1"/>
                </a:solidFill>
                <a:latin typeface="IBM Plex Sans ExtLt"/>
                <a:ea typeface="IBM Plex Sans ExtLt"/>
                <a:cs typeface="IBM Plex Sans ExtLt"/>
                <a:sym typeface="IBM Plex Sans ExtLt"/>
              </a:defRPr>
            </a:lvl1pPr>
          </a:lstStyle>
          <a:p>
            <a:r>
              <a:rPr dirty="0"/>
              <a:t>Appendix</a:t>
            </a:r>
          </a:p>
        </p:txBody>
      </p:sp>
      <p:sp>
        <p:nvSpPr>
          <p:cNvPr id="352" name="Footer Placeholder 17"/>
          <p:cNvSpPr txBox="1"/>
          <p:nvPr/>
        </p:nvSpPr>
        <p:spPr>
          <a:xfrm>
            <a:off x="621719" y="12815999"/>
            <a:ext cx="486473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1829013"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© Copyright IBM Corporation 2026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1"/>
          <p:cNvSpPr txBox="1"/>
          <p:nvPr/>
        </p:nvSpPr>
        <p:spPr>
          <a:xfrm>
            <a:off x="644417" y="576889"/>
            <a:ext cx="14944429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2438400">
              <a:spcBef>
                <a:spcPts val="1800"/>
              </a:spcBef>
              <a:defRPr sz="4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Key assumptions</a:t>
            </a:r>
          </a:p>
        </p:txBody>
      </p:sp>
      <p:sp>
        <p:nvSpPr>
          <p:cNvPr id="355" name="Google Shape;288;p43"/>
          <p:cNvSpPr txBox="1"/>
          <p:nvPr/>
        </p:nvSpPr>
        <p:spPr>
          <a:xfrm>
            <a:off x="402715" y="1101095"/>
            <a:ext cx="20985324" cy="130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43799" tIns="243799" rIns="243799" bIns="243799">
            <a:spAutoFit/>
          </a:bodyPr>
          <a:lstStyle>
            <a:lvl1pPr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The projected benefits presented in this document are driven by the following assumptions. The details on the calculated benefits for each quantified outcome are outlined further in the Appendix.</a:t>
            </a:r>
          </a:p>
        </p:txBody>
      </p:sp>
      <p:pic>
        <p:nvPicPr>
          <p:cNvPr id="356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876" y="518064"/>
            <a:ext cx="1638302" cy="6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23446345" y="12766402"/>
            <a:ext cx="347981" cy="345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t"/>
          <a:lstStyle>
            <a:lvl1pPr defTabSz="1829013"/>
          </a:lstStyle>
          <a:p>
            <a:fld id="{86CB4B4D-7CA3-9044-876B-883B54F8677D}" type="slidenum">
              <a:rPr/>
              <a:t>12</a:t>
            </a:fld>
            <a:endParaRPr/>
          </a:p>
        </p:txBody>
      </p:sp>
      <p:graphicFrame>
        <p:nvGraphicFramePr>
          <p:cNvPr id="358" name="Table 1"/>
          <p:cNvGraphicFramePr/>
          <p:nvPr/>
        </p:nvGraphicFramePr>
        <p:xfrm>
          <a:off x="644417" y="2332121"/>
          <a:ext cx="22876848" cy="10131156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43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3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 b="0"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Key Assumption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 b="0"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FFFFFF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miter lim="400000"/>
                    </a:lnL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Benefit Realization ramp (Years 1-3)</a:t>
                      </a:r>
                    </a:p>
                  </a:txBody>
                  <a:tcPr marL="45720" marR="45720" anchor="ctr" horzOverflow="overflow">
                    <a:lnT w="12700"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90%, 95%, 100%</a:t>
                      </a:r>
                    </a:p>
                  </a:txBody>
                  <a:tcPr marL="45720" marR="45720" anchor="ctr" horzOverflow="overflow">
                    <a:lnT w="12700">
                      <a:miter lim="400000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# of Data Base Administrators (DBAs) supporting enterprise workloads</a:t>
                      </a:r>
                    </a:p>
                  </a:txBody>
                  <a:tcPr marL="45720" marR="4572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“All-in” DBA annual pay</a:t>
                      </a:r>
                    </a:p>
                  </a:txBody>
                  <a:tcPr marL="45720" marR="4572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$180,000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% of DBA time spent on operations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Reduction in manual operational effort driven by Db2 Genius Hub 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Material Db2 performance or availability incidents, per year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91440" marB="9144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Average business impact, per material Db2 performance or availability incident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$50,000</a:t>
                      </a:r>
                    </a:p>
                  </a:txBody>
                  <a:tcPr marT="91440" marB="9144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Reduction in time to resolution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T="91440" marB="9144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# of tools supporting Db2 today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91440" marB="9144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Reducible overhead cost, per tool</a:t>
                      </a:r>
                    </a:p>
                  </a:txBody>
                  <a:tcPr marT="91440" marB="9144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$25,000</a:t>
                      </a:r>
                    </a:p>
                  </a:txBody>
                  <a:tcPr marT="91440" marB="9144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# of high-severity SEV-1 Db2 incidents, per year</a:t>
                      </a:r>
                    </a:p>
                  </a:txBody>
                  <a:tcPr marL="45720" marR="4572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Average cost per SEV‑1 in financial services industry</a:t>
                      </a:r>
                    </a:p>
                  </a:txBody>
                  <a:tcPr marL="45720" marR="4572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$250,000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indent="254000"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Reduction in SEV‑1 occurrence</a:t>
                      </a:r>
                    </a:p>
                  </a:txBody>
                  <a:tcPr marL="45720" marR="4572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54000" algn="ctr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45720" marR="45720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defTabSz="1829286">
                        <a:defRPr>
                          <a:solidFill>
                            <a:srgbClr val="000000"/>
                          </a:solidFill>
                          <a:sym typeface="IBM Plex Sans Light"/>
                        </a:defRPr>
                      </a:pPr>
                      <a:endParaRPr/>
                    </a:p>
                  </a:txBody>
                  <a:tcPr marL="45720" marR="45720" horzOverflow="overflow">
                    <a:lnR>
                      <a:solidFill>
                        <a:srgbClr val="095EFE"/>
                      </a:solidFill>
                    </a:lnR>
                    <a:lnT>
                      <a:solidFill>
                        <a:srgbClr val="095EFE"/>
                      </a:solidFill>
                    </a:lnT>
                    <a:lnB>
                      <a:solidFill>
                        <a:srgbClr val="095EF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11"/>
          <p:cNvSpPr/>
          <p:nvPr/>
        </p:nvSpPr>
        <p:spPr>
          <a:xfrm>
            <a:off x="1586" y="1786"/>
            <a:ext cx="8763273" cy="1371421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</a:ln>
        </p:spPr>
        <p:txBody>
          <a:bodyPr tIns="91439" bIns="91439"/>
          <a:lstStyle/>
          <a:p>
            <a:pPr defTabSz="914218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61" name="TextBox 2"/>
          <p:cNvSpPr txBox="1"/>
          <p:nvPr/>
        </p:nvSpPr>
        <p:spPr>
          <a:xfrm>
            <a:off x="633778" y="2231519"/>
            <a:ext cx="6823650" cy="589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15" tIns="91415" rIns="91415" bIns="91415">
            <a:spAutoFit/>
          </a:bodyPr>
          <a:lstStyle>
            <a:lvl1pPr defTabSz="914079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3-year total benefit</a:t>
            </a:r>
          </a:p>
        </p:txBody>
      </p:sp>
      <p:sp>
        <p:nvSpPr>
          <p:cNvPr id="362" name="Freeform 15"/>
          <p:cNvSpPr txBox="1"/>
          <p:nvPr/>
        </p:nvSpPr>
        <p:spPr>
          <a:xfrm>
            <a:off x="660576" y="641488"/>
            <a:ext cx="5145864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96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$1.31M</a:t>
            </a:r>
          </a:p>
        </p:txBody>
      </p:sp>
      <p:sp>
        <p:nvSpPr>
          <p:cNvPr id="363" name="Text Placeholder 2"/>
          <p:cNvSpPr txBox="1"/>
          <p:nvPr/>
        </p:nvSpPr>
        <p:spPr>
          <a:xfrm>
            <a:off x="660575" y="4446020"/>
            <a:ext cx="7365513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dirty="0"/>
              <a:t>Same staff supports more growth, higher‑value work (optimization, data initiatives), or avoids incremental hiring.</a:t>
            </a:r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 dirty="0"/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u="sng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/>
              </a:rPr>
              <a:t>IBM Genius Hub Product Page</a:t>
            </a:r>
          </a:p>
        </p:txBody>
      </p:sp>
      <p:sp>
        <p:nvSpPr>
          <p:cNvPr id="364" name="Text Placeholder 2"/>
          <p:cNvSpPr txBox="1"/>
          <p:nvPr/>
        </p:nvSpPr>
        <p:spPr>
          <a:xfrm>
            <a:off x="633802" y="2761158"/>
            <a:ext cx="7705079" cy="1503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DBA Productivity &amp; Labor Cost Avoidance</a:t>
            </a:r>
          </a:p>
        </p:txBody>
      </p:sp>
      <p:graphicFrame>
        <p:nvGraphicFramePr>
          <p:cNvPr id="365" name="Table 8"/>
          <p:cNvGraphicFramePr/>
          <p:nvPr/>
        </p:nvGraphicFramePr>
        <p:xfrm>
          <a:off x="9367024" y="1391008"/>
          <a:ext cx="14316592" cy="713232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Db2 DBAs supporting enterprise workloads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"All-in"DBA annual pay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$180,000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% of DBA time spent on operations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Reduction in manual operational effort driven by Db2 Genius Hub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Total DBA labor cost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$1,800,000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Operational portion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$1,530,000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2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3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Benefit Realization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Annual Benefit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$413,100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$436,050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$459,000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1"/>
          <p:cNvSpPr/>
          <p:nvPr/>
        </p:nvSpPr>
        <p:spPr>
          <a:xfrm>
            <a:off x="1586" y="1786"/>
            <a:ext cx="8763273" cy="1371421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</a:ln>
        </p:spPr>
        <p:txBody>
          <a:bodyPr tIns="91439" bIns="91439"/>
          <a:lstStyle/>
          <a:p>
            <a:pPr defTabSz="914218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68" name="TextBox 2"/>
          <p:cNvSpPr txBox="1"/>
          <p:nvPr/>
        </p:nvSpPr>
        <p:spPr>
          <a:xfrm>
            <a:off x="633778" y="2231519"/>
            <a:ext cx="6823650" cy="589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15" tIns="91415" rIns="91415" bIns="91415">
            <a:spAutoFit/>
          </a:bodyPr>
          <a:lstStyle>
            <a:lvl1pPr defTabSz="914079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3-year total benefit</a:t>
            </a:r>
          </a:p>
        </p:txBody>
      </p:sp>
      <p:sp>
        <p:nvSpPr>
          <p:cNvPr id="369" name="Freeform 15"/>
          <p:cNvSpPr txBox="1"/>
          <p:nvPr/>
        </p:nvSpPr>
        <p:spPr>
          <a:xfrm>
            <a:off x="660576" y="641488"/>
            <a:ext cx="5145864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96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$214K</a:t>
            </a:r>
          </a:p>
        </p:txBody>
      </p:sp>
      <p:sp>
        <p:nvSpPr>
          <p:cNvPr id="370" name="Text Placeholder 2"/>
          <p:cNvSpPr txBox="1"/>
          <p:nvPr/>
        </p:nvSpPr>
        <p:spPr>
          <a:xfrm>
            <a:off x="660575" y="4446020"/>
            <a:ext cx="7365513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dirty="0"/>
              <a:t>Reduced business disruption, fewer escalations, improved internal SLAs.</a:t>
            </a:r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 dirty="0"/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u="sng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/>
              </a:rPr>
              <a:t>IBM Genius Hub Product Page</a:t>
            </a:r>
          </a:p>
        </p:txBody>
      </p:sp>
      <p:sp>
        <p:nvSpPr>
          <p:cNvPr id="371" name="Text Placeholder 2"/>
          <p:cNvSpPr txBox="1"/>
          <p:nvPr/>
        </p:nvSpPr>
        <p:spPr>
          <a:xfrm>
            <a:off x="633802" y="2761158"/>
            <a:ext cx="7705079" cy="1503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Faster Incident Resolution (MTTR Reduction)</a:t>
            </a:r>
          </a:p>
        </p:txBody>
      </p:sp>
      <p:graphicFrame>
        <p:nvGraphicFramePr>
          <p:cNvPr id="372" name="Table 8"/>
          <p:cNvGraphicFramePr/>
          <p:nvPr/>
        </p:nvGraphicFramePr>
        <p:xfrm>
          <a:off x="9367024" y="1391008"/>
          <a:ext cx="14316592" cy="55473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Material Db2 performance or availability incidents, per year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Average business impact, per incident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$50,000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Reduction in time to resolution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Annual incident cost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$250,000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2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3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Benefit Realization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Annual Benefit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$67,500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$71,250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$75,000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11"/>
          <p:cNvSpPr/>
          <p:nvPr/>
        </p:nvSpPr>
        <p:spPr>
          <a:xfrm>
            <a:off x="1586" y="1786"/>
            <a:ext cx="8763273" cy="1371421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</a:ln>
        </p:spPr>
        <p:txBody>
          <a:bodyPr tIns="91439" bIns="91439"/>
          <a:lstStyle/>
          <a:p>
            <a:pPr defTabSz="914218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75" name="TextBox 2"/>
          <p:cNvSpPr txBox="1"/>
          <p:nvPr/>
        </p:nvSpPr>
        <p:spPr>
          <a:xfrm>
            <a:off x="633778" y="2231519"/>
            <a:ext cx="6823650" cy="589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15" tIns="91415" rIns="91415" bIns="91415">
            <a:spAutoFit/>
          </a:bodyPr>
          <a:lstStyle>
            <a:lvl1pPr defTabSz="914079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3-year total benefit</a:t>
            </a:r>
          </a:p>
        </p:txBody>
      </p:sp>
      <p:sp>
        <p:nvSpPr>
          <p:cNvPr id="376" name="Freeform 15"/>
          <p:cNvSpPr txBox="1"/>
          <p:nvPr/>
        </p:nvSpPr>
        <p:spPr>
          <a:xfrm>
            <a:off x="660576" y="641488"/>
            <a:ext cx="5145864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96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$712K</a:t>
            </a:r>
          </a:p>
        </p:txBody>
      </p:sp>
      <p:sp>
        <p:nvSpPr>
          <p:cNvPr id="377" name="Text Placeholder 2"/>
          <p:cNvSpPr txBox="1"/>
          <p:nvPr/>
        </p:nvSpPr>
        <p:spPr>
          <a:xfrm>
            <a:off x="660575" y="4446020"/>
            <a:ext cx="7365513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dirty="0"/>
              <a:t>Higher system resilience and reduced operational risk in regulated environments.</a:t>
            </a:r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 dirty="0"/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u="sng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/>
              </a:rPr>
              <a:t>IBM Genius Hub Product Page</a:t>
            </a:r>
          </a:p>
        </p:txBody>
      </p:sp>
      <p:sp>
        <p:nvSpPr>
          <p:cNvPr id="378" name="Text Placeholder 2"/>
          <p:cNvSpPr txBox="1"/>
          <p:nvPr/>
        </p:nvSpPr>
        <p:spPr>
          <a:xfrm>
            <a:off x="633802" y="2761158"/>
            <a:ext cx="7705079" cy="1503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Avoided Severe Incidents &amp; Downtime Risk</a:t>
            </a:r>
          </a:p>
        </p:txBody>
      </p:sp>
      <p:graphicFrame>
        <p:nvGraphicFramePr>
          <p:cNvPr id="379" name="Table 8"/>
          <p:cNvGraphicFramePr/>
          <p:nvPr/>
        </p:nvGraphicFramePr>
        <p:xfrm>
          <a:off x="9367024" y="1391008"/>
          <a:ext cx="14316592" cy="55473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# of high-severity SEV-1 Db2 incidents, per year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Average cost per SEV‑1 in financial services industry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$250,000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Reduction in SEV‑1 occurrence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Baseline SEV‑1 cost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$500,000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2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3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Benefit Realization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Annual Benefit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$225,000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$237,500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$250,000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1"/>
          <p:cNvSpPr/>
          <p:nvPr/>
        </p:nvSpPr>
        <p:spPr>
          <a:xfrm>
            <a:off x="1586" y="1786"/>
            <a:ext cx="8763273" cy="1371421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</a:ln>
        </p:spPr>
        <p:txBody>
          <a:bodyPr tIns="91439" bIns="91439"/>
          <a:lstStyle/>
          <a:p>
            <a:pPr defTabSz="914218">
              <a:defRPr sz="1400">
                <a:latin typeface="+mn-lt"/>
                <a:ea typeface="+mn-ea"/>
                <a:cs typeface="+mn-cs"/>
                <a:sym typeface="IBM Plex Sans"/>
              </a:defRPr>
            </a:pPr>
            <a:endParaRPr/>
          </a:p>
        </p:txBody>
      </p:sp>
      <p:sp>
        <p:nvSpPr>
          <p:cNvPr id="382" name="TextBox 2"/>
          <p:cNvSpPr txBox="1"/>
          <p:nvPr/>
        </p:nvSpPr>
        <p:spPr>
          <a:xfrm>
            <a:off x="633778" y="2231519"/>
            <a:ext cx="6823650" cy="589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15" tIns="91415" rIns="91415" bIns="91415">
            <a:spAutoFit/>
          </a:bodyPr>
          <a:lstStyle>
            <a:lvl1pPr defTabSz="914079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3-year total benefit</a:t>
            </a:r>
          </a:p>
        </p:txBody>
      </p:sp>
      <p:sp>
        <p:nvSpPr>
          <p:cNvPr id="383" name="Freeform 15"/>
          <p:cNvSpPr txBox="1"/>
          <p:nvPr/>
        </p:nvSpPr>
        <p:spPr>
          <a:xfrm>
            <a:off x="660576" y="641488"/>
            <a:ext cx="5145864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9600">
                <a:solidFill>
                  <a:schemeClr val="accent1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$285K</a:t>
            </a:r>
          </a:p>
        </p:txBody>
      </p:sp>
      <p:sp>
        <p:nvSpPr>
          <p:cNvPr id="384" name="Text Placeholder 2"/>
          <p:cNvSpPr txBox="1"/>
          <p:nvPr/>
        </p:nvSpPr>
        <p:spPr>
          <a:xfrm>
            <a:off x="660575" y="4446020"/>
            <a:ext cx="7365513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dirty="0"/>
              <a:t>Combined licensing, infrastructure, and admin overhead that can be reduced via a single, unified Db2 Genius Hub console</a:t>
            </a:r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endParaRPr dirty="0"/>
          </a:p>
          <a:p>
            <a:pPr defTabSz="1828800"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pPr>
            <a:r>
              <a:rPr u="sng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/>
              </a:rPr>
              <a:t>IBM Genius Hub Product Page</a:t>
            </a:r>
          </a:p>
        </p:txBody>
      </p:sp>
      <p:sp>
        <p:nvSpPr>
          <p:cNvPr id="385" name="Text Placeholder 2"/>
          <p:cNvSpPr txBox="1"/>
          <p:nvPr/>
        </p:nvSpPr>
        <p:spPr>
          <a:xfrm>
            <a:off x="633802" y="2761158"/>
            <a:ext cx="7705079" cy="1503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914400"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r>
              <a:t>Tool Consolidation &amp; Operational Efficiency</a:t>
            </a:r>
          </a:p>
        </p:txBody>
      </p:sp>
      <p:graphicFrame>
        <p:nvGraphicFramePr>
          <p:cNvPr id="386" name="Table 8"/>
          <p:cNvGraphicFramePr/>
          <p:nvPr/>
        </p:nvGraphicFramePr>
        <p:xfrm>
          <a:off x="9367024" y="1391008"/>
          <a:ext cx="14316592" cy="39624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# of tools supporting Db2 today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 b="0"/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Reducible overhead cost, per tool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$25,000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2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Year 3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Benefit Realization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indent="342991" defTabSz="1829286">
                        <a:defRPr>
                          <a:sym typeface="IBM Plex Sans Light"/>
                        </a:defRPr>
                      </a:pPr>
                      <a:endParaRPr/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Annual Benefit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$95,000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829286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latin typeface="+mn-lt"/>
                          <a:ea typeface="+mn-ea"/>
                          <a:cs typeface="+mn-cs"/>
                        </a:rPr>
                        <a:t>$100,000</a:t>
                      </a:r>
                    </a:p>
                  </a:txBody>
                  <a:tcPr marT="91440" marB="9144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_IBM presentation template">
  <a:themeElements>
    <a:clrScheme name="2_IBM presentation template">
      <a:dk1>
        <a:srgbClr val="FFFFFF"/>
      </a:dk1>
      <a:lt1>
        <a:srgbClr val="FFFFFF"/>
      </a:lt1>
      <a:dk2>
        <a:srgbClr val="A7A7A7"/>
      </a:dk2>
      <a:lt2>
        <a:srgbClr val="535353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000FF"/>
      </a:hlink>
      <a:folHlink>
        <a:srgbClr val="FF00FF"/>
      </a:folHlink>
    </a:clrScheme>
    <a:fontScheme name="2_IBM presentation template">
      <a:majorFont>
        <a:latin typeface="Helvetica"/>
        <a:ea typeface="Helvetica"/>
        <a:cs typeface="Helvetica"/>
      </a:majorFont>
      <a:minorFont>
        <a:latin typeface="IBM Plex Sans"/>
        <a:ea typeface="IBM Plex Sans"/>
        <a:cs typeface="IBM Plex Sans"/>
      </a:minorFont>
    </a:fontScheme>
    <a:fmtScheme name="2_IBM presentation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93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IBM Plex Sans Light"/>
            <a:ea typeface="IBM Plex Sans Light"/>
            <a:cs typeface="IBM Plex Sans Light"/>
            <a:sym typeface="IBM Plex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93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IBM Plex Sans Light"/>
            <a:ea typeface="IBM Plex Sans Light"/>
            <a:cs typeface="IBM Plex Sans Light"/>
            <a:sym typeface="IBM Plex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IBM presentation template">
  <a:themeElements>
    <a:clrScheme name="2_IBM presentation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000FF"/>
      </a:hlink>
      <a:folHlink>
        <a:srgbClr val="FF00FF"/>
      </a:folHlink>
    </a:clrScheme>
    <a:fontScheme name="2_IBM presentation template">
      <a:majorFont>
        <a:latin typeface="Helvetica"/>
        <a:ea typeface="Helvetica"/>
        <a:cs typeface="Helvetica"/>
      </a:majorFont>
      <a:minorFont>
        <a:latin typeface="IBM Plex Sans"/>
        <a:ea typeface="IBM Plex Sans"/>
        <a:cs typeface="IBM Plex Sans"/>
      </a:minorFont>
    </a:fontScheme>
    <a:fmtScheme name="2_IBM presentation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93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IBM Plex Sans Light"/>
            <a:ea typeface="IBM Plex Sans Light"/>
            <a:cs typeface="IBM Plex Sans Light"/>
            <a:sym typeface="IBM Plex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93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IBM Plex Sans Light"/>
            <a:ea typeface="IBM Plex Sans Light"/>
            <a:cs typeface="IBM Plex Sans Light"/>
            <a:sym typeface="IBM Plex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1433</Words>
  <Application>Microsoft Macintosh PowerPoint</Application>
  <PresentationFormat>Custom</PresentationFormat>
  <Paragraphs>320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HP Simplified</vt:lpstr>
      <vt:lpstr>IBM Plex Sans</vt:lpstr>
      <vt:lpstr>IBM Plex Sans ExtLt</vt:lpstr>
      <vt:lpstr>IBM Plex Sans Light</vt:lpstr>
      <vt:lpstr>IBM Plex Sans Medm</vt:lpstr>
      <vt:lpstr>IBM Plex Sans SmBld</vt:lpstr>
      <vt:lpstr>IBM Plex Sans Text</vt:lpstr>
      <vt:lpstr>Times Roman</vt:lpstr>
      <vt:lpstr>2_IBM presentation template</vt:lpstr>
      <vt:lpstr>IBM Db2 AI Edition Proposal for Cigna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Executive summary prepared for Cigna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Aniruddha Joshi</cp:lastModifiedBy>
  <cp:revision>11</cp:revision>
  <dcterms:modified xsi:type="dcterms:W3CDTF">2026-04-23T04:17:47Z</dcterms:modified>
</cp:coreProperties>
</file>